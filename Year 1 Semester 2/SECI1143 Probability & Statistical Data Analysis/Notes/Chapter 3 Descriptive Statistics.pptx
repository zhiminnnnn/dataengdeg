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350" r:id="rId2"/>
    <p:sldId id="33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32" r:id="rId29"/>
    <p:sldId id="319" r:id="rId30"/>
    <p:sldId id="283" r:id="rId31"/>
    <p:sldId id="284" r:id="rId32"/>
    <p:sldId id="285" r:id="rId33"/>
    <p:sldId id="286" r:id="rId34"/>
    <p:sldId id="287" r:id="rId35"/>
    <p:sldId id="288" r:id="rId36"/>
    <p:sldId id="320" r:id="rId37"/>
    <p:sldId id="321" r:id="rId38"/>
    <p:sldId id="289" r:id="rId39"/>
    <p:sldId id="290" r:id="rId40"/>
    <p:sldId id="291" r:id="rId41"/>
    <p:sldId id="292" r:id="rId42"/>
    <p:sldId id="322" r:id="rId43"/>
    <p:sldId id="315" r:id="rId44"/>
    <p:sldId id="297" r:id="rId45"/>
    <p:sldId id="298" r:id="rId46"/>
    <p:sldId id="299" r:id="rId47"/>
    <p:sldId id="300" r:id="rId48"/>
    <p:sldId id="301" r:id="rId49"/>
    <p:sldId id="323" r:id="rId50"/>
    <p:sldId id="302" r:id="rId51"/>
    <p:sldId id="333" r:id="rId52"/>
    <p:sldId id="334" r:id="rId53"/>
    <p:sldId id="303" r:id="rId54"/>
    <p:sldId id="324" r:id="rId55"/>
    <p:sldId id="325" r:id="rId56"/>
    <p:sldId id="326" r:id="rId57"/>
    <p:sldId id="327" r:id="rId58"/>
    <p:sldId id="304" r:id="rId59"/>
    <p:sldId id="305" r:id="rId60"/>
    <p:sldId id="306" r:id="rId61"/>
    <p:sldId id="307" r:id="rId62"/>
    <p:sldId id="328" r:id="rId63"/>
    <p:sldId id="329" r:id="rId64"/>
    <p:sldId id="309" r:id="rId65"/>
    <p:sldId id="310" r:id="rId6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128"/>
        <a:cs typeface="+mn-cs"/>
      </a:defRPr>
    </a:lvl1pPr>
    <a:lvl2pPr marL="457200" algn="l" rtl="0" fontAlgn="base">
      <a:spcBef>
        <a:spcPct val="0"/>
      </a:spcBef>
      <a:spcAft>
        <a:spcPct val="0"/>
      </a:spcAft>
      <a:defRPr kern="1200">
        <a:solidFill>
          <a:schemeClr val="tx1"/>
        </a:solidFill>
        <a:latin typeface="Calibri" charset="0"/>
        <a:ea typeface="ＭＳ Ｐゴシック" charset="-128"/>
        <a:cs typeface="+mn-cs"/>
      </a:defRPr>
    </a:lvl2pPr>
    <a:lvl3pPr marL="914400" algn="l" rtl="0" fontAlgn="base">
      <a:spcBef>
        <a:spcPct val="0"/>
      </a:spcBef>
      <a:spcAft>
        <a:spcPct val="0"/>
      </a:spcAft>
      <a:defRPr kern="1200">
        <a:solidFill>
          <a:schemeClr val="tx1"/>
        </a:solidFill>
        <a:latin typeface="Calibri" charset="0"/>
        <a:ea typeface="ＭＳ Ｐゴシック" charset="-128"/>
        <a:cs typeface="+mn-cs"/>
      </a:defRPr>
    </a:lvl3pPr>
    <a:lvl4pPr marL="1371600" algn="l" rtl="0" fontAlgn="base">
      <a:spcBef>
        <a:spcPct val="0"/>
      </a:spcBef>
      <a:spcAft>
        <a:spcPct val="0"/>
      </a:spcAft>
      <a:defRPr kern="1200">
        <a:solidFill>
          <a:schemeClr val="tx1"/>
        </a:solidFill>
        <a:latin typeface="Calibri" charset="0"/>
        <a:ea typeface="ＭＳ Ｐゴシック" charset="-128"/>
        <a:cs typeface="+mn-cs"/>
      </a:defRPr>
    </a:lvl4pPr>
    <a:lvl5pPr marL="1828800" algn="l"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94694"/>
  </p:normalViewPr>
  <p:slideViewPr>
    <p:cSldViewPr>
      <p:cViewPr varScale="1">
        <p:scale>
          <a:sx n="76" d="100"/>
          <a:sy n="76" d="100"/>
        </p:scale>
        <p:origin x="840" y="48"/>
      </p:cViewPr>
      <p:guideLst>
        <p:guide orient="horz" pos="2160"/>
        <p:guide pos="3840"/>
      </p:guideLst>
    </p:cSldViewPr>
  </p:slideViewPr>
  <p:notesTextViewPr>
    <p:cViewPr>
      <p:scale>
        <a:sx n="1" d="1"/>
        <a:sy n="1" d="1"/>
      </p:scale>
      <p:origin x="0" y="0"/>
    </p:cViewPr>
  </p:notesTextViewPr>
  <p:sorterViewPr>
    <p:cViewPr>
      <p:scale>
        <a:sx n="100" d="100"/>
        <a:sy n="100" d="100"/>
      </p:scale>
      <p:origin x="0" y="-20088"/>
    </p:cViewPr>
  </p:sorterViewPr>
  <p:notesViewPr>
    <p:cSldViewPr>
      <p:cViewPr varScale="1">
        <p:scale>
          <a:sx n="45" d="100"/>
          <a:sy n="45" d="100"/>
        </p:scale>
        <p:origin x="2760" y="6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FDAD734F-C671-4747-983B-4FB51CB05965}" type="datetimeFigureOut">
              <a:rPr lang="en-US" altLang="x-none"/>
              <a:pPr/>
              <a:t>3/26/2026</a:t>
            </a:fld>
            <a:endParaRPr lang="en-US" altLang="x-none"/>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460C7FE-CAF7-1049-A6F8-A686B87D8008}" type="slidenum">
              <a:rPr lang="en-US" altLang="x-none"/>
              <a:pPr/>
              <a:t>‹#›</a:t>
            </a:fld>
            <a:endParaRPr lang="en-US" altLang="x-none"/>
          </a:p>
        </p:txBody>
      </p:sp>
    </p:spTree>
    <p:extLst>
      <p:ext uri="{BB962C8B-B14F-4D97-AF65-F5344CB8AC3E}">
        <p14:creationId xmlns:p14="http://schemas.microsoft.com/office/powerpoint/2010/main" val="1807740300"/>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05:15.7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14,'35'13,"-7"-3,-22-6,4 2,10-4,-6 2,9-4,-10 0,0 0,8 0,-8 0,8 0,-10 0,6 0,2 0,-2 0,4 0,-3-2,0 0,-1-1,1 1,0 2,-1-2,1-1,0 0,-1-1,1 0,0 0,-1 1,0 1,-2 1,0 1,5 0,-3-3,5 1,-4 0,-1 0,1 2,0-1,-1-1,1-1,0 1,-1 2,3 0,1 0,-1 0,0 0,-2 0,-1 0,1 0,0 0,-1 0,1 0,0 0,-1 0,3 0,1 0,-1 0,0 0,-2 0,-1 0,1 0,0 0,-1 0,-1 0,1 0,-1 0,-2 0,4 3,-5-2,5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05:19.7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1 116,'49'0,"-5"0,-19 0,1 0,0 0,2 0,2 0,-2 0,-1 0,-4 0,0 0,0 0,0-2,0-3,-1 0,1-1,-2 1,1 3,-1 0,2-1,2 1,-1-1,1 2,-2 1,-2 0,0 0,0 0,-1 0,2 0,-1 0,1 0,0 0,2-1,-1-1,1 0,-1-2,0-1,2 2,0-1,1 0,-1-1,0 0,-1 0,-3 1,2-1,-2 3,-1-2,0 1,-2-2,0 1,-1 2,1 1,0 1,-3 0,0-2,0 0,1-1,0 1,2 2,-2 0,0 0,0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05:44.9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45,'49'0,"-6"0,-23 0,0 0,7 0,1 0,-3 0,-1 0,-6 0,0 0,-1 0,1-4,0-1,0-1,0 2,2 4,0 0,3 0,1-2,0 0,1-1,-2-1,-2 2,-1-1,-2 1,-1 2,-1 0,-1 0,4 0,-5-1,6-1,-5-1,0 1,3 2,0 0,-1 0,3 0,1 0,-1 0,0 0,-2 0,-2 0,0 0,0 1,2-1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05:47.01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37,'83'0,"-6"0,-19 0,-2 0,-2 0,-4 0,-6 0,-3 0,-2 0,-2 0,1 0,-4-1,-3-1,2-1,-2 1,-2 0,-1 2,-2-2,1-1,2 1,0-2,2 2,-1-1,2-1,0 2,-1-1,-2 2,-1 1,-3 0,-4 0,-2 0,-1 0,0 0,-3 0,0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52:20.058"/>
    </inkml:context>
    <inkml:brush xml:id="br0">
      <inkml:brushProperty name="width" value="0.05" units="cm"/>
      <inkml:brushProperty name="height" value="0.05" units="cm"/>
      <inkml:brushProperty name="color" value="#E71224"/>
    </inkml:brush>
  </inkml:definitions>
  <inkml:trace contextRef="#ctx0" brushRef="#br0">253 0 24575,'-10'3'0,"-4"5"0,-4 6 0,-6 5 0,0 2 0,2 0 0,6-3 0,5-4 0,3-6 0,-3 0 0,-6 3 0,-4 6 0,-1 4 0,3-1 0,6-5 0,11-6 0,9-6 0,7-3 0,8 1 0,4 4 0,3 4 0,3 5 0,1 2 0,-3 0 0,0 0 0,0 0 0,-2-2 0,-1-1 0,-4-2 0,-3-1 0,-1-2 0,-4-1 0,-4-2 0,-3 0 0,-5-3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52:22.358"/>
    </inkml:context>
    <inkml:brush xml:id="br0">
      <inkml:brushProperty name="width" value="0.05" units="cm"/>
      <inkml:brushProperty name="height" value="0.05" units="cm"/>
      <inkml:brushProperty name="color" value="#E71224"/>
    </inkml:brush>
  </inkml:definitions>
  <inkml:trace contextRef="#ctx0" brushRef="#br0">1 447 24575,'19'-2'0,"6"-4"0,5-2 0,1-2 0,-2 2 0,-6 3 0,-4 3 0,-2 2 0,-5 0 0,-1 0 0,1 0 0,2 0 0,3 0 0,0 0 0,1 0 0,1-2 0,1-3 0,1-3 0,2-3 0,4 1 0,3-1 0,5-2 0,2-2 0,1 1 0,1 1 0,-3 2 0,-1-1 0,-2 3 0,1-2 0,3-1 0,7-5 0,10-6 0,10-9 0,7-6 0,1-2 0,-8 4 0,-15 9 0,-13 8 0,-11 8 0,-8 7 0,-4 2 0,-3 2 0,-5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52:26.591"/>
    </inkml:context>
    <inkml:brush xml:id="br0">
      <inkml:brushProperty name="width" value="0.05" units="cm"/>
      <inkml:brushProperty name="height" value="0.05" units="cm"/>
      <inkml:brushProperty name="color" value="#E71224"/>
    </inkml:brush>
  </inkml:definitions>
  <inkml:trace contextRef="#ctx0" brushRef="#br0">1 1 24575,'8'5'0,"6"-1"0,11-4 0,7 2 0,4 3 0,0 6 0,-3 3 0,0-1 0,4 1 0,2-3 0,4 3 0,-1 0 0,-4-1 0,-4-1 0,-5-4 0,-4-1 0,2 0 0,-3-1 0,0 1 0,2-1 0,1-1 0,4 2 0,3-1 0,-1 1 0,-4-2 0,-3-1 0,-4 1 0,-1-2 0,-5-1 0,-2-1 0,-2-1 0,-1 0 0,1 0 0,2 0 0,6 0 0,5 0 0,6 0 0,-2 2 0,-4 1 0,-5 0 0,-4 1 0,-4-1 0,-6-1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52:29.441"/>
    </inkml:context>
    <inkml:brush xml:id="br0">
      <inkml:brushProperty name="width" value="0.05" units="cm"/>
      <inkml:brushProperty name="height" value="0.05" units="cm"/>
      <inkml:brushProperty name="color" value="#E71224"/>
    </inkml:brush>
  </inkml:definitions>
  <inkml:trace contextRef="#ctx0" brushRef="#br0">115 0 24575,'16'14'0,"1"3"0,0 6 0,0 0 0,-3-3 0,-2-1 0,-1-4 0,-4-3 0,-1-4 0,-1-2 0,0 0 0,0 1 0,0 0 0,2 3 0,0 0 0,3 0 0,-2 0 0,0 0 0,-2 0 0,2-2 0,-2-1 0,-1-1 0,-3 2 0,-2 1 0,0 1 0,0-1 0,0 0 0,-3-1 0,-2-1 0,-3 1 0,-3 0 0,0 1 0,-2 0 0,0-2 0,0 0 0,-1 0 0,0 1 0,0 0 0,-1 1 0,-3 2 0,0 0 0,-3 1 0,1-2 0,1-1 0,2 1 0,2 1 0,1 0 0,-1 1 0,1-3 0,6-5 0,2-1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28:21.317"/>
    </inkml:context>
    <inkml:brush xml:id="br0">
      <inkml:brushProperty name="width" value="0.05" units="cm"/>
      <inkml:brushProperty name="height" value="0.05" units="cm"/>
      <inkml:brushProperty name="color" value="#E71224"/>
    </inkml:brush>
  </inkml:definitions>
  <inkml:trace contextRef="#ctx0" brushRef="#br0">209 0 24575,'-10'6'0,"-3"6"0,-7 9 0,-4 6 0,-2 4 0,5-6 0,6-4 0,5-7 0,4-4 0,3-4 0,-1 0 0,2 0 0,-2-1 0,-2 1 0,0 0 0,-2 1 0,0-1 0,0 1 0,2-1 0,1 0 0,1-2 0,4-2 0,3-1 0,6 0 0,1-1 0,4 0 0,-1 0 0,1 0 0,0 0 0,-2 0 0,1 0 0,-1 0 0,0 0 0,-1 1 0,3 3 0,1 2 0,1 2 0,2 3 0,-1 2 0,1 3 0,-1 1 0,1-1 0,-1-3 0,-2-2 0,-3-2 0,-3-1 0,-2-2 0,-2-1 0,1 0 0,0 0 0,1 1 0,0 1 0,1 1 0,0 0 0,-1 0 0,-3-3 0,-1-1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28:23.117"/>
    </inkml:context>
    <inkml:brush xml:id="br0">
      <inkml:brushProperty name="width" value="0.05" units="cm"/>
      <inkml:brushProperty name="height" value="0.05" units="cm"/>
      <inkml:brushProperty name="color" value="#E71224"/>
    </inkml:brush>
  </inkml:definitions>
  <inkml:trace contextRef="#ctx0" brushRef="#br0">0 135 24575,'11'0'0,"5"0"0,4 0 0,5 0 0,3 0 0,1-2 0,-1-1 0,1-2 0,0-1 0,2 1 0,1-1 0,2 1 0,5 0 0,1 1 0,3-1 0,-2 0 0,-1 2 0,-1 1 0,-2-1 0,2 1 0,1-3 0,4-1 0,3 0 0,0-1 0,3 0 0,0 1 0,4 0 0,1 1 0,4 0 0,5 0 0,-1-1 0,-1 1 0,-8 2 0,-12 1 0,-9 2 0,-9 0 0,-4 0 0,-5 0 0,-1 0 0,-4 0 0,-1 0 0,-1 0 0,0 0 0,-4 0 0,-1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21.368"/>
    </inkml:context>
    <inkml:brush xml:id="br0">
      <inkml:brushProperty name="width" value="0.05" units="cm"/>
      <inkml:brushProperty name="height" value="0.05" units="cm"/>
      <inkml:brushProperty name="color" value="#E71224"/>
    </inkml:brush>
  </inkml:definitions>
  <inkml:trace contextRef="#ctx0" brushRef="#br0">0 19 24575,'18'0'0,"17"0"0,12 0 0,12 0 0,2 0 0,-9-3 0,-6 1 0,-8-1 0,-3 1 0,-6 2 0,-2 0 0,-4-1 0,-3-2 0,-2 1 0,-8 0 0,-3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23.752"/>
    </inkml:context>
    <inkml:brush xml:id="br0">
      <inkml:brushProperty name="width" value="0.05" units="cm"/>
      <inkml:brushProperty name="height" value="0.05" units="cm"/>
      <inkml:brushProperty name="color" value="#E71224"/>
    </inkml:brush>
  </inkml:definitions>
  <inkml:trace contextRef="#ctx0" brushRef="#br0">278 0 24575,'-13'0'0,"0"0"0,0 0 0,-2 0 0,3 0 0,-3 0 0,-1 0 0,0 0 0,-4 0 0,2 0 0,1 0 0,1 0 0,1 0 0,1 0 0,1 0 0,0 0 0,2 0 0,1 0 0,2 2 0,2 4 0,4 2 0,0 1 0,2 0 0,0-2 0,2 1 0,2 1 0,1 2 0,1 3 0,-2 1 0,1 3 0,1-1 0,-1 1 0,1 0 0,0 0 0,-1 2 0,0 1 0,-1-1 0,1-1 0,-1-1 0,0-1 0,0 1 0,-1 2 0,1 3 0,-2 1 0,2 4 0,1 4 0,-3 3 0,0 2 0,-2 0 0,2-3 0,1-5 0,-1-1 0,0-4 0,-2-3 0,0-1 0,0-2 0,1-2 0,0-7 0,0-2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25.452"/>
    </inkml:context>
    <inkml:brush xml:id="br0">
      <inkml:brushProperty name="width" value="0.05" units="cm"/>
      <inkml:brushProperty name="height" value="0.05" units="cm"/>
      <inkml:brushProperty name="color" value="#E71224"/>
    </inkml:brush>
  </inkml:definitions>
  <inkml:trace contextRef="#ctx0" brushRef="#br0">0 0 24575,'0'13'0,"0"0"0,0 0 0,0 1 0,0 1 0,0 2 0,0 0 0,0 1 0,0-2 0,0-1 0,0-1 0,0-2 0,0 0 0,0-3 0,0-1 0,0 1 0,0-4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32.202"/>
    </inkml:context>
    <inkml:brush xml:id="br0">
      <inkml:brushProperty name="width" value="0.05" units="cm"/>
      <inkml:brushProperty name="height" value="0.05" units="cm"/>
      <inkml:brushProperty name="color" value="#E71224"/>
    </inkml:brush>
  </inkml:definitions>
  <inkml:trace contextRef="#ctx0" brushRef="#br0">1 0 24575,'9'0'0,"5"0"0,14 0 0,8 0 0,12 0 0,-2 0 0,-8 0 0,-7 0 0,-13 0 0,-3 0 0,-4 0 0,-3 0 0,1 0 0,2 0 0,4 0 0,7 0 0,4 0 0,0 0 0,-2 0 0,-4 0 0,-4 0 0,-3 0 0,-3 0 0,-5 0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34.652"/>
    </inkml:context>
    <inkml:brush xml:id="br0">
      <inkml:brushProperty name="width" value="0.05" units="cm"/>
      <inkml:brushProperty name="height" value="0.05" units="cm"/>
      <inkml:brushProperty name="color" value="#E71224"/>
    </inkml:brush>
  </inkml:definitions>
  <inkml:trace contextRef="#ctx0" brushRef="#br0">316 86 24575,'-10'-3'0,"-3"-2"0,-1-2 0,-2-2 0,-2 0 0,-2 1 0,0 0 0,-1 3 0,1 0 0,1 0 0,2 1 0,-1-1 0,2 2 0,1-2 0,0 3 0,1 0 0,0 2 0,1 0 0,3 1 0,3 2 0,3 3 0,3 0 0,1 4 0,0 4 0,0 2 0,0 3 0,0-1 0,0 2 0,0 0 0,0 3 0,0 1 0,0 1 0,0 2 0,0 1 0,0 1 0,0 2 0,0 1 0,0 0 0,0-1 0,0-3 0,0-2 0,0-1 0,0-2 0,0 0 0,0-1 0,0-2 0,0-1 0,0-2 0,0 1 0,0-2 0,0-1 0,0-2 0,0 0 0,0-6 0,0-1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37.585"/>
    </inkml:context>
    <inkml:brush xml:id="br0">
      <inkml:brushProperty name="width" value="0.05" units="cm"/>
      <inkml:brushProperty name="height" value="0.05" units="cm"/>
      <inkml:brushProperty name="color" value="#E71224"/>
    </inkml:brush>
  </inkml:definitions>
  <inkml:trace contextRef="#ctx0" brushRef="#br0">1 85 24575,'4'10'0,"-1"-3"0,1-1 0,-1-1 0,1 3 0,1 2 0,1 0 0,-2 0 0,2-1 0,0 0 0,0-1 0,2-1 0,-3 0 0,1 0 0,1 1 0,1 1 0,1 1 0,-2 0 0,1-1 0,-1-2 0,0-1 0,2 0 0,-1-1 0,0-3 0,1 0 0,-1-2 0,0 0 0,-1 0 0,-1 0 0,2 0 0,0 0 0,0 0 0,-1-2 0,-3-4 0,-1-2 0,-2-1 0,-2-1 0,1 2 0,0-2 0,0-1 0,0-1 0,0-1 0,0-1 0,0-2 0,0 0 0,0-4 0,-1-1 0,-4 0 0,-2 1 0,-1 3 0,-1 3 0,2 4 0,-1 3 0,0 4 0,0 1 0,-3 1 0,2 1 0,-1 0 0,3 0 0,-2 0 0,0 0 0,1 2 0,1 1 0,2 1 0,1 2 0,-2-1 0,0 0 0,0 2 0,0-2 0,-1-1 0,0 2 0,0-2 0,-1 0 0,1 0 0,1 1 0,3-2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42.502"/>
    </inkml:context>
    <inkml:brush xml:id="br0">
      <inkml:brushProperty name="width" value="0.05" units="cm"/>
      <inkml:brushProperty name="height" value="0.05" units="cm"/>
      <inkml:brushProperty name="color" value="#E71224"/>
    </inkml:brush>
  </inkml:definitions>
  <inkml:trace contextRef="#ctx0" brushRef="#br0">1 9 24575,'16'0'0,"0"0"0,4 0 0,1 0 0,-1 0 0,2 0 0,-2 0 0,1 0 0,-1 0 0,-2 0 0,0 0 0,-1 0 0,1-2 0,0 0 0,-1-1 0,1 1 0,-1 2 0,1 0 0,0 0 0,-1 0 0,1 0 0,0 0 0,-1 0 0,1 0 0,-1 0 0,-3 0 0,-3 0 0,-2 0 0,0 0 0,2 0 0,-1 0 0,0 0 0,-3 0 0,0 0 0,1 0 0,2 0 0,0 0 0,1 0 0,-1 0 0,-1 0 0,0 0 0,-4 0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45.235"/>
    </inkml:context>
    <inkml:brush xml:id="br0">
      <inkml:brushProperty name="width" value="0.05" units="cm"/>
      <inkml:brushProperty name="height" value="0.05" units="cm"/>
      <inkml:brushProperty name="color" value="#E71224"/>
    </inkml:brush>
  </inkml:definitions>
  <inkml:trace contextRef="#ctx0" brushRef="#br0">281 69 24575,'-15'0'0,"-2"0"0,-3-1 0,-1-3 0,2-1 0,1-2 0,1 0 0,-1 0 0,-1-1 0,1 1 0,2 1 0,1 0 0,2 2 0,1 0 0,0 2 0,3 2 0,1 0 0,1 1 0,3 2 0,2 2 0,2 3 0,0 1 0,-1 2 0,1 1 0,0 1 0,0 2 0,0 3 0,0 3 0,0 7 0,0 2 0,0 4 0,0 0 0,0-2 0,0-1 0,0-2 0,0-1 0,0 0 0,0-2 0,0-1 0,0 0 0,0-2 0,0 1 0,0-1 0,0 0 0,0 0 0,0-1 0,0 2 0,0-1 0,0 3 0,0-2 0,0 1 0,0-3 0,0-2 0,0-1 0,0-1 0,0-2 0,0-1 0,0-1 0,0-2 0,0-1 0,0-5 0,0-2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0:49.052"/>
    </inkml:context>
    <inkml:brush xml:id="br0">
      <inkml:brushProperty name="width" value="0.05" units="cm"/>
      <inkml:brushProperty name="height" value="0.05" units="cm"/>
      <inkml:brushProperty name="color" value="#E71224"/>
    </inkml:brush>
  </inkml:definitions>
  <inkml:trace contextRef="#ctx0" brushRef="#br0">1 0 24575,'15'0'0,"-2"0"0,-1 0 0,0 0 0,0 0 0,2 2 0,-1 1 0,2 1 0,-1 2 0,0-1 0,-1 2 0,-2-1 0,-1-1 0,-2 3 0,0-1 0,0 0 0,1 1 0,-1 0 0,-1 1 0,-1-1 0,-1 2 0,0 1 0,-1 0 0,-2 1 0,0 0 0,-2 1 0,0-1 0,0-2 0,0-1 0,0-1 0,-2 0 0,-2 0 0,-3-1 0,-4-1 0,0-2 0,-2-2 0,-2-1 0,0-1 0,-1 0 0,3 0 0,2 0 0,1 0 0,1 0 0,1 0 0,-2 0 0,-1 0 0,0 0 0,-2 0 0,2 0 0,4 0 0,7 0 0,5 0 0,3 0 0,1 0 0,0 0 0,0 0 0,1 0 0,-2 0 0,0 0 0,-1 0 0,1 0 0,-1 0 0,2 0 0,-2 0 0,0 0 0,1 0 0,0 0 0,1 0 0,-1 0 0,1 0 0,0 0 0,-2 0 0,0 0 0,1 0 0,-1 0 0,1 0 0,0 0 0,0 0 0,0 0 0,-3 0 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28:26.500"/>
    </inkml:context>
    <inkml:brush xml:id="br0">
      <inkml:brushProperty name="width" value="0.05" units="cm"/>
      <inkml:brushProperty name="height" value="0.05" units="cm"/>
      <inkml:brushProperty name="color" value="#E71224"/>
    </inkml:brush>
  </inkml:definitions>
  <inkml:trace contextRef="#ctx0" brushRef="#br0">1 1 24575,'20'0'0,"5"0"0,9 0 0,8 0 0,6 0 0,4 0 0,3 0 0,-2 0 0,-2 0 0,-1 0 0,-5 0 0,1 0 0,2 0 0,1 0 0,3 0 0,2 0 0,2 0 0,-2 0 0,0 0 0,-6 1 0,-3 1 0,-1 3 0,-2 1 0,-2 0 0,0 1 0,-8 0 0,-3-2 0,-4 2 0,-5-3 0,0 0 0,-3 0 0,-1 1 0,-5 0 0,-4-3 0,-4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28:28.617"/>
    </inkml:context>
    <inkml:brush xml:id="br0">
      <inkml:brushProperty name="width" value="0.05" units="cm"/>
      <inkml:brushProperty name="height" value="0.05" units="cm"/>
      <inkml:brushProperty name="color" value="#E71224"/>
    </inkml:brush>
  </inkml:definitions>
  <inkml:trace contextRef="#ctx0" brushRef="#br0">79 0 24575,'15'0'0,"0"0"0,2 4 0,1 3 0,0 4 0,1 2 0,-2-2 0,-1 1 0,-1-1 0,1 0 0,-1 3 0,4 1 0,4-1 0,2 2 0,6 0 0,0 1 0,1 2 0,-4 0 0,-5-4 0,-5-2 0,-6-3 0,-3-3 0,-2-1 0,-2-1 0,1-1 0,-1 1 0,-1 1 0,3-2 0,-2 2 0,1 0 0,-2 1 0,-2 0 0,-2 0 0,-6-1 0,-4 0 0,-8-1 0,-5 0 0,-3-1 0,-5-1 0,-3 0 0,-3-1 0,-2 3 0,-2 2 0,-2 3 0,1 1 0,-1 1 0,5-1 0,4-1 0,5 0 0,8-4 0,3-1 0,4-2 0,7-2 0,-1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06:31:05.186"/>
    </inkml:context>
    <inkml:brush xml:id="br0">
      <inkml:brushProperty name="width" value="0.05" units="cm"/>
      <inkml:brushProperty name="height" value="0.05" units="cm"/>
      <inkml:brushProperty name="color" value="#E71224"/>
    </inkml:brush>
  </inkml:definitions>
  <inkml:trace contextRef="#ctx0" brushRef="#br0">918 97 24575,'-15'0'0,"-1"0"0,-4-5 0,-3 0 0,0-2 0,-1 0 0,1 3 0,0 0 0,-1 1 0,0-2 0,1 3 0,2-1 0,0 1 0,0 2 0,0 0 0,0 0 0,0 0 0,0-1 0,2-2 0,3 1 0,3 0 0,2 2 0,0 0 0,1 0 0,0 0 0,-1 0 0,0 0 0,2 0 0,-1 0 0,1 0 0,0 0 0,1 0 0,-2 0 0,1 2 0,0 1 0,-1 3 0,2 1 0,-1 0 0,0-1 0,0 0 0,0 1 0,1-2 0,-1 2 0,0-1 0,0 2 0,-2 1 0,0 1 0,-1 1 0,0 0 0,1 1 0,-1-3 0,1 0 0,3 0 0,1 0 0,1 0 0,0-2 0,-3 0 0,2 0 0,1 0 0,-1 2 0,1 0 0,-2-1 0,2 1 0,0 0 0,2 0 0,-1 0 0,-1 0 0,1 0 0,-1 0 0,1 1 0,0 3 0,-1 2 0,0 3 0,0-1 0,0 1 0,0 0 0,1 2 0,-2 5 0,3 6 0,-1 3 0,0-1 0,2-3 0,1-4 0,2-1 0,0-1 0,0-1 0,0 0 0,0-3 0,0-1 0,0-2 0,2-1 0,1-2 0,2-2 0,1 1 0,-1-1 0,1-1 0,1-1 0,0 0 0,1 0 0,0-2 0,-1-1 0,-1-3 0,-1 2 0,1-2 0,1 0 0,1 1 0,2 0 0,-1 0 0,1-1 0,-2-1 0,0 1 0,0 0 0,-1 0 0,0-1 0,1 0 0,1 1 0,1 0 0,0 0 0,0 1 0,-1 0 0,2 2 0,-1-2 0,1-1 0,0 0 0,0 2 0,4 1 0,-1-1 0,-1-2 0,-2-3 0,-2 1 0,0 1 0,-1-1 0,-1 0 0,1-2 0,1 2 0,3 0 0,0 3 0,-1-1 0,1-2 0,-3-1 0,1 0 0,1 1 0,1 0 0,1 0 0,-1-1 0,0-1 0,-2 0 0,-1 0 0,0 0 0,-1 0 0,0 0 0,0 0 0,0 0 0,0 0 0,0 0 0,0 0 0,1 0 0,0-1 0,0-1 0,-1-2 0,0-1 0,0 0 0,0 0 0,1-2 0,-1 0 0,1 1 0,-2 1 0,2 0 0,-1 0 0,1 0 0,0 1 0,-1-1 0,3 0 0,-3 0 0,0 0 0,-1 0 0,-1 1 0,1 0 0,1-1 0,0 1 0,-2-2 0,2 1 0,-2 0 0,3 1 0,1-1 0,0 1 0,1-1 0,0 1 0,0-1 0,2-1 0,-2 0 0,-2 0 0,0 0 0,-4 1 0,2-1 0,0 0 0,-2 0 0,2 0 0,-1 1 0,1-3 0,3-2 0,2-2 0,1-4 0,2 0 0,-1 0 0,-1 2 0,-2 1 0,0 1 0,-3-1 0,-1 1 0,-2 0 0,0-1 0,0 1 0,-1-1 0,1-2 0,-1 1 0,-2-1 0,2 0 0,-2 0 0,1 0 0,0 0 0,0 0 0,-1 0 0,0 1 0,-2 1 0,0 1 0,0-1 0,0-3 0,0 3 0,0-2 0,0 2 0,0 0 0,0-1 0,0 0 0,0-1 0,0-1 0,0-1 0,0 1 0,0 2 0,0 2 0,0 2 0,0 0 0,0-1 0,0 2 0,-1-2 0,-2 1 0,-1 1 0,-2 1 0,0 1 0,0 1 0,0 2 0,-2 2 0,0 0 0,-2 1 0,1 1 0,1 0 0,1 0 0,0 0 0,0 0 0,-1 0 0,-1 0 0,0 0 0,0 0 0,0 0 0,1 0 0,2-2 0,0-2 0,-1-2 0,2-2 0,-3-3 0,-2-5 0,-2-4 0,-2-5 0,1 0 0,0 2 0,2 5 0,3 3 0,2 5 0,4 5 0,0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33:14.0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1 113,'57'0,"-5"0,-15 0,-3 0,0 0,-3 0,-3 0,0 0,-3 0,-2 0,-2 0,-1 0,3 0,1 0,3 0,3 0,2 0,2 0,2 0,-3 0,0 0,-3 0,-4 0,-4 0,1 0,-3 0,1 0,-1 0,-3 0,1 0,0 0,-1 0,1 0,2 0,2 0,2 0,3 0,1 0,1 0,2 0,1 0,2-2,2-1,1 1,1 0,-1-1,-2 1,-1-2,-2-1,0 3,-2-3,-2 2,1-1,2-3,1 2,0-2,1 0,1 1,3 0,4 1,1 0,3 1,3 0,1-1,3 2,0 1,-3 1,-4-1,-6 0,-3-1,-3 1,-3 2,-1 0,-4 0,0 0,0 0,0 0,0 0,-2 0,0 0,6 0,0 0,5 0,0 0,0 0,2 0,-1 0,2 0,-3 0,-5 0,-4 0,-2 0,-2 0,-1 0,-2 0,-3 0,0 0,1 0,3 0,-5 0,0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6:33:19.1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0 121,'91'0,"-2"0,-17-1,3-1,-3-1,-7 0,-11 2,-8 1,-5 0,-3-3,-2 1,-4-1,1 1,-2 2,3 0,3-2,0-1,5-1,1 0,-1 1,-2-1,-6 0,-1 2,-1 0,0 0,-1-1,-3 0,1 2,0 1,0 0,0-2,2-1,1-1,0-2,1 1,-1 1,2-1,2 3,0-1,1 1,-2 2,-1 0,-1 0,1 0,-1 0,-2 0,-3 0,-2 0,-2-2,-3 0,-1-1,0 1,1 2,-1 0,0-2,-3 0,3-1,3 0,0 0,2 0,3 1,1 2,5 0,-1 0,2 0,-1 0,-2 0,2 0,-2 0,-3 0,-1 0,-4 0,-3 0,-1 0,-2 0,-1 0,1 0,0 0,-1 0,1 0,0 0,-1 0,1 0,2 0,0 0,1 0,1 0,-1 0,-1 0,0 0,-2 0,0 0,-1 0,1 0,0 0,-1 0,0 0,-2 0,0 0,3 3,-5-2,8 3,-9-1,8 1,-7 2,2 0,4 3,-5-4,7 4,-6-2,3 1,0 2,-1-1,1-2,0 0,-3-2,-1 0,2 3,-5-3,6 4,-3-3,-3 1,-15-55,3 38,-12-42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8:42:44.76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1 303,'73'0,"-2"0,-4 0,-8 0,-6 0,-9 0,-7 0,-1 0,-1 0,-1 0,-1 0,-3 0,3 0,4 0,5 0,3 0,1-3,0-2,-1 1,-3 1,-1 3,-3 0,-4-4,-2 0,-3-3,0 0,4 0,7-3,9 2,11-3,11 0,8 0,10-2,2 0,0-1,-2 1,-9 1,-10 4,-10 4,-9 1,-6 3,-5 0,-2 0,-2 0,-3 0,0 0,-3 0,3 0,4 0,6 0,5 0,4 0,4 0,9 0,5-3,4-2,4-3,-3-3,4-1,0-4,1 3,1 1,-3 0,-2 1,-1 0,-2 3,-4 4,2 2,-1 2,-1 0,0 0,-9 0,-4 0,-2 0,-4 0,0 0,-3 0,-5 0,-1 0,-3 0,1 0,-2 0,-1 0,2 0,-1 0,5 0,1 0,-1 0,-1 0,-1 0,0 3,2 3,-1 4,3 1,3-1,3 2,5 0,-1 3,-7 0,-6-3,-8-1,-4-5,-4 1,-3-2,-6-2,-1 0,1-3,2 1,5-1,2 0,3 4,5 1,5 3,0 2,-4 0,-8-1,-10 0,-6-2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08:42:47.27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85,'51'0,"-1"0,8 0,3 0,13 0,4 0,5 0,1 0,0 0,0 0,-1 0,-1 0,-7 0,-1 0,0 0,-1 0,0 0,1 0,3 0,1 0,4 0,0 0,3 0,0 0,2 0,-1 0,-4 0,-2 0,-3 0,-2 0,-5-1,-2-1,-5-1,0 0,-1 1,0-1,0 1,0 0,-2 1,0 1,1 0,0 0,-2 0,-1 0,-2 0,-1 0,0 0,-2 0,45 0,-5 0,-8 0,-5 0,-2 0,-4 0,2 0,3 1,2 3,5 0,-1 1,1-2,0-3,-1 0,2 0,4 0,0 0,1 0,1-4,-2-4,0-5,2-1,-2 2,1 3,-2 0,-6 2,-2 2,-4 3,-6 2,-4 0,-7 0,-6 0,-4 0,-9 0,-5 0,-4 0,-4 0,-1 0,-2 0,-5 0,-9 0,-5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5:19.2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43,'43'0,"-5"0,-25 0,1 0,15 0,-3 0,4 0,-8 0,-8 0,0 0,2 0,4 0,-1-4,3-1,-5 0,2 1,0 3,0-1,-3 0,-1 0,2 0,-3 0,2-1,0 1,1-1,-3 1,7-1,-8 3,6-1,-5 1,6 0,-3 0,-1 0,-2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5:21.3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27,'70'0,"-8"0,-27 0,-2 0,1-2,-4-3,-1 0,-2 1,-1 2,1 2,-2-2,-1 0,-2 0,-3 0,0 2,-3 0,-1 0,2 0,-4 0,6 0,-5 0,4 0,-2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6:06.47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55 1,'76'0,"-6"0,-25 0,1 0,-3 0,1 0,1 0,-3 0,1 0,-7 0,-5 0,-3 0,-2 2,0 0,0 3,-2 0,-1 0,0 0,2 2,1-2,1 1,-2 1,-1-1,-4 0,-2 1,-3-1,-1 0,0 0,1 0,3 0,1 0,1 1,0-2,-3 1,-2-1,-1 3,-4 1,-1 7,-4-2,-19 3,-4-6,-19-4,-10-4,-12-1,-9-2,-5 0,1 0,5 0,5 0,7 0,8 0,8 0,6 2,2 0,0 0,-1 2,1-2,4 0,6 2,6-1,3 3,-1 6,4-3,-9 7,7-7,-9 6,3-2,-4 1,-3 1,3 3,-1 1,4 0,4-3,3-4,4-1,3 6,4-3,19 0,-4-8,21-6,-5 0,11-2,12-3,7-3,4 0,1 1,-4 2,-3 0,-5 1,-2 2,-2 0,1 2,1 0,2-1,7-1,0-1,-5 1,-11 0,-13 2,-11 0,-7 0,0 1,-2-1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27.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1,'67'0,"-5"0,-13 0,-8 0,-9 0,-8 0,-5 0,-4 0,-1 0,2 0,4 0,2 0,5 0,-6 0,-2 0,-5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29.3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9,'67'0,"-6"0,-16 0,0 0,2 0,-2 0,-5 0,-7 0,-5 0,-5 0,-4 0,-2 0,-1 0,0 0,1 0,-3 0,3 0,0 0,12-3,5 1,-2 0,-4 1,-16 1,-5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30.6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0,'68'0,"-10"0,-24 0,-9 0,-7 0,-2 0,1 0,-1 0,0 0,0 0,0 0,0 0,1 0,-1 0,0 0,0 0,0 0,-1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32.0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1,'68'0,"-1"0,-13 0,2 0,-3 0,2 0,-2 0,1 0,-1 0,-3 0,-7 0,-10 0,-9 0,-5 1,-2 2,-1 0,-1 1,-2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33.46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1,'97'0,"0"0,-21 0,-8 0,-15 0,-23 0,-7 0,-5 0,0 0,5 0,-1 0,4 0,3 0,-2 0,-4 0,-2 0,3 0,8 0,6 0,-2 0,-7 0,-7 2,-8 1,-2 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35.87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0,'44'0,"-5"0,-18 0,-2 0,1 0,1 2,3 2,2 3,3 1,-1 0,-1-1,-5-1,-4 1,-5 1,1 1,-2-1,4 4,-5-3,3-1,2 0,-4-3,7 5,-9-4,0 7,-4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06T13:37:37.2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378 1,'-47'14,"6"-1,22-4,2-2,1-1,2-1,-4 0,6-3,-9 3,7-4,-3 3,-4-4,3 0,-6 0,6 0,1 0,0 0,5 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32909EB9-C681-6D48-A30A-B1943F07B63A}" type="datetimeFigureOut">
              <a:rPr lang="en-US" altLang="x-none"/>
              <a:pPr/>
              <a:t>3/26/2026</a:t>
            </a:fld>
            <a:endParaRPr lang="en-US" altLang="x-non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54CB1C3-AD3E-C741-BB38-CE2353AEE738}" type="slidenum">
              <a:rPr lang="en-US" altLang="x-none"/>
              <a:pPr/>
              <a:t>‹#›</a:t>
            </a:fld>
            <a:endParaRPr lang="en-US" altLang="x-none"/>
          </a:p>
        </p:txBody>
      </p:sp>
    </p:spTree>
    <p:extLst>
      <p:ext uri="{BB962C8B-B14F-4D97-AF65-F5344CB8AC3E}">
        <p14:creationId xmlns:p14="http://schemas.microsoft.com/office/powerpoint/2010/main" val="3272165269"/>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248-4EBB-1F5D-5D32-316A9C59BA5D}"/>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1A7811A-443E-6CAB-38AB-D5FD9B7A8C89}"/>
              </a:ext>
            </a:extLst>
          </p:cNvPr>
          <p:cNvSpPr>
            <a:spLocks noGrp="1" noRot="1" noChangeAspect="1" noTextEdit="1"/>
          </p:cNvSpPr>
          <p:nvPr>
            <p:ph type="sldImg"/>
          </p:nvPr>
        </p:nvSpPr>
        <p:spPr>
          <a:xfrm>
            <a:off x="381000" y="685800"/>
            <a:ext cx="6096000" cy="3429000"/>
          </a:xfrm>
          <a:ln/>
        </p:spPr>
      </p:sp>
      <p:sp>
        <p:nvSpPr>
          <p:cNvPr id="97283" name="Notes Placeholder 2">
            <a:extLst>
              <a:ext uri="{FF2B5EF4-FFF2-40B4-BE49-F238E27FC236}">
                <a16:creationId xmlns:a16="http://schemas.microsoft.com/office/drawing/2014/main" id="{9A5ADDD2-4B69-96B3-AE53-EE252E205DF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a:extLst>
              <a:ext uri="{FF2B5EF4-FFF2-40B4-BE49-F238E27FC236}">
                <a16:creationId xmlns:a16="http://schemas.microsoft.com/office/drawing/2014/main" id="{419E55BE-91F6-9D78-1F78-8FAC0C960D61}"/>
              </a:ext>
            </a:extLst>
          </p:cNvPr>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a:extLst>
              <a:ext uri="{FF2B5EF4-FFF2-40B4-BE49-F238E27FC236}">
                <a16:creationId xmlns:a16="http://schemas.microsoft.com/office/drawing/2014/main" id="{11C0B6D5-1070-DECD-750E-5EDA8AA5C2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1</a:t>
            </a:fld>
            <a:endParaRPr lang="en-US" altLang="en-US" sz="1200" b="0"/>
          </a:p>
        </p:txBody>
      </p:sp>
    </p:spTree>
    <p:extLst>
      <p:ext uri="{BB962C8B-B14F-4D97-AF65-F5344CB8AC3E}">
        <p14:creationId xmlns:p14="http://schemas.microsoft.com/office/powerpoint/2010/main" val="271113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ptos Narrow" panose="020B0004020202020204" pitchFamily="34" charset="0"/>
              </a:rPr>
              <a:t>mean:</a:t>
            </a:r>
            <a:r>
              <a:rPr lang="en-US" dirty="0"/>
              <a:t> </a:t>
            </a:r>
            <a:r>
              <a:rPr lang="en-US" sz="1800" b="0" i="0" u="none" strike="noStrike" dirty="0">
                <a:solidFill>
                  <a:srgbClr val="000000"/>
                </a:solidFill>
                <a:effectLst/>
                <a:latin typeface="Aptos Narrow" panose="020B0004020202020204" pitchFamily="34" charset="0"/>
              </a:rPr>
              <a:t>7.25</a:t>
            </a:r>
            <a:r>
              <a:rPr lang="en-US" dirty="0"/>
              <a:t> </a:t>
            </a:r>
          </a:p>
          <a:p>
            <a:r>
              <a:rPr lang="en-US" sz="1200" b="0" i="0" u="none" strike="noStrike" dirty="0">
                <a:solidFill>
                  <a:srgbClr val="000000"/>
                </a:solidFill>
                <a:effectLst/>
                <a:latin typeface="Aptos Narrow" panose="020B0004020202020204" pitchFamily="34" charset="0"/>
              </a:rPr>
              <a:t>median:</a:t>
            </a:r>
            <a:r>
              <a:rPr lang="en-US" dirty="0"/>
              <a:t> </a:t>
            </a:r>
            <a:r>
              <a:rPr lang="en-US" sz="1200" b="0" i="0" u="none" strike="noStrike" dirty="0">
                <a:solidFill>
                  <a:srgbClr val="000000"/>
                </a:solidFill>
                <a:effectLst/>
                <a:latin typeface="Aptos Narrow" panose="020B0004020202020204" pitchFamily="34" charset="0"/>
              </a:rPr>
              <a:t>7.5</a:t>
            </a:r>
            <a:r>
              <a:rPr lang="en-US" dirty="0"/>
              <a:t> </a:t>
            </a:r>
          </a:p>
          <a:p>
            <a:r>
              <a:rPr lang="en-US" sz="1800" b="0" i="0" u="none" strike="noStrike" dirty="0">
                <a:solidFill>
                  <a:srgbClr val="000000"/>
                </a:solidFill>
                <a:effectLst/>
                <a:latin typeface="Aptos Narrow" panose="020B0004020202020204" pitchFamily="34" charset="0"/>
              </a:rPr>
              <a:t>mode:</a:t>
            </a:r>
            <a:r>
              <a:rPr lang="en-US" dirty="0"/>
              <a:t> </a:t>
            </a:r>
            <a:r>
              <a:rPr lang="en-US" sz="1800" b="0" i="0" u="none" strike="noStrike" dirty="0">
                <a:solidFill>
                  <a:srgbClr val="000000"/>
                </a:solidFill>
                <a:effectLst/>
                <a:latin typeface="Aptos Narrow" panose="020B0004020202020204" pitchFamily="34" charset="0"/>
              </a:rPr>
              <a:t>8</a:t>
            </a:r>
          </a:p>
          <a:p>
            <a:r>
              <a:rPr lang="en-US" sz="1800" b="0" i="0" u="none" strike="noStrike" dirty="0">
                <a:solidFill>
                  <a:srgbClr val="000000"/>
                </a:solidFill>
                <a:effectLst/>
                <a:latin typeface="Aptos Narrow" panose="020B0004020202020204" pitchFamily="34" charset="0"/>
              </a:rPr>
              <a:t>data: 3</a:t>
            </a:r>
            <a:r>
              <a:rPr lang="en-US" dirty="0"/>
              <a:t> </a:t>
            </a:r>
            <a:r>
              <a:rPr lang="en-US" sz="1800" b="0" i="0" u="none" strike="noStrike" dirty="0">
                <a:solidFill>
                  <a:srgbClr val="000000"/>
                </a:solidFill>
                <a:effectLst/>
                <a:latin typeface="Aptos Narrow" panose="020B0004020202020204" pitchFamily="34" charset="0"/>
              </a:rPr>
              <a:t>4</a:t>
            </a:r>
            <a:r>
              <a:rPr lang="en-US" dirty="0"/>
              <a:t> </a:t>
            </a:r>
            <a:r>
              <a:rPr lang="en-US" sz="1800" b="0" i="0" u="none" strike="noStrike" dirty="0">
                <a:solidFill>
                  <a:srgbClr val="000000"/>
                </a:solidFill>
                <a:effectLst/>
                <a:latin typeface="Aptos Narrow" panose="020B0004020202020204" pitchFamily="34" charset="0"/>
              </a:rPr>
              <a:t>4</a:t>
            </a:r>
            <a:r>
              <a:rPr lang="en-US" dirty="0"/>
              <a:t> </a:t>
            </a:r>
            <a:r>
              <a:rPr lang="en-US" sz="1800" b="0" i="0" u="none" strike="noStrike" dirty="0">
                <a:solidFill>
                  <a:srgbClr val="000000"/>
                </a:solidFill>
                <a:effectLst/>
                <a:latin typeface="Aptos Narrow" panose="020B0004020202020204" pitchFamily="34" charset="0"/>
              </a:rPr>
              <a:t>5</a:t>
            </a:r>
            <a:r>
              <a:rPr lang="en-US" dirty="0"/>
              <a:t> </a:t>
            </a:r>
            <a:r>
              <a:rPr lang="en-US" sz="1800" b="0" i="0" u="none" strike="noStrike" dirty="0">
                <a:solidFill>
                  <a:srgbClr val="000000"/>
                </a:solidFill>
                <a:effectLst/>
                <a:latin typeface="Aptos Narrow" panose="020B0004020202020204" pitchFamily="34" charset="0"/>
              </a:rPr>
              <a:t>5</a:t>
            </a:r>
            <a:r>
              <a:rPr lang="en-US" dirty="0"/>
              <a:t> </a:t>
            </a:r>
            <a:r>
              <a:rPr lang="en-US" sz="1800" b="0" i="0" u="none" strike="noStrike" dirty="0">
                <a:solidFill>
                  <a:srgbClr val="000000"/>
                </a:solidFill>
                <a:effectLst/>
                <a:latin typeface="Aptos Narrow" panose="020B0004020202020204" pitchFamily="34" charset="0"/>
              </a:rPr>
              <a:t>5</a:t>
            </a:r>
            <a:r>
              <a:rPr lang="en-US" dirty="0"/>
              <a:t> </a:t>
            </a:r>
            <a:r>
              <a:rPr lang="en-US" sz="1800" b="0" i="0" u="none" strike="noStrike" dirty="0">
                <a:solidFill>
                  <a:srgbClr val="000000"/>
                </a:solidFill>
                <a:effectLst/>
                <a:latin typeface="Aptos Narrow" panose="020B0004020202020204" pitchFamily="34" charset="0"/>
              </a:rPr>
              <a:t>6</a:t>
            </a:r>
            <a:r>
              <a:rPr lang="en-US" dirty="0"/>
              <a:t> </a:t>
            </a:r>
            <a:r>
              <a:rPr lang="en-US" sz="1800" b="0" i="0" u="none" strike="noStrike" dirty="0">
                <a:solidFill>
                  <a:srgbClr val="000000"/>
                </a:solidFill>
                <a:effectLst/>
                <a:latin typeface="Aptos Narrow" panose="020B0004020202020204" pitchFamily="34" charset="0"/>
              </a:rPr>
              <a:t>6</a:t>
            </a:r>
            <a:r>
              <a:rPr lang="en-US" dirty="0"/>
              <a:t> </a:t>
            </a:r>
            <a:r>
              <a:rPr lang="en-US" sz="1800" b="0" i="0" u="none" strike="noStrike" dirty="0">
                <a:solidFill>
                  <a:srgbClr val="000000"/>
                </a:solidFill>
                <a:effectLst/>
                <a:latin typeface="Aptos Narrow" panose="020B0004020202020204" pitchFamily="34" charset="0"/>
              </a:rPr>
              <a:t>7</a:t>
            </a:r>
            <a:r>
              <a:rPr lang="en-US" dirty="0"/>
              <a:t> </a:t>
            </a:r>
            <a:r>
              <a:rPr lang="en-US" sz="1800" b="0" i="0" u="none" strike="noStrike" dirty="0">
                <a:solidFill>
                  <a:srgbClr val="000000"/>
                </a:solidFill>
                <a:effectLst/>
                <a:latin typeface="Aptos Narrow" panose="020B0004020202020204" pitchFamily="34" charset="0"/>
              </a:rPr>
              <a:t>7</a:t>
            </a:r>
            <a:r>
              <a:rPr lang="en-US" dirty="0"/>
              <a:t> </a:t>
            </a:r>
            <a:r>
              <a:rPr lang="en-US" sz="1800" b="0" i="0" u="none" strike="noStrike" dirty="0">
                <a:solidFill>
                  <a:srgbClr val="000000"/>
                </a:solidFill>
                <a:effectLst/>
                <a:latin typeface="Aptos Narrow" panose="020B0004020202020204" pitchFamily="34" charset="0"/>
              </a:rPr>
              <a:t>8</a:t>
            </a:r>
            <a:r>
              <a:rPr lang="en-US" dirty="0"/>
              <a:t> </a:t>
            </a:r>
            <a:r>
              <a:rPr lang="en-US" sz="1800" b="0" i="0" u="none" strike="noStrike" dirty="0">
                <a:solidFill>
                  <a:srgbClr val="000000"/>
                </a:solidFill>
                <a:effectLst/>
                <a:latin typeface="Aptos Narrow" panose="020B0004020202020204" pitchFamily="34" charset="0"/>
              </a:rPr>
              <a:t>8</a:t>
            </a:r>
            <a:r>
              <a:rPr lang="en-US" dirty="0"/>
              <a:t> </a:t>
            </a:r>
            <a:r>
              <a:rPr lang="en-US" sz="1800" b="0" i="0" u="none" strike="noStrike" dirty="0">
                <a:solidFill>
                  <a:srgbClr val="000000"/>
                </a:solidFill>
                <a:effectLst/>
                <a:latin typeface="Aptos Narrow" panose="020B0004020202020204" pitchFamily="34" charset="0"/>
              </a:rPr>
              <a:t>8</a:t>
            </a:r>
            <a:r>
              <a:rPr lang="en-US" dirty="0"/>
              <a:t> </a:t>
            </a:r>
            <a:r>
              <a:rPr lang="en-US" sz="1800" b="0" i="0" u="none" strike="noStrike" dirty="0">
                <a:solidFill>
                  <a:srgbClr val="000000"/>
                </a:solidFill>
                <a:effectLst/>
                <a:latin typeface="Aptos Narrow" panose="020B0004020202020204" pitchFamily="34" charset="0"/>
              </a:rPr>
              <a:t>8</a:t>
            </a:r>
            <a:r>
              <a:rPr lang="en-US" dirty="0"/>
              <a:t> </a:t>
            </a:r>
            <a:r>
              <a:rPr lang="en-US" sz="1800" b="0" i="0" u="none" strike="noStrike" dirty="0">
                <a:solidFill>
                  <a:srgbClr val="000000"/>
                </a:solidFill>
                <a:effectLst/>
                <a:latin typeface="Aptos Narrow" panose="020B0004020202020204" pitchFamily="34" charset="0"/>
              </a:rPr>
              <a:t>8</a:t>
            </a:r>
            <a:r>
              <a:rPr lang="en-US" dirty="0"/>
              <a:t> </a:t>
            </a:r>
            <a:r>
              <a:rPr lang="en-US" sz="1800" b="0" i="0" u="none" strike="noStrike" dirty="0">
                <a:solidFill>
                  <a:srgbClr val="000000"/>
                </a:solidFill>
                <a:effectLst/>
                <a:latin typeface="Aptos Narrow" panose="020B0004020202020204" pitchFamily="34" charset="0"/>
              </a:rPr>
              <a:t>9</a:t>
            </a:r>
            <a:r>
              <a:rPr lang="en-US" dirty="0"/>
              <a:t> </a:t>
            </a:r>
            <a:r>
              <a:rPr lang="en-US" sz="1800" b="0" i="0" u="none" strike="noStrike" dirty="0">
                <a:solidFill>
                  <a:srgbClr val="000000"/>
                </a:solidFill>
                <a:effectLst/>
                <a:latin typeface="Aptos Narrow" panose="020B0004020202020204" pitchFamily="34" charset="0"/>
              </a:rPr>
              <a:t>10</a:t>
            </a:r>
            <a:r>
              <a:rPr lang="en-US" dirty="0"/>
              <a:t> </a:t>
            </a:r>
            <a:r>
              <a:rPr lang="en-US" sz="1800" b="0" i="0" u="none" strike="noStrike" dirty="0">
                <a:solidFill>
                  <a:srgbClr val="000000"/>
                </a:solidFill>
                <a:effectLst/>
                <a:latin typeface="Aptos Narrow" panose="020B0004020202020204" pitchFamily="34" charset="0"/>
              </a:rPr>
              <a:t>10</a:t>
            </a:r>
            <a:r>
              <a:rPr lang="en-US" dirty="0"/>
              <a:t> </a:t>
            </a:r>
            <a:r>
              <a:rPr lang="en-US" sz="1800" b="0" i="0" u="none" strike="noStrike" dirty="0">
                <a:solidFill>
                  <a:srgbClr val="000000"/>
                </a:solidFill>
                <a:effectLst/>
                <a:latin typeface="Aptos Narrow" panose="020B0004020202020204" pitchFamily="34" charset="0"/>
              </a:rPr>
              <a:t>11</a:t>
            </a:r>
            <a:r>
              <a:rPr lang="en-US" dirty="0"/>
              <a:t> </a:t>
            </a:r>
            <a:r>
              <a:rPr lang="en-US" sz="1800" b="0" i="0" u="none" strike="noStrike" dirty="0">
                <a:solidFill>
                  <a:srgbClr val="000000"/>
                </a:solidFill>
                <a:effectLst/>
                <a:latin typeface="Aptos Narrow" panose="020B0004020202020204" pitchFamily="34" charset="0"/>
              </a:rPr>
              <a:t>13</a:t>
            </a:r>
            <a:r>
              <a:rPr lang="en-US" dirty="0"/>
              <a:t> </a:t>
            </a:r>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26</a:t>
            </a:fld>
            <a:endParaRPr lang="en-US" altLang="en-US"/>
          </a:p>
        </p:txBody>
      </p:sp>
    </p:spTree>
    <p:extLst>
      <p:ext uri="{BB962C8B-B14F-4D97-AF65-F5344CB8AC3E}">
        <p14:creationId xmlns:p14="http://schemas.microsoft.com/office/powerpoint/2010/main" val="1925933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ptos Narrow" panose="020B0004020202020204" pitchFamily="34" charset="0"/>
              </a:rPr>
              <a:t>X:</a:t>
            </a:r>
            <a:r>
              <a:rPr lang="en-US" dirty="0"/>
              <a:t> </a:t>
            </a:r>
            <a:r>
              <a:rPr lang="en-US" sz="1800" b="0" i="0" u="none" strike="noStrike" dirty="0">
                <a:solidFill>
                  <a:srgbClr val="000000"/>
                </a:solidFill>
                <a:effectLst/>
                <a:latin typeface="Aptos Narrow" panose="020B0004020202020204" pitchFamily="34" charset="0"/>
              </a:rPr>
              <a:t>2001</a:t>
            </a:r>
            <a:r>
              <a:rPr lang="en-US" dirty="0"/>
              <a:t> </a:t>
            </a:r>
            <a:r>
              <a:rPr lang="en-US" sz="1800" b="0" i="0" u="none" strike="noStrike" dirty="0">
                <a:solidFill>
                  <a:srgbClr val="000000"/>
                </a:solidFill>
                <a:effectLst/>
                <a:latin typeface="Aptos Narrow" panose="020B0004020202020204" pitchFamily="34" charset="0"/>
              </a:rPr>
              <a:t>2002</a:t>
            </a:r>
            <a:r>
              <a:rPr lang="en-US" dirty="0"/>
              <a:t> </a:t>
            </a:r>
            <a:r>
              <a:rPr lang="en-US" sz="1800" b="0" i="0" u="none" strike="noStrike" dirty="0">
                <a:solidFill>
                  <a:srgbClr val="000000"/>
                </a:solidFill>
                <a:effectLst/>
                <a:latin typeface="Aptos Narrow" panose="020B0004020202020204" pitchFamily="34" charset="0"/>
              </a:rPr>
              <a:t>2003</a:t>
            </a:r>
            <a:r>
              <a:rPr lang="en-US" dirty="0"/>
              <a:t> </a:t>
            </a:r>
            <a:r>
              <a:rPr lang="en-US" sz="1800" b="0" i="0" u="none" strike="noStrike" dirty="0">
                <a:solidFill>
                  <a:srgbClr val="000000"/>
                </a:solidFill>
                <a:effectLst/>
                <a:latin typeface="Aptos Narrow" panose="020B0004020202020204" pitchFamily="34" charset="0"/>
              </a:rPr>
              <a:t>2004</a:t>
            </a:r>
            <a:r>
              <a:rPr lang="en-US" dirty="0"/>
              <a:t> </a:t>
            </a:r>
            <a:r>
              <a:rPr lang="en-US" sz="1800" b="0" i="0" u="none" strike="noStrike" dirty="0">
                <a:solidFill>
                  <a:srgbClr val="000000"/>
                </a:solidFill>
                <a:effectLst/>
                <a:latin typeface="Aptos Narrow" panose="020B0004020202020204" pitchFamily="34" charset="0"/>
              </a:rPr>
              <a:t>2005</a:t>
            </a:r>
            <a:r>
              <a:rPr lang="en-US" dirty="0"/>
              <a:t> </a:t>
            </a:r>
            <a:r>
              <a:rPr lang="en-US" sz="1800" b="0" i="0" u="none" strike="noStrike" dirty="0">
                <a:solidFill>
                  <a:srgbClr val="000000"/>
                </a:solidFill>
                <a:effectLst/>
                <a:latin typeface="Aptos Narrow" panose="020B0004020202020204" pitchFamily="34" charset="0"/>
              </a:rPr>
              <a:t>2006</a:t>
            </a:r>
            <a:r>
              <a:rPr lang="en-US" dirty="0"/>
              <a:t> </a:t>
            </a:r>
            <a:r>
              <a:rPr lang="en-US" sz="1800" b="0" i="0" u="none" strike="noStrike" dirty="0">
                <a:solidFill>
                  <a:srgbClr val="000000"/>
                </a:solidFill>
                <a:effectLst/>
                <a:latin typeface="Aptos Narrow" panose="020B0004020202020204" pitchFamily="34" charset="0"/>
              </a:rPr>
              <a:t>2007</a:t>
            </a:r>
            <a:r>
              <a:rPr lang="en-US" dirty="0"/>
              <a:t> </a:t>
            </a:r>
            <a:r>
              <a:rPr lang="en-US" sz="1800" b="0" i="0" u="none" strike="noStrike" dirty="0">
                <a:solidFill>
                  <a:srgbClr val="000000"/>
                </a:solidFill>
                <a:effectLst/>
                <a:latin typeface="Aptos Narrow" panose="020B0004020202020204" pitchFamily="34" charset="0"/>
              </a:rPr>
              <a:t>2008</a:t>
            </a:r>
            <a:r>
              <a:rPr lang="en-US" dirty="0"/>
              <a:t> </a:t>
            </a:r>
          </a:p>
          <a:p>
            <a:r>
              <a:rPr lang="en-US" sz="1800" b="0" i="0" u="none" strike="noStrike" dirty="0">
                <a:solidFill>
                  <a:srgbClr val="000000"/>
                </a:solidFill>
                <a:effectLst/>
                <a:latin typeface="Aptos Narrow" panose="020B0004020202020204" pitchFamily="34" charset="0"/>
              </a:rPr>
              <a:t>F:</a:t>
            </a:r>
            <a:r>
              <a:rPr lang="en-US" dirty="0"/>
              <a:t> </a:t>
            </a:r>
            <a:r>
              <a:rPr lang="en-US" sz="1800" b="0" i="0" u="none" strike="noStrike" dirty="0">
                <a:solidFill>
                  <a:srgbClr val="000000"/>
                </a:solidFill>
                <a:effectLst/>
                <a:latin typeface="Aptos Narrow" panose="020B0004020202020204" pitchFamily="34" charset="0"/>
              </a:rPr>
              <a:t>4</a:t>
            </a:r>
            <a:r>
              <a:rPr lang="en-US" dirty="0"/>
              <a:t> </a:t>
            </a:r>
            <a:r>
              <a:rPr lang="en-US" sz="1800" b="0" i="0" u="none" strike="noStrike" dirty="0">
                <a:solidFill>
                  <a:srgbClr val="000000"/>
                </a:solidFill>
                <a:effectLst/>
                <a:latin typeface="Aptos Narrow" panose="020B0004020202020204" pitchFamily="34" charset="0"/>
              </a:rPr>
              <a:t>5</a:t>
            </a:r>
            <a:r>
              <a:rPr lang="en-US" dirty="0"/>
              <a:t> </a:t>
            </a:r>
            <a:r>
              <a:rPr lang="en-US" sz="1800" b="0" i="0" u="none" strike="noStrike" dirty="0">
                <a:solidFill>
                  <a:srgbClr val="000000"/>
                </a:solidFill>
                <a:effectLst/>
                <a:latin typeface="Aptos Narrow" panose="020B0004020202020204" pitchFamily="34" charset="0"/>
              </a:rPr>
              <a:t>4</a:t>
            </a:r>
            <a:r>
              <a:rPr lang="en-US" dirty="0"/>
              <a:t> </a:t>
            </a:r>
            <a:r>
              <a:rPr lang="en-US" sz="1800" b="0" i="0" u="none" strike="noStrike" dirty="0">
                <a:solidFill>
                  <a:srgbClr val="000000"/>
                </a:solidFill>
                <a:effectLst/>
                <a:latin typeface="Aptos Narrow" panose="020B0004020202020204" pitchFamily="34" charset="0"/>
              </a:rPr>
              <a:t>2</a:t>
            </a:r>
            <a:r>
              <a:rPr lang="en-US" dirty="0"/>
              <a:t> </a:t>
            </a:r>
            <a:r>
              <a:rPr lang="en-US" sz="1800" b="0" i="0" u="none" strike="noStrike" dirty="0">
                <a:solidFill>
                  <a:srgbClr val="000000"/>
                </a:solidFill>
                <a:effectLst/>
                <a:latin typeface="Aptos Narrow" panose="020B0004020202020204" pitchFamily="34" charset="0"/>
              </a:rPr>
              <a:t>10</a:t>
            </a:r>
            <a:r>
              <a:rPr lang="en-US" dirty="0"/>
              <a:t> </a:t>
            </a:r>
            <a:r>
              <a:rPr lang="en-US" sz="1800" b="0" i="0" u="none" strike="noStrike" dirty="0">
                <a:solidFill>
                  <a:srgbClr val="000000"/>
                </a:solidFill>
                <a:effectLst/>
                <a:latin typeface="Aptos Narrow" panose="020B0004020202020204" pitchFamily="34" charset="0"/>
              </a:rPr>
              <a:t>5</a:t>
            </a:r>
            <a:r>
              <a:rPr lang="en-US" dirty="0"/>
              <a:t> </a:t>
            </a:r>
            <a:r>
              <a:rPr lang="en-US" sz="1800" b="0" i="0" u="none" strike="noStrike" dirty="0">
                <a:solidFill>
                  <a:srgbClr val="000000"/>
                </a:solidFill>
                <a:effectLst/>
                <a:latin typeface="Aptos Narrow" panose="020B0004020202020204" pitchFamily="34" charset="0"/>
              </a:rPr>
              <a:t>3</a:t>
            </a:r>
            <a:r>
              <a:rPr lang="en-US" dirty="0"/>
              <a:t> </a:t>
            </a:r>
            <a:r>
              <a:rPr lang="en-US" sz="1800" b="0" i="0" u="none" strike="noStrike" dirty="0">
                <a:solidFill>
                  <a:srgbClr val="000000"/>
                </a:solidFill>
                <a:effectLst/>
                <a:latin typeface="Aptos Narrow" panose="020B0004020202020204" pitchFamily="34" charset="0"/>
              </a:rPr>
              <a:t>5</a:t>
            </a:r>
            <a:r>
              <a:rPr lang="en-US" dirty="0"/>
              <a:t> </a:t>
            </a:r>
          </a:p>
          <a:p>
            <a:r>
              <a:rPr lang="en-US" dirty="0"/>
              <a:t>(a) </a:t>
            </a:r>
          </a:p>
          <a:p>
            <a:r>
              <a:rPr lang="en-US" sz="1800" b="0" i="0" u="none" strike="noStrike" dirty="0">
                <a:solidFill>
                  <a:srgbClr val="000000"/>
                </a:solidFill>
                <a:effectLst/>
                <a:latin typeface="Aptos Narrow" panose="020B0004020202020204" pitchFamily="34" charset="0"/>
              </a:rPr>
              <a:t>CF:</a:t>
            </a:r>
            <a:r>
              <a:rPr lang="en-US" dirty="0"/>
              <a:t> </a:t>
            </a:r>
            <a:r>
              <a:rPr lang="en-US" sz="1800" b="0" i="0" u="none" strike="noStrike" dirty="0">
                <a:solidFill>
                  <a:srgbClr val="000000"/>
                </a:solidFill>
                <a:effectLst/>
                <a:latin typeface="Aptos Narrow" panose="020B0004020202020204" pitchFamily="34" charset="0"/>
              </a:rPr>
              <a:t>4</a:t>
            </a:r>
            <a:r>
              <a:rPr lang="en-US" dirty="0"/>
              <a:t> </a:t>
            </a:r>
            <a:r>
              <a:rPr lang="en-US" sz="1800" b="0" i="0" u="none" strike="noStrike" dirty="0">
                <a:solidFill>
                  <a:srgbClr val="000000"/>
                </a:solidFill>
                <a:effectLst/>
                <a:latin typeface="Aptos Narrow" panose="020B0004020202020204" pitchFamily="34" charset="0"/>
              </a:rPr>
              <a:t>9</a:t>
            </a:r>
            <a:r>
              <a:rPr lang="en-US" dirty="0"/>
              <a:t> </a:t>
            </a:r>
            <a:r>
              <a:rPr lang="en-US" sz="1800" b="0" i="0" u="none" strike="noStrike" dirty="0">
                <a:solidFill>
                  <a:srgbClr val="000000"/>
                </a:solidFill>
                <a:effectLst/>
                <a:latin typeface="Aptos Narrow" panose="020B0004020202020204" pitchFamily="34" charset="0"/>
              </a:rPr>
              <a:t>13</a:t>
            </a:r>
            <a:r>
              <a:rPr lang="en-US" dirty="0"/>
              <a:t> </a:t>
            </a:r>
            <a:r>
              <a:rPr lang="en-US" sz="1800" b="0" i="0" u="none" strike="noStrike" dirty="0">
                <a:solidFill>
                  <a:srgbClr val="000000"/>
                </a:solidFill>
                <a:effectLst/>
                <a:latin typeface="Aptos Narrow" panose="020B0004020202020204" pitchFamily="34" charset="0"/>
              </a:rPr>
              <a:t>15</a:t>
            </a:r>
            <a:r>
              <a:rPr lang="en-US" dirty="0"/>
              <a:t> </a:t>
            </a:r>
            <a:r>
              <a:rPr lang="en-US" sz="1800" b="0" i="0" u="none" strike="noStrike" dirty="0">
                <a:solidFill>
                  <a:srgbClr val="000000"/>
                </a:solidFill>
                <a:effectLst/>
                <a:latin typeface="Aptos Narrow" panose="020B0004020202020204" pitchFamily="34" charset="0"/>
              </a:rPr>
              <a:t>25</a:t>
            </a:r>
            <a:r>
              <a:rPr lang="en-US" dirty="0"/>
              <a:t> </a:t>
            </a:r>
            <a:r>
              <a:rPr lang="en-US" sz="1800" b="0" i="0" u="none" strike="noStrike" dirty="0">
                <a:solidFill>
                  <a:srgbClr val="000000"/>
                </a:solidFill>
                <a:effectLst/>
                <a:latin typeface="Aptos Narrow" panose="020B0004020202020204" pitchFamily="34" charset="0"/>
              </a:rPr>
              <a:t>30</a:t>
            </a:r>
            <a:r>
              <a:rPr lang="en-US" dirty="0"/>
              <a:t> </a:t>
            </a:r>
            <a:r>
              <a:rPr lang="en-US" sz="1800" b="0" i="0" u="none" strike="noStrike" dirty="0">
                <a:solidFill>
                  <a:srgbClr val="000000"/>
                </a:solidFill>
                <a:effectLst/>
                <a:latin typeface="Aptos Narrow" panose="020B0004020202020204" pitchFamily="34" charset="0"/>
              </a:rPr>
              <a:t>33</a:t>
            </a:r>
            <a:r>
              <a:rPr lang="en-US" dirty="0"/>
              <a:t> </a:t>
            </a:r>
            <a:r>
              <a:rPr lang="en-US" sz="1800" b="0" i="0" u="none" strike="noStrike" dirty="0">
                <a:solidFill>
                  <a:srgbClr val="000000"/>
                </a:solidFill>
                <a:effectLst/>
                <a:latin typeface="Aptos Narrow" panose="020B0004020202020204" pitchFamily="34" charset="0"/>
              </a:rPr>
              <a:t>38</a:t>
            </a:r>
            <a:r>
              <a:rPr lang="en-US" dirty="0"/>
              <a:t> </a:t>
            </a:r>
          </a:p>
          <a:p>
            <a:r>
              <a:rPr lang="en-US" sz="1800" b="0" i="0" u="none" strike="noStrike" dirty="0">
                <a:solidFill>
                  <a:srgbClr val="000000"/>
                </a:solidFill>
                <a:effectLst/>
                <a:latin typeface="Aptos Narrow" panose="020B0004020202020204" pitchFamily="34" charset="0"/>
              </a:rPr>
              <a:t>XF:</a:t>
            </a:r>
            <a:r>
              <a:rPr lang="en-US" dirty="0"/>
              <a:t> </a:t>
            </a:r>
            <a:r>
              <a:rPr lang="en-US" sz="1800" b="0" i="0" u="none" strike="noStrike" dirty="0">
                <a:solidFill>
                  <a:srgbClr val="000000"/>
                </a:solidFill>
                <a:effectLst/>
                <a:latin typeface="Aptos Narrow" panose="020B0004020202020204" pitchFamily="34" charset="0"/>
              </a:rPr>
              <a:t>8004</a:t>
            </a:r>
            <a:r>
              <a:rPr lang="en-US" dirty="0"/>
              <a:t> </a:t>
            </a:r>
            <a:r>
              <a:rPr lang="en-US" sz="1800" b="0" i="0" u="none" strike="noStrike" dirty="0">
                <a:solidFill>
                  <a:srgbClr val="000000"/>
                </a:solidFill>
                <a:effectLst/>
                <a:latin typeface="Aptos Narrow" panose="020B0004020202020204" pitchFamily="34" charset="0"/>
              </a:rPr>
              <a:t>10010</a:t>
            </a:r>
            <a:r>
              <a:rPr lang="en-US" dirty="0"/>
              <a:t> </a:t>
            </a:r>
            <a:r>
              <a:rPr lang="en-US" sz="1800" b="0" i="0" u="none" strike="noStrike" dirty="0">
                <a:solidFill>
                  <a:srgbClr val="000000"/>
                </a:solidFill>
                <a:effectLst/>
                <a:latin typeface="Aptos Narrow" panose="020B0004020202020204" pitchFamily="34" charset="0"/>
              </a:rPr>
              <a:t>8012</a:t>
            </a:r>
            <a:r>
              <a:rPr lang="en-US" dirty="0"/>
              <a:t> </a:t>
            </a:r>
            <a:r>
              <a:rPr lang="en-US" sz="1800" b="0" i="0" u="none" strike="noStrike" dirty="0">
                <a:solidFill>
                  <a:srgbClr val="000000"/>
                </a:solidFill>
                <a:effectLst/>
                <a:latin typeface="Aptos Narrow" panose="020B0004020202020204" pitchFamily="34" charset="0"/>
              </a:rPr>
              <a:t>4008</a:t>
            </a:r>
            <a:r>
              <a:rPr lang="en-US" dirty="0"/>
              <a:t> </a:t>
            </a:r>
            <a:r>
              <a:rPr lang="en-US" sz="1800" b="0" i="0" u="none" strike="noStrike" dirty="0">
                <a:solidFill>
                  <a:srgbClr val="000000"/>
                </a:solidFill>
                <a:effectLst/>
                <a:latin typeface="Aptos Narrow" panose="020B0004020202020204" pitchFamily="34" charset="0"/>
              </a:rPr>
              <a:t>20050</a:t>
            </a:r>
            <a:r>
              <a:rPr lang="en-US" dirty="0"/>
              <a:t> </a:t>
            </a:r>
            <a:r>
              <a:rPr lang="en-US" sz="1800" b="0" i="0" u="none" strike="noStrike" dirty="0">
                <a:solidFill>
                  <a:srgbClr val="000000"/>
                </a:solidFill>
                <a:effectLst/>
                <a:latin typeface="Aptos Narrow" panose="020B0004020202020204" pitchFamily="34" charset="0"/>
              </a:rPr>
              <a:t>10030</a:t>
            </a:r>
            <a:r>
              <a:rPr lang="en-US" dirty="0"/>
              <a:t> </a:t>
            </a:r>
            <a:r>
              <a:rPr lang="en-US" sz="1800" b="0" i="0" u="none" strike="noStrike" dirty="0">
                <a:solidFill>
                  <a:srgbClr val="000000"/>
                </a:solidFill>
                <a:effectLst/>
                <a:latin typeface="Aptos Narrow" panose="020B0004020202020204" pitchFamily="34" charset="0"/>
              </a:rPr>
              <a:t>6021</a:t>
            </a:r>
            <a:r>
              <a:rPr lang="en-US" dirty="0"/>
              <a:t> </a:t>
            </a:r>
            <a:r>
              <a:rPr lang="en-US" sz="1800" b="0" i="0" u="none" strike="noStrike" dirty="0">
                <a:solidFill>
                  <a:srgbClr val="000000"/>
                </a:solidFill>
                <a:effectLst/>
                <a:latin typeface="Aptos Narrow" panose="020B0004020202020204" pitchFamily="34" charset="0"/>
              </a:rPr>
              <a:t>10040</a:t>
            </a:r>
            <a:r>
              <a:rPr lang="en-US" dirty="0"/>
              <a:t> </a:t>
            </a:r>
          </a:p>
          <a:p>
            <a:r>
              <a:rPr lang="en-US" sz="1800" b="0" i="0" u="none" strike="noStrike" dirty="0">
                <a:solidFill>
                  <a:srgbClr val="000000"/>
                </a:solidFill>
                <a:effectLst/>
                <a:latin typeface="Aptos Narrow" panose="020B0004020202020204" pitchFamily="34" charset="0"/>
              </a:rPr>
              <a:t>sum(XF):</a:t>
            </a:r>
            <a:r>
              <a:rPr lang="en-US" dirty="0"/>
              <a:t> </a:t>
            </a:r>
            <a:r>
              <a:rPr lang="en-US" sz="1800" b="0" i="0" u="none" strike="noStrike" dirty="0">
                <a:solidFill>
                  <a:srgbClr val="000000"/>
                </a:solidFill>
                <a:effectLst/>
                <a:latin typeface="Aptos Narrow" panose="020B0004020202020204" pitchFamily="34" charset="0"/>
              </a:rPr>
              <a:t>76175</a:t>
            </a:r>
            <a:r>
              <a:rPr lang="en-US" dirty="0"/>
              <a:t> </a:t>
            </a:r>
          </a:p>
          <a:p>
            <a:r>
              <a:rPr lang="en-US" sz="1800" b="0" i="0" u="none" strike="noStrike" dirty="0">
                <a:solidFill>
                  <a:srgbClr val="000000"/>
                </a:solidFill>
                <a:effectLst/>
                <a:latin typeface="Aptos Narrow" panose="020B0004020202020204" pitchFamily="34" charset="0"/>
              </a:rPr>
              <a:t>mean:</a:t>
            </a:r>
            <a:r>
              <a:rPr lang="en-US" sz="2800" dirty="0"/>
              <a:t> </a:t>
            </a:r>
            <a:r>
              <a:rPr lang="en-US" sz="1800" b="0" i="0" u="none" strike="noStrike" dirty="0">
                <a:solidFill>
                  <a:srgbClr val="000000"/>
                </a:solidFill>
                <a:effectLst/>
                <a:latin typeface="Aptos Narrow" panose="020B0004020202020204" pitchFamily="34" charset="0"/>
              </a:rPr>
              <a:t>2004.6053</a:t>
            </a:r>
            <a:endParaRPr lang="en-US" sz="2800" dirty="0"/>
          </a:p>
          <a:p>
            <a:r>
              <a:rPr lang="en-US" sz="1800" b="0" i="0" u="none" strike="noStrike" dirty="0">
                <a:solidFill>
                  <a:srgbClr val="000000"/>
                </a:solidFill>
                <a:effectLst/>
                <a:latin typeface="Aptos Narrow" panose="020B0004020202020204" pitchFamily="34" charset="0"/>
              </a:rPr>
              <a:t>median:</a:t>
            </a:r>
            <a:r>
              <a:rPr lang="en-US" sz="2800" dirty="0"/>
              <a:t> </a:t>
            </a:r>
            <a:r>
              <a:rPr lang="en-US" sz="1800" b="0" i="0" u="none" strike="noStrike" dirty="0">
                <a:solidFill>
                  <a:srgbClr val="000000"/>
                </a:solidFill>
                <a:effectLst/>
                <a:latin typeface="Aptos Narrow" panose="020B0004020202020204" pitchFamily="34" charset="0"/>
              </a:rPr>
              <a:t>2005.4000</a:t>
            </a:r>
            <a:r>
              <a:rPr lang="en-US" sz="2800" dirty="0"/>
              <a:t> </a:t>
            </a:r>
            <a:endParaRPr lang="en-US" sz="4000" dirty="0"/>
          </a:p>
          <a:p>
            <a:r>
              <a:rPr lang="en-US" sz="2800" b="0" i="0" u="none" strike="noStrike" dirty="0">
                <a:solidFill>
                  <a:srgbClr val="000000"/>
                </a:solidFill>
                <a:effectLst/>
                <a:latin typeface="Aptos Narrow" panose="020B0004020202020204" pitchFamily="34" charset="0"/>
              </a:rPr>
              <a:t>mode:</a:t>
            </a:r>
            <a:r>
              <a:rPr lang="en-US" sz="4000" dirty="0"/>
              <a:t> </a:t>
            </a:r>
            <a:r>
              <a:rPr lang="en-US" sz="2800" b="0" i="0" u="none" strike="noStrike" dirty="0">
                <a:solidFill>
                  <a:srgbClr val="000000"/>
                </a:solidFill>
                <a:effectLst/>
                <a:latin typeface="Aptos Narrow" panose="020B0004020202020204" pitchFamily="34" charset="0"/>
              </a:rPr>
              <a:t>2005.6154</a:t>
            </a:r>
            <a:r>
              <a:rPr lang="en-US" sz="4000" dirty="0"/>
              <a:t> </a:t>
            </a:r>
            <a:endParaRPr lang="en-US" sz="2800" dirty="0"/>
          </a:p>
          <a:p>
            <a:r>
              <a:rPr lang="en-US" sz="2800" dirty="0"/>
              <a:t>(b) mode and mean</a:t>
            </a:r>
          </a:p>
          <a:p>
            <a:r>
              <a:rPr lang="en-US" sz="2800" dirty="0"/>
              <a:t>(c) median and mode</a:t>
            </a:r>
          </a:p>
          <a:p>
            <a:endParaRPr lang="en-US" sz="2800" dirty="0"/>
          </a:p>
          <a:p>
            <a:pPr marL="228600" indent="-228600">
              <a:buAutoNum type="alphaLcParenBoth"/>
            </a:pPr>
            <a:r>
              <a:rPr lang="en-US" dirty="0"/>
              <a:t>Mean </a:t>
            </a:r>
            <a:r>
              <a:rPr lang="en-US" b="0" i="0" u="none" strike="noStrike" dirty="0">
                <a:solidFill>
                  <a:srgbClr val="404040"/>
                </a:solidFill>
                <a:effectLst/>
                <a:latin typeface="KaTeX_Main"/>
              </a:rPr>
              <a:t>= (4+5+4+2+10+5+3+5​)/8 = 38/8​ </a:t>
            </a:r>
            <a:r>
              <a:rPr lang="en-US" dirty="0"/>
              <a:t>= 4.75, </a:t>
            </a:r>
            <a:br>
              <a:rPr lang="en-US" dirty="0"/>
            </a:br>
            <a:r>
              <a:rPr lang="en-US" b="0" i="0" u="none" strike="noStrike" dirty="0">
                <a:solidFill>
                  <a:srgbClr val="404040"/>
                </a:solidFill>
                <a:effectLst/>
                <a:latin typeface="KaTeX_Main"/>
              </a:rPr>
              <a:t>2,3,4,4,5,5,5,10</a:t>
            </a:r>
            <a:br>
              <a:rPr lang="en-US" b="0" i="0" u="none" strike="noStrike" dirty="0">
                <a:solidFill>
                  <a:srgbClr val="404040"/>
                </a:solidFill>
                <a:effectLst/>
                <a:latin typeface="KaTeX_Main"/>
              </a:rPr>
            </a:br>
            <a:r>
              <a:rPr lang="en-US" dirty="0"/>
              <a:t>Median = (4+5)/2 = 4.5, </a:t>
            </a:r>
            <a:br>
              <a:rPr lang="en-US" dirty="0"/>
            </a:br>
            <a:r>
              <a:rPr lang="en-US" dirty="0"/>
              <a:t>Mode = 5</a:t>
            </a:r>
          </a:p>
          <a:p>
            <a:r>
              <a:rPr lang="en-US" dirty="0"/>
              <a:t>(b) Mean or Maximum (10) to argue for improvements.</a:t>
            </a:r>
          </a:p>
          <a:p>
            <a:r>
              <a:rPr lang="en-US" dirty="0"/>
              <a:t>(c) Median or Mode to argue against spending.</a:t>
            </a:r>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27</a:t>
            </a:fld>
            <a:endParaRPr lang="en-US" altLang="en-US"/>
          </a:p>
        </p:txBody>
      </p:sp>
    </p:spTree>
    <p:extLst>
      <p:ext uri="{BB962C8B-B14F-4D97-AF65-F5344CB8AC3E}">
        <p14:creationId xmlns:p14="http://schemas.microsoft.com/office/powerpoint/2010/main" val="3494398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b="1" i="0" u="none" strike="noStrike" dirty="0">
                <a:solidFill>
                  <a:srgbClr val="404040"/>
                </a:solidFill>
                <a:effectLst/>
                <a:latin typeface="DeepSeek-CJK-patch"/>
              </a:rPr>
              <a:t>Total number of carrots (N):</a:t>
            </a:r>
            <a:br>
              <a:rPr lang="en-US" dirty="0"/>
            </a:br>
            <a:r>
              <a:rPr lang="en-US" b="0" i="0" u="none" strike="noStrike" dirty="0">
                <a:solidFill>
                  <a:srgbClr val="404040"/>
                </a:solidFill>
                <a:effectLst/>
                <a:latin typeface="KaTeX_Main"/>
              </a:rPr>
              <a:t>5+2+6+8+9+11+6+3=505+2+6+8+9+11+6+3=50</a:t>
            </a:r>
          </a:p>
          <a:p>
            <a:endParaRPr lang="en-US" dirty="0"/>
          </a:p>
          <a:p>
            <a:r>
              <a:rPr lang="en-US" b="0" i="0" u="none" strike="noStrike" dirty="0">
                <a:solidFill>
                  <a:srgbClr val="404040"/>
                </a:solidFill>
                <a:effectLst/>
                <a:latin typeface="KaTeX_Main"/>
              </a:rPr>
              <a:t>Mean=8,530/50​=170.6 mm</a:t>
            </a:r>
          </a:p>
          <a:p>
            <a:endParaRPr lang="en-US" b="0" i="0" u="none" strike="noStrike" dirty="0">
              <a:solidFill>
                <a:srgbClr val="404040"/>
              </a:solidFill>
              <a:effectLst/>
              <a:latin typeface="KaTeX_Main"/>
            </a:endParaRPr>
          </a:p>
          <a:p>
            <a:r>
              <a:rPr lang="en-US" b="0" i="0" u="none" strike="noStrike" dirty="0">
                <a:solidFill>
                  <a:srgbClr val="404040"/>
                </a:solidFill>
                <a:effectLst/>
                <a:latin typeface="DeepSeek-CJK-patch"/>
              </a:rPr>
              <a:t>median class: </a:t>
            </a:r>
            <a:r>
              <a:rPr lang="en-US" b="1" i="0" u="none" strike="noStrike" dirty="0">
                <a:solidFill>
                  <a:srgbClr val="404040"/>
                </a:solidFill>
                <a:effectLst/>
                <a:latin typeface="DeepSeek-CJK-patch"/>
              </a:rPr>
              <a:t>169.5 – 174.5</a:t>
            </a:r>
            <a:r>
              <a:rPr lang="en-US" b="0" i="0" u="none" strike="noStrike" dirty="0">
                <a:solidFill>
                  <a:srgbClr val="404040"/>
                </a:solidFill>
                <a:effectLst/>
                <a:latin typeface="DeepSeek-CJK-patch"/>
              </a:rPr>
              <a:t> </a:t>
            </a:r>
            <a:endParaRPr lang="en-US" b="0" i="0" u="none" strike="noStrike" dirty="0">
              <a:solidFill>
                <a:srgbClr val="404040"/>
              </a:solidFill>
              <a:effectLst/>
              <a:latin typeface="KaTeX_Main"/>
            </a:endParaRPr>
          </a:p>
          <a:p>
            <a:pPr marL="171450" indent="-171450" algn="l">
              <a:spcBef>
                <a:spcPts val="300"/>
              </a:spcBef>
              <a:buFont typeface="Arial" panose="020B0604020202020204" pitchFamily="34" charset="0"/>
              <a:buChar char="•"/>
            </a:pPr>
            <a:r>
              <a:rPr lang="en-US" b="0" i="1" u="none" strike="noStrike" dirty="0">
                <a:solidFill>
                  <a:srgbClr val="404040"/>
                </a:solidFill>
                <a:effectLst/>
                <a:latin typeface="KaTeX_Math"/>
              </a:rPr>
              <a:t>L</a:t>
            </a:r>
            <a:r>
              <a:rPr lang="en-US" b="0" i="0" u="none" strike="noStrike" dirty="0">
                <a:solidFill>
                  <a:srgbClr val="404040"/>
                </a:solidFill>
                <a:effectLst/>
                <a:latin typeface="KaTeX_Main"/>
              </a:rPr>
              <a:t>=169.5</a:t>
            </a:r>
            <a:endParaRPr lang="en-US" b="0" i="0" u="none" strike="noStrike" dirty="0">
              <a:solidFill>
                <a:srgbClr val="404040"/>
              </a:solidFill>
              <a:effectLst/>
              <a:latin typeface="DeepSeek-CJK-patch"/>
            </a:endParaRPr>
          </a:p>
          <a:p>
            <a:pPr marL="171450" indent="-171450" algn="l">
              <a:spcBef>
                <a:spcPts val="300"/>
              </a:spcBef>
              <a:buFont typeface="Arial" panose="020B0604020202020204" pitchFamily="34" charset="0"/>
              <a:buChar char="•"/>
            </a:pPr>
            <a:r>
              <a:rPr lang="en-US" b="0" i="0" u="none" strike="noStrike" dirty="0">
                <a:solidFill>
                  <a:srgbClr val="404040"/>
                </a:solidFill>
                <a:effectLst/>
                <a:latin typeface="KaTeX_Main"/>
              </a:rPr>
              <a:t>F=5+2+6+8=21</a:t>
            </a:r>
            <a:endParaRPr lang="en-US" b="0" i="0" u="none" strike="noStrike" dirty="0">
              <a:solidFill>
                <a:srgbClr val="404040"/>
              </a:solidFill>
              <a:effectLst/>
              <a:latin typeface="DeepSeek-CJK-patch"/>
            </a:endParaRPr>
          </a:p>
          <a:p>
            <a:pPr marL="171450" indent="-171450" algn="l">
              <a:spcBef>
                <a:spcPts val="300"/>
              </a:spcBef>
              <a:buFont typeface="Arial" panose="020B0604020202020204" pitchFamily="34" charset="0"/>
              <a:buChar char="•"/>
            </a:pPr>
            <a:r>
              <a:rPr lang="en-US" b="0" i="0" u="none" strike="noStrike" dirty="0" err="1">
                <a:solidFill>
                  <a:srgbClr val="404040"/>
                </a:solidFill>
                <a:effectLst/>
                <a:latin typeface="KaTeX_Main"/>
              </a:rPr>
              <a:t>fmed</a:t>
            </a:r>
            <a:r>
              <a:rPr lang="en-US" b="0" i="0" u="none" strike="noStrike" dirty="0">
                <a:solidFill>
                  <a:srgbClr val="404040"/>
                </a:solidFill>
                <a:effectLst/>
                <a:latin typeface="KaTeX_Main"/>
              </a:rPr>
              <a:t>=9</a:t>
            </a:r>
            <a:endParaRPr lang="en-US" b="0" i="0" u="none" strike="noStrike" dirty="0">
              <a:solidFill>
                <a:srgbClr val="404040"/>
              </a:solidFill>
              <a:effectLst/>
              <a:latin typeface="DeepSeek-CJK-patch"/>
            </a:endParaRPr>
          </a:p>
          <a:p>
            <a:pPr marL="171450" indent="-171450" algn="l">
              <a:spcBef>
                <a:spcPts val="300"/>
              </a:spcBef>
              <a:buFont typeface="Arial" panose="020B0604020202020204" pitchFamily="34" charset="0"/>
              <a:buChar char="•"/>
            </a:pPr>
            <a:r>
              <a:rPr lang="en-US" b="0" i="0" u="none" strike="noStrike" dirty="0">
                <a:solidFill>
                  <a:srgbClr val="404040"/>
                </a:solidFill>
                <a:effectLst/>
                <a:latin typeface="KaTeX_Main"/>
              </a:rPr>
              <a:t>w=5</a:t>
            </a:r>
          </a:p>
          <a:p>
            <a:pPr algn="l">
              <a:spcBef>
                <a:spcPts val="300"/>
              </a:spcBef>
              <a:buFont typeface="Arial" panose="020B0604020202020204" pitchFamily="34" charset="0"/>
              <a:buNone/>
            </a:pPr>
            <a:r>
              <a:rPr lang="en-US" b="0" i="0" u="none" strike="noStrike" dirty="0">
                <a:solidFill>
                  <a:srgbClr val="404040"/>
                </a:solidFill>
                <a:effectLst/>
                <a:latin typeface="KaTeX_Main"/>
              </a:rPr>
              <a:t>Median=169.5+</a:t>
            </a:r>
            <a:r>
              <a:rPr lang="en-US" b="0" i="0" u="none" strike="noStrike" dirty="0">
                <a:solidFill>
                  <a:srgbClr val="404040"/>
                </a:solidFill>
                <a:effectLst/>
                <a:latin typeface="KaTeX_Size3"/>
              </a:rPr>
              <a:t>(</a:t>
            </a:r>
            <a:r>
              <a:rPr lang="en-US" b="0" i="0" u="none" strike="noStrike" dirty="0">
                <a:solidFill>
                  <a:srgbClr val="404040"/>
                </a:solidFill>
                <a:effectLst/>
                <a:latin typeface="KaTeX_Main"/>
              </a:rPr>
              <a:t>25−21​</a:t>
            </a:r>
            <a:r>
              <a:rPr lang="en-US" b="0" i="0" u="none" strike="noStrike" dirty="0">
                <a:solidFill>
                  <a:srgbClr val="404040"/>
                </a:solidFill>
                <a:effectLst/>
                <a:latin typeface="KaTeX_Size3"/>
              </a:rPr>
              <a:t>)/9</a:t>
            </a:r>
            <a:r>
              <a:rPr lang="en-US" b="0" i="0" u="none" strike="noStrike" dirty="0">
                <a:solidFill>
                  <a:srgbClr val="404040"/>
                </a:solidFill>
                <a:effectLst/>
                <a:latin typeface="KaTeX_Main"/>
              </a:rPr>
              <a:t>×5=169.5+2.22=171.72 mm</a:t>
            </a:r>
          </a:p>
          <a:p>
            <a:pPr algn="l">
              <a:spcBef>
                <a:spcPts val="300"/>
              </a:spcBef>
              <a:buFont typeface="Arial" panose="020B0604020202020204" pitchFamily="34" charset="0"/>
              <a:buNone/>
            </a:pPr>
            <a:endParaRPr lang="en-US" b="0" i="0" u="none" strike="noStrike" dirty="0">
              <a:solidFill>
                <a:srgbClr val="404040"/>
              </a:solidFill>
              <a:effectLst/>
              <a:latin typeface="KaTeX_Main"/>
            </a:endParaRPr>
          </a:p>
          <a:p>
            <a:pPr algn="l">
              <a:buFont typeface="+mj-lt"/>
              <a:buNone/>
            </a:pPr>
            <a:r>
              <a:rPr lang="en-US" b="1" i="0" u="none" strike="noStrike" dirty="0">
                <a:solidFill>
                  <a:srgbClr val="404040"/>
                </a:solidFill>
                <a:effectLst/>
                <a:latin typeface="DeepSeek-CJK-patch"/>
              </a:rPr>
              <a:t>Modal class</a:t>
            </a:r>
            <a:r>
              <a:rPr lang="en-US" b="0" i="0" u="none" strike="noStrike" dirty="0">
                <a:solidFill>
                  <a:srgbClr val="404040"/>
                </a:solidFill>
                <a:effectLst/>
                <a:latin typeface="DeepSeek-CJK-patch"/>
              </a:rPr>
              <a:t>: Highest frequency = </a:t>
            </a:r>
            <a:r>
              <a:rPr lang="en-US" b="1" i="0" u="none" strike="noStrike" dirty="0">
                <a:solidFill>
                  <a:srgbClr val="404040"/>
                </a:solidFill>
                <a:effectLst/>
                <a:latin typeface="DeepSeek-CJK-patch"/>
              </a:rPr>
              <a:t>174.5 – 179.5</a:t>
            </a:r>
            <a:r>
              <a:rPr lang="en-US" b="0" i="0" u="none" strike="noStrike" dirty="0">
                <a:solidFill>
                  <a:srgbClr val="404040"/>
                </a:solidFill>
                <a:effectLst/>
                <a:latin typeface="DeepSeek-CJK-patch"/>
              </a:rPr>
              <a:t>.</a:t>
            </a:r>
          </a:p>
          <a:p>
            <a:pPr marL="285750" lvl="0" indent="-285750" algn="l">
              <a:spcBef>
                <a:spcPts val="300"/>
              </a:spcBef>
              <a:buFont typeface="Arial" panose="020B0604020202020204" pitchFamily="34" charset="0"/>
              <a:buChar char="•"/>
            </a:pPr>
            <a:r>
              <a:rPr lang="en-US" b="0" i="0" u="none" strike="noStrike" dirty="0">
                <a:solidFill>
                  <a:srgbClr val="404040"/>
                </a:solidFill>
                <a:effectLst/>
                <a:latin typeface="KaTeX_Main"/>
              </a:rPr>
              <a:t>L=174.5</a:t>
            </a:r>
            <a:endParaRPr lang="en-US" b="0" i="0" u="none" strike="noStrike" dirty="0">
              <a:solidFill>
                <a:srgbClr val="404040"/>
              </a:solidFill>
              <a:effectLst/>
              <a:latin typeface="DeepSeek-CJK-patch"/>
            </a:endParaRPr>
          </a:p>
          <a:p>
            <a:pPr marL="285750" lvl="0" indent="-285750" algn="l">
              <a:spcBef>
                <a:spcPts val="300"/>
              </a:spcBef>
              <a:buFont typeface="Arial" panose="020B0604020202020204" pitchFamily="34" charset="0"/>
              <a:buChar char="•"/>
            </a:pPr>
            <a:r>
              <a:rPr lang="en-US" b="0" i="1" u="none" strike="noStrike" dirty="0">
                <a:solidFill>
                  <a:srgbClr val="404040"/>
                </a:solidFill>
                <a:effectLst/>
                <a:latin typeface="KaTeX_Math"/>
              </a:rPr>
              <a:t>f</a:t>
            </a:r>
            <a:r>
              <a:rPr lang="en-US" b="0" i="0" u="none" strike="noStrike" dirty="0">
                <a:solidFill>
                  <a:srgbClr val="404040"/>
                </a:solidFill>
                <a:effectLst/>
                <a:latin typeface="KaTeX_Main"/>
              </a:rPr>
              <a:t>0​=9</a:t>
            </a:r>
            <a:r>
              <a:rPr lang="en-US" b="0" i="0" u="none" strike="noStrike" dirty="0">
                <a:solidFill>
                  <a:srgbClr val="404040"/>
                </a:solidFill>
                <a:effectLst/>
                <a:latin typeface="DeepSeek-CJK-patch"/>
              </a:rPr>
              <a:t> (169.5 – 174.5)</a:t>
            </a:r>
          </a:p>
          <a:p>
            <a:pPr marL="285750" lvl="0" indent="-285750" algn="l">
              <a:spcBef>
                <a:spcPts val="300"/>
              </a:spcBef>
              <a:buFont typeface="Arial" panose="020B0604020202020204" pitchFamily="34" charset="0"/>
              <a:buChar char="•"/>
            </a:pPr>
            <a:r>
              <a:rPr lang="en-US" b="0" i="1" u="none" strike="noStrike" dirty="0">
                <a:solidFill>
                  <a:srgbClr val="404040"/>
                </a:solidFill>
                <a:effectLst/>
                <a:latin typeface="KaTeX_Math"/>
              </a:rPr>
              <a:t>f</a:t>
            </a:r>
            <a:r>
              <a:rPr lang="en-US" b="0" i="0" u="none" strike="noStrike" dirty="0">
                <a:solidFill>
                  <a:srgbClr val="404040"/>
                </a:solidFill>
                <a:effectLst/>
                <a:latin typeface="KaTeX_Main"/>
              </a:rPr>
              <a:t>2​=6</a:t>
            </a:r>
            <a:r>
              <a:rPr lang="en-US" b="0" i="0" u="none" strike="noStrike" dirty="0">
                <a:solidFill>
                  <a:srgbClr val="404040"/>
                </a:solidFill>
                <a:effectLst/>
                <a:latin typeface="DeepSeek-CJK-patch"/>
              </a:rPr>
              <a:t> (179.5 – 184.5)</a:t>
            </a:r>
          </a:p>
          <a:p>
            <a:pPr marL="285750" lvl="0" indent="-285750" algn="l">
              <a:spcBef>
                <a:spcPts val="300"/>
              </a:spcBef>
              <a:buFont typeface="Arial" panose="020B0604020202020204" pitchFamily="34" charset="0"/>
              <a:buChar char="•"/>
            </a:pPr>
            <a:r>
              <a:rPr lang="en-US" b="0" i="1" u="none" strike="noStrike" dirty="0">
                <a:solidFill>
                  <a:srgbClr val="404040"/>
                </a:solidFill>
                <a:effectLst/>
                <a:latin typeface="KaTeX_Math"/>
              </a:rPr>
              <a:t>w</a:t>
            </a:r>
            <a:r>
              <a:rPr lang="en-US" b="0" i="0" u="none" strike="noStrike" dirty="0">
                <a:solidFill>
                  <a:srgbClr val="404040"/>
                </a:solidFill>
                <a:effectLst/>
                <a:latin typeface="KaTeX_Main"/>
              </a:rPr>
              <a:t>=5</a:t>
            </a:r>
            <a:endParaRPr lang="en-US" b="0" i="0" u="none" strike="noStrike" dirty="0">
              <a:solidFill>
                <a:srgbClr val="404040"/>
              </a:solidFill>
              <a:effectLst/>
              <a:latin typeface="DeepSeek-CJK-patch"/>
            </a:endParaRPr>
          </a:p>
          <a:p>
            <a:pPr>
              <a:buNone/>
            </a:pPr>
            <a:r>
              <a:rPr lang="en-US" b="0" i="0" u="none" strike="noStrike" dirty="0">
                <a:solidFill>
                  <a:srgbClr val="404040"/>
                </a:solidFill>
                <a:effectLst/>
                <a:latin typeface="KaTeX_Main"/>
              </a:rPr>
              <a:t>Mode=174.5+((11−9)/(22−9−6))×5=174.5+((2/7)×5)=174.5+1.43=175.93 mm</a:t>
            </a:r>
            <a:br>
              <a:rPr lang="en-US" dirty="0"/>
            </a:br>
            <a:endParaRPr lang="en-US" b="0" i="0" u="none" strike="noStrike" dirty="0">
              <a:solidFill>
                <a:srgbClr val="404040"/>
              </a:solidFill>
              <a:effectLst/>
              <a:latin typeface="KaTeX_Main"/>
            </a:endParaRPr>
          </a:p>
          <a:p>
            <a:pPr algn="l">
              <a:spcBef>
                <a:spcPts val="300"/>
              </a:spcBef>
              <a:buFont typeface="Arial" panose="020B0604020202020204" pitchFamily="34" charset="0"/>
              <a:buNone/>
            </a:pPr>
            <a:endParaRPr lang="en-US" b="0" i="0" u="none" strike="noStrike" dirty="0">
              <a:solidFill>
                <a:srgbClr val="404040"/>
              </a:solidFill>
              <a:effectLst/>
              <a:latin typeface="DeepSeek-CJK-patch"/>
            </a:endParaRPr>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28</a:t>
            </a:fld>
            <a:endParaRPr lang="en-US" altLang="en-US"/>
          </a:p>
        </p:txBody>
      </p:sp>
    </p:spTree>
    <p:extLst>
      <p:ext uri="{BB962C8B-B14F-4D97-AF65-F5344CB8AC3E}">
        <p14:creationId xmlns:p14="http://schemas.microsoft.com/office/powerpoint/2010/main" val="3466552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pPr marL="228600" indent="-228600">
              <a:buAutoNum type="alphaLcParenBoth"/>
            </a:pPr>
            <a:r>
              <a:rPr lang="en-US" dirty="0"/>
              <a:t>(</a:t>
            </a:r>
            <a:r>
              <a:rPr lang="en-US" dirty="0" err="1"/>
              <a:t>i</a:t>
            </a:r>
            <a:r>
              <a:rPr lang="en-US" dirty="0"/>
              <a:t>) 44.44 (ii) 11.11</a:t>
            </a:r>
          </a:p>
          <a:p>
            <a:pPr marL="228600" indent="-228600">
              <a:buAutoNum type="alphaLcParenBoth"/>
            </a:pPr>
            <a:r>
              <a:rPr lang="en-US" dirty="0"/>
              <a:t>(</a:t>
            </a:r>
            <a:r>
              <a:rPr lang="en-US" dirty="0" err="1"/>
              <a:t>i</a:t>
            </a:r>
            <a:r>
              <a:rPr lang="en-US" dirty="0"/>
              <a:t>) 0.8161 (ii) 0.8161 (iii) 0.8110 (iv) 0.8079</a:t>
            </a:r>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42</a:t>
            </a:fld>
            <a:endParaRPr lang="en-US" altLang="en-US"/>
          </a:p>
        </p:txBody>
      </p:sp>
    </p:spTree>
    <p:extLst>
      <p:ext uri="{BB962C8B-B14F-4D97-AF65-F5344CB8AC3E}">
        <p14:creationId xmlns:p14="http://schemas.microsoft.com/office/powerpoint/2010/main" val="2669726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pPr algn="l">
              <a:buNone/>
            </a:pPr>
            <a:r>
              <a:rPr lang="en-US" b="1" i="0" u="none" strike="noStrike" dirty="0">
                <a:solidFill>
                  <a:srgbClr val="404040"/>
                </a:solidFill>
                <a:effectLst/>
                <a:latin typeface="DeepSeek-CJK-patch"/>
              </a:rPr>
              <a:t>When to Use Them Together</a:t>
            </a:r>
          </a:p>
          <a:p>
            <a:pPr algn="l">
              <a:spcAft>
                <a:spcPts val="300"/>
              </a:spcAft>
              <a:buFont typeface="+mj-lt"/>
              <a:buAutoNum type="arabicPeriod"/>
            </a:pPr>
            <a:r>
              <a:rPr lang="en-US" b="1" i="0" u="none" strike="noStrike" dirty="0">
                <a:solidFill>
                  <a:srgbClr val="404040"/>
                </a:solidFill>
                <a:effectLst/>
                <a:latin typeface="DeepSeek-CJK-patch"/>
              </a:rPr>
              <a:t>Data Exploration</a:t>
            </a:r>
            <a:r>
              <a:rPr lang="en-US" b="0" i="0" u="none" strike="noStrike" dirty="0">
                <a:solidFill>
                  <a:srgbClr val="404040"/>
                </a:solidFill>
                <a:effectLst/>
                <a:latin typeface="DeepSeek-CJK-patch"/>
              </a:rPr>
              <a:t>:</a:t>
            </a:r>
          </a:p>
          <a:p>
            <a:pPr marL="742950" lvl="1" indent="-285750" algn="l">
              <a:spcBef>
                <a:spcPts val="300"/>
              </a:spcBef>
              <a:buFont typeface="+mj-lt"/>
              <a:buAutoNum type="arabicPeriod"/>
            </a:pPr>
            <a:r>
              <a:rPr lang="en-US" b="0" i="0" u="none" strike="noStrike" dirty="0">
                <a:solidFill>
                  <a:srgbClr val="404040"/>
                </a:solidFill>
                <a:effectLst/>
                <a:latin typeface="DeepSeek-CJK-patch"/>
              </a:rPr>
              <a:t>Skewness + kurtosis reveal if data is normal (bell-curved).</a:t>
            </a:r>
          </a:p>
          <a:p>
            <a:pPr marL="742950" lvl="1" indent="-285750" algn="l">
              <a:spcBef>
                <a:spcPts val="300"/>
              </a:spcBef>
              <a:buFont typeface="+mj-lt"/>
              <a:buAutoNum type="arabicPeriod"/>
            </a:pPr>
            <a:r>
              <a:rPr lang="en-US" b="0" i="0" u="none" strike="noStrike" dirty="0">
                <a:solidFill>
                  <a:srgbClr val="404040"/>
                </a:solidFill>
                <a:effectLst/>
                <a:latin typeface="DeepSeek-CJK-patch"/>
              </a:rPr>
              <a:t>Example: If skewness ≈ 0 and kurtosis ≈ 3, data is likely normal.</a:t>
            </a:r>
          </a:p>
          <a:p>
            <a:pPr algn="l">
              <a:spcBef>
                <a:spcPts val="300"/>
              </a:spcBef>
              <a:spcAft>
                <a:spcPts val="300"/>
              </a:spcAft>
              <a:buFont typeface="+mj-lt"/>
              <a:buAutoNum type="arabicPeriod"/>
            </a:pPr>
            <a:r>
              <a:rPr lang="en-US" b="1" i="0" u="none" strike="noStrike" dirty="0">
                <a:solidFill>
                  <a:srgbClr val="404040"/>
                </a:solidFill>
                <a:effectLst/>
                <a:latin typeface="DeepSeek-CJK-patch"/>
              </a:rPr>
              <a:t>Statistical Testing</a:t>
            </a:r>
            <a:r>
              <a:rPr lang="en-US" b="0" i="0" u="none" strike="noStrike" dirty="0">
                <a:solidFill>
                  <a:srgbClr val="404040"/>
                </a:solidFill>
                <a:effectLst/>
                <a:latin typeface="DeepSeek-CJK-patch"/>
              </a:rPr>
              <a:t>: Many tests (e.g., ANOVA) assume normality. Skewness/kurtosis help validate this.</a:t>
            </a:r>
          </a:p>
          <a:p>
            <a:pPr algn="l">
              <a:spcBef>
                <a:spcPts val="300"/>
              </a:spcBef>
              <a:spcAft>
                <a:spcPts val="300"/>
              </a:spcAft>
              <a:buFont typeface="+mj-lt"/>
              <a:buAutoNum type="arabicPeriod"/>
            </a:pPr>
            <a:r>
              <a:rPr lang="en-US" b="1" i="0" u="none" strike="noStrike" dirty="0">
                <a:solidFill>
                  <a:srgbClr val="404040"/>
                </a:solidFill>
                <a:effectLst/>
                <a:latin typeface="DeepSeek-CJK-patch"/>
              </a:rPr>
              <a:t>Algorithm Selection</a:t>
            </a:r>
            <a:r>
              <a:rPr lang="en-US" b="0" i="0" u="none" strike="noStrike" dirty="0">
                <a:solidFill>
                  <a:srgbClr val="404040"/>
                </a:solidFill>
                <a:effectLst/>
                <a:latin typeface="DeepSeek-CJK-patch"/>
              </a:rPr>
              <a:t>: Decision trees handle skewed data well; neural networks may need normalized data.</a:t>
            </a:r>
          </a:p>
          <a:p>
            <a:endParaRPr lang="en-US" dirty="0"/>
          </a:p>
          <a:p>
            <a:endParaRPr lang="en-US" dirty="0"/>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50</a:t>
            </a:fld>
            <a:endParaRPr lang="en-US" altLang="en-US"/>
          </a:p>
        </p:txBody>
      </p:sp>
    </p:spTree>
    <p:extLst>
      <p:ext uri="{BB962C8B-B14F-4D97-AF65-F5344CB8AC3E}">
        <p14:creationId xmlns:p14="http://schemas.microsoft.com/office/powerpoint/2010/main" val="2520853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2F505-B727-475D-9644-5EE3D3C7F59E}" type="slidenum">
              <a:rPr lang="en-US" altLang="en-US" smtClean="0"/>
              <a:pPr/>
              <a:t>51</a:t>
            </a:fld>
            <a:endParaRPr lang="en-US" altLang="en-US"/>
          </a:p>
        </p:txBody>
      </p:sp>
    </p:spTree>
    <p:extLst>
      <p:ext uri="{BB962C8B-B14F-4D97-AF65-F5344CB8AC3E}">
        <p14:creationId xmlns:p14="http://schemas.microsoft.com/office/powerpoint/2010/main" val="293592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F2BFE-EFF3-65A3-C4D8-0F0290B1A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1F4E8-7615-C2C1-6F3C-73A38699DE16}"/>
              </a:ext>
            </a:extLst>
          </p:cNvPr>
          <p:cNvSpPr>
            <a:spLocks noGrp="1" noRot="1" noChangeAspect="1"/>
          </p:cNvSpPr>
          <p:nvPr>
            <p:ph type="sldImg"/>
          </p:nvPr>
        </p:nvSpPr>
        <p:spPr>
          <a:xfrm>
            <a:off x="2286000" y="514350"/>
            <a:ext cx="4572000" cy="2571750"/>
          </a:xfrm>
        </p:spPr>
      </p:sp>
      <p:sp>
        <p:nvSpPr>
          <p:cNvPr id="3" name="Notes Placeholder 2">
            <a:extLst>
              <a:ext uri="{FF2B5EF4-FFF2-40B4-BE49-F238E27FC236}">
                <a16:creationId xmlns:a16="http://schemas.microsoft.com/office/drawing/2014/main" id="{D026166E-7DF7-7D39-A4D4-2ACBEA24B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657F5-17E2-BCDE-E767-C38170C28228}"/>
              </a:ext>
            </a:extLst>
          </p:cNvPr>
          <p:cNvSpPr>
            <a:spLocks noGrp="1"/>
          </p:cNvSpPr>
          <p:nvPr>
            <p:ph type="sldNum" sz="quarter" idx="5"/>
          </p:nvPr>
        </p:nvSpPr>
        <p:spPr/>
        <p:txBody>
          <a:bodyPr/>
          <a:lstStyle/>
          <a:p>
            <a:fld id="{8692F505-B727-475D-9644-5EE3D3C7F59E}" type="slidenum">
              <a:rPr lang="en-US" altLang="en-US" smtClean="0"/>
              <a:pPr/>
              <a:t>52</a:t>
            </a:fld>
            <a:endParaRPr lang="en-US" altLang="en-US"/>
          </a:p>
        </p:txBody>
      </p:sp>
    </p:spTree>
    <p:extLst>
      <p:ext uri="{BB962C8B-B14F-4D97-AF65-F5344CB8AC3E}">
        <p14:creationId xmlns:p14="http://schemas.microsoft.com/office/powerpoint/2010/main" val="3923692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Date Placeholder 3"/>
          <p:cNvSpPr>
            <a:spLocks noGrp="1"/>
          </p:cNvSpPr>
          <p:nvPr>
            <p:ph type="dt" sz="half" idx="10"/>
          </p:nvPr>
        </p:nvSpPr>
        <p:spPr/>
        <p:txBody>
          <a:bodyPr/>
          <a:lstStyle>
            <a:lvl1pPr>
              <a:defRPr/>
            </a:lvl1pPr>
          </a:lstStyle>
          <a:p>
            <a:fld id="{2BF941C7-419A-4D51-BB46-C11F8FD87A85}" type="datetime1">
              <a:rPr lang="en-MY" altLang="x-none" smtClean="0"/>
              <a:pPr/>
              <a:t>26/3/2026</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39545FCB-18C1-B443-9C02-7CAC713BF7A0}" type="slidenum">
              <a:rPr lang="en-US" altLang="x-none"/>
              <a:pPr/>
              <a:t>‹#›</a:t>
            </a:fld>
            <a:endParaRPr lang="en-US" altLang="x-none"/>
          </a:p>
        </p:txBody>
      </p:sp>
    </p:spTree>
    <p:extLst>
      <p:ext uri="{BB962C8B-B14F-4D97-AF65-F5344CB8AC3E}">
        <p14:creationId xmlns:p14="http://schemas.microsoft.com/office/powerpoint/2010/main" val="150904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A4B19C02-129A-480F-BDB7-C1903C65C612}" type="datetime1">
              <a:rPr lang="en-MY" altLang="x-none" smtClean="0"/>
              <a:pPr/>
              <a:t>26/3/2026</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E84E0A14-FAA9-F840-8F6E-CF85F7234053}" type="slidenum">
              <a:rPr lang="en-US" altLang="x-none"/>
              <a:pPr/>
              <a:t>‹#›</a:t>
            </a:fld>
            <a:endParaRPr lang="en-US" altLang="x-none"/>
          </a:p>
        </p:txBody>
      </p:sp>
      <p:grpSp>
        <p:nvGrpSpPr>
          <p:cNvPr id="7" name="Google Shape;263;p1">
            <a:extLst>
              <a:ext uri="{FF2B5EF4-FFF2-40B4-BE49-F238E27FC236}">
                <a16:creationId xmlns:a16="http://schemas.microsoft.com/office/drawing/2014/main" id="{E0B42B48-1C55-8C6C-5E15-CA0B3B2A07DC}"/>
              </a:ext>
            </a:extLst>
          </p:cNvPr>
          <p:cNvGrpSpPr/>
          <p:nvPr userDrawn="1"/>
        </p:nvGrpSpPr>
        <p:grpSpPr>
          <a:xfrm>
            <a:off x="11728422" y="0"/>
            <a:ext cx="158778" cy="6858000"/>
            <a:chOff x="0" y="-47625"/>
            <a:chExt cx="72806" cy="2756958"/>
          </a:xfrm>
        </p:grpSpPr>
        <p:sp>
          <p:nvSpPr>
            <p:cNvPr id="8" name="Google Shape;264;p1">
              <a:extLst>
                <a:ext uri="{FF2B5EF4-FFF2-40B4-BE49-F238E27FC236}">
                  <a16:creationId xmlns:a16="http://schemas.microsoft.com/office/drawing/2014/main" id="{579DA63E-0A15-4C1B-F663-2AD07DD070A2}"/>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9" name="Google Shape;265;p1">
              <a:extLst>
                <a:ext uri="{FF2B5EF4-FFF2-40B4-BE49-F238E27FC236}">
                  <a16:creationId xmlns:a16="http://schemas.microsoft.com/office/drawing/2014/main" id="{DE1DEFAF-E89F-9F66-0BB1-2BF17138FE9A}"/>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0" name="Google Shape;268;p1">
            <a:extLst>
              <a:ext uri="{FF2B5EF4-FFF2-40B4-BE49-F238E27FC236}">
                <a16:creationId xmlns:a16="http://schemas.microsoft.com/office/drawing/2014/main" id="{98E043B4-31C0-8717-FC5F-09B47A253562}"/>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269;p1">
            <a:extLst>
              <a:ext uri="{FF2B5EF4-FFF2-40B4-BE49-F238E27FC236}">
                <a16:creationId xmlns:a16="http://schemas.microsoft.com/office/drawing/2014/main" id="{8EAF6F3B-C8D3-1977-51F6-204E70BF0338}"/>
              </a:ext>
            </a:extLst>
          </p:cNvPr>
          <p:cNvSpPr txBox="1"/>
          <p:nvPr userDrawn="1"/>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extLst>
      <p:ext uri="{BB962C8B-B14F-4D97-AF65-F5344CB8AC3E}">
        <p14:creationId xmlns:p14="http://schemas.microsoft.com/office/powerpoint/2010/main" val="685560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373EEF4E-6D6D-4BE1-BCAD-79E2CFAE14D0}" type="datetime1">
              <a:rPr lang="en-MY" altLang="x-none" smtClean="0"/>
              <a:pPr/>
              <a:t>26/3/2026</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705AA04D-6ECE-D247-B63F-F2BB1BE1D676}" type="slidenum">
              <a:rPr lang="en-US" altLang="x-none"/>
              <a:pPr/>
              <a:t>‹#›</a:t>
            </a:fld>
            <a:endParaRPr lang="en-US" altLang="x-none"/>
          </a:p>
        </p:txBody>
      </p:sp>
    </p:spTree>
    <p:extLst>
      <p:ext uri="{BB962C8B-B14F-4D97-AF65-F5344CB8AC3E}">
        <p14:creationId xmlns:p14="http://schemas.microsoft.com/office/powerpoint/2010/main" val="969271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3"/>
          <p:cNvSpPr>
            <a:spLocks noGrp="1"/>
          </p:cNvSpPr>
          <p:nvPr>
            <p:ph type="dt" sz="half" idx="10"/>
          </p:nvPr>
        </p:nvSpPr>
        <p:spPr/>
        <p:txBody>
          <a:bodyPr/>
          <a:lstStyle>
            <a:lvl1pPr>
              <a:defRPr/>
            </a:lvl1pPr>
          </a:lstStyle>
          <a:p>
            <a:fld id="{D7384131-524D-4A2C-90DD-DE42C9E7EE64}" type="datetime1">
              <a:rPr lang="en-MY" altLang="x-none" smtClean="0"/>
              <a:pPr/>
              <a:t>26/3/2026</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F51423E8-745E-5C43-95E2-07172DFD47E5}" type="slidenum">
              <a:rPr lang="en-US" altLang="x-none"/>
              <a:pPr/>
              <a:t>‹#›</a:t>
            </a:fld>
            <a:endParaRPr lang="en-US" altLang="x-none"/>
          </a:p>
        </p:txBody>
      </p:sp>
    </p:spTree>
    <p:extLst>
      <p:ext uri="{BB962C8B-B14F-4D97-AF65-F5344CB8AC3E}">
        <p14:creationId xmlns:p14="http://schemas.microsoft.com/office/powerpoint/2010/main" val="188586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3"/>
          <p:cNvSpPr>
            <a:spLocks noGrp="1"/>
          </p:cNvSpPr>
          <p:nvPr>
            <p:ph type="dt" sz="half" idx="10"/>
          </p:nvPr>
        </p:nvSpPr>
        <p:spPr/>
        <p:txBody>
          <a:bodyPr/>
          <a:lstStyle>
            <a:lvl1pPr>
              <a:defRPr/>
            </a:lvl1pPr>
          </a:lstStyle>
          <a:p>
            <a:fld id="{148B098A-7328-4CA1-8471-2313BAA3301C}" type="datetime1">
              <a:rPr lang="en-MY" altLang="x-none" smtClean="0"/>
              <a:pPr/>
              <a:t>26/3/2026</a:t>
            </a:fld>
            <a:endParaRPr lang="en-US" altLang="x-none"/>
          </a:p>
        </p:txBody>
      </p:sp>
      <p:sp>
        <p:nvSpPr>
          <p:cNvPr id="8" name="Footer Placeholder 4"/>
          <p:cNvSpPr>
            <a:spLocks noGrp="1"/>
          </p:cNvSpPr>
          <p:nvPr>
            <p:ph type="ftr" sz="quarter" idx="11"/>
          </p:nvPr>
        </p:nvSpPr>
        <p:spPr/>
        <p:txBody>
          <a:bodyPr/>
          <a:lstStyle>
            <a:lvl1pPr>
              <a:defRPr/>
            </a:lvl1pPr>
          </a:lstStyle>
          <a:p>
            <a:pPr>
              <a:defRPr/>
            </a:pPr>
            <a:endParaRPr lang="en-MY"/>
          </a:p>
        </p:txBody>
      </p:sp>
      <p:sp>
        <p:nvSpPr>
          <p:cNvPr id="9" name="Slide Number Placeholder 5"/>
          <p:cNvSpPr>
            <a:spLocks noGrp="1"/>
          </p:cNvSpPr>
          <p:nvPr>
            <p:ph type="sldNum" sz="quarter" idx="12"/>
          </p:nvPr>
        </p:nvSpPr>
        <p:spPr/>
        <p:txBody>
          <a:bodyPr/>
          <a:lstStyle>
            <a:lvl1pPr>
              <a:defRPr/>
            </a:lvl1pPr>
          </a:lstStyle>
          <a:p>
            <a:fld id="{54F5B1E2-5B9F-654E-B342-C90FFDBA8BE6}" type="slidenum">
              <a:rPr lang="en-US" altLang="x-none"/>
              <a:pPr/>
              <a:t>‹#›</a:t>
            </a:fld>
            <a:endParaRPr lang="en-US" altLang="x-none"/>
          </a:p>
        </p:txBody>
      </p:sp>
    </p:spTree>
    <p:extLst>
      <p:ext uri="{BB962C8B-B14F-4D97-AF65-F5344CB8AC3E}">
        <p14:creationId xmlns:p14="http://schemas.microsoft.com/office/powerpoint/2010/main" val="102105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p:txBody>
          <a:bodyPr/>
          <a:lstStyle>
            <a:lvl1pPr>
              <a:defRPr/>
            </a:lvl1pPr>
          </a:lstStyle>
          <a:p>
            <a:fld id="{9D4272CC-C410-4500-9030-5AEA8D0113F8}" type="datetime1">
              <a:rPr lang="en-MY" altLang="x-none" smtClean="0"/>
              <a:pPr/>
              <a:t>26/3/2026</a:t>
            </a:fld>
            <a:endParaRPr lang="en-US" altLang="x-none"/>
          </a:p>
        </p:txBody>
      </p:sp>
      <p:sp>
        <p:nvSpPr>
          <p:cNvPr id="4" name="Footer Placeholder 4"/>
          <p:cNvSpPr>
            <a:spLocks noGrp="1"/>
          </p:cNvSpPr>
          <p:nvPr>
            <p:ph type="ftr" sz="quarter" idx="11"/>
          </p:nvPr>
        </p:nvSpPr>
        <p:spPr/>
        <p:txBody>
          <a:bodyPr/>
          <a:lstStyle>
            <a:lvl1pPr>
              <a:defRPr/>
            </a:lvl1pPr>
          </a:lstStyle>
          <a:p>
            <a:pPr>
              <a:defRPr/>
            </a:pPr>
            <a:endParaRPr lang="en-MY"/>
          </a:p>
        </p:txBody>
      </p:sp>
      <p:sp>
        <p:nvSpPr>
          <p:cNvPr id="5" name="Slide Number Placeholder 5"/>
          <p:cNvSpPr>
            <a:spLocks noGrp="1"/>
          </p:cNvSpPr>
          <p:nvPr>
            <p:ph type="sldNum" sz="quarter" idx="12"/>
          </p:nvPr>
        </p:nvSpPr>
        <p:spPr/>
        <p:txBody>
          <a:bodyPr/>
          <a:lstStyle>
            <a:lvl1pPr>
              <a:defRPr/>
            </a:lvl1pPr>
          </a:lstStyle>
          <a:p>
            <a:fld id="{793AD801-36E7-D14C-8BBE-B9CEE8882E42}" type="slidenum">
              <a:rPr lang="en-US" altLang="x-none"/>
              <a:pPr/>
              <a:t>‹#›</a:t>
            </a:fld>
            <a:endParaRPr lang="en-US" altLang="x-none"/>
          </a:p>
        </p:txBody>
      </p:sp>
    </p:spTree>
    <p:extLst>
      <p:ext uri="{BB962C8B-B14F-4D97-AF65-F5344CB8AC3E}">
        <p14:creationId xmlns:p14="http://schemas.microsoft.com/office/powerpoint/2010/main" val="275275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8B57DC5-F8DF-4065-8776-D75B3E453C40}" type="datetime1">
              <a:rPr lang="en-MY" altLang="x-none" smtClean="0"/>
              <a:pPr/>
              <a:t>26/3/2026</a:t>
            </a:fld>
            <a:endParaRPr lang="en-US" altLang="x-none"/>
          </a:p>
        </p:txBody>
      </p:sp>
      <p:sp>
        <p:nvSpPr>
          <p:cNvPr id="3" name="Footer Placeholder 4"/>
          <p:cNvSpPr>
            <a:spLocks noGrp="1"/>
          </p:cNvSpPr>
          <p:nvPr>
            <p:ph type="ftr" sz="quarter" idx="11"/>
          </p:nvPr>
        </p:nvSpPr>
        <p:spPr/>
        <p:txBody>
          <a:bodyPr/>
          <a:lstStyle>
            <a:lvl1pPr>
              <a:defRPr/>
            </a:lvl1pPr>
          </a:lstStyle>
          <a:p>
            <a:pPr>
              <a:defRPr/>
            </a:pPr>
            <a:endParaRPr lang="en-MY"/>
          </a:p>
        </p:txBody>
      </p:sp>
      <p:sp>
        <p:nvSpPr>
          <p:cNvPr id="4" name="Slide Number Placeholder 5"/>
          <p:cNvSpPr>
            <a:spLocks noGrp="1"/>
          </p:cNvSpPr>
          <p:nvPr>
            <p:ph type="sldNum" sz="quarter" idx="12"/>
          </p:nvPr>
        </p:nvSpPr>
        <p:spPr/>
        <p:txBody>
          <a:bodyPr/>
          <a:lstStyle>
            <a:lvl1pPr>
              <a:defRPr/>
            </a:lvl1pPr>
          </a:lstStyle>
          <a:p>
            <a:fld id="{011F991B-2B43-5B49-AD06-1D3A91BFB6DA}" type="slidenum">
              <a:rPr lang="en-US" altLang="x-none"/>
              <a:pPr/>
              <a:t>‹#›</a:t>
            </a:fld>
            <a:endParaRPr lang="en-US" altLang="x-none"/>
          </a:p>
        </p:txBody>
      </p:sp>
    </p:spTree>
    <p:extLst>
      <p:ext uri="{BB962C8B-B14F-4D97-AF65-F5344CB8AC3E}">
        <p14:creationId xmlns:p14="http://schemas.microsoft.com/office/powerpoint/2010/main" val="870729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5EFC5F6-5431-451D-831E-53404ADCC7A1}" type="datetime1">
              <a:rPr lang="en-MY" altLang="x-none" smtClean="0"/>
              <a:pPr/>
              <a:t>26/3/2026</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9F076030-6673-E149-9F4B-C5F4EF83FAAF}" type="slidenum">
              <a:rPr lang="en-US" altLang="x-none"/>
              <a:pPr/>
              <a:t>‹#›</a:t>
            </a:fld>
            <a:endParaRPr lang="en-US" altLang="x-none"/>
          </a:p>
        </p:txBody>
      </p:sp>
    </p:spTree>
    <p:extLst>
      <p:ext uri="{BB962C8B-B14F-4D97-AF65-F5344CB8AC3E}">
        <p14:creationId xmlns:p14="http://schemas.microsoft.com/office/powerpoint/2010/main" val="139298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8B5CC98A-8D97-485E-8268-391E4F5506FB}" type="datetime1">
              <a:rPr lang="en-MY" altLang="x-none" smtClean="0"/>
              <a:pPr/>
              <a:t>26/3/2026</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7E485750-1DE6-5F4E-81E2-ECAB9D801A59}" type="slidenum">
              <a:rPr lang="en-US" altLang="x-none"/>
              <a:pPr/>
              <a:t>‹#›</a:t>
            </a:fld>
            <a:endParaRPr lang="en-US" altLang="x-none"/>
          </a:p>
        </p:txBody>
      </p:sp>
    </p:spTree>
    <p:extLst>
      <p:ext uri="{BB962C8B-B14F-4D97-AF65-F5344CB8AC3E}">
        <p14:creationId xmlns:p14="http://schemas.microsoft.com/office/powerpoint/2010/main" val="23990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5431F639-FC6A-4BD2-936E-97DBE391E573}" type="datetime1">
              <a:rPr lang="en-MY" altLang="x-none" smtClean="0"/>
              <a:pPr/>
              <a:t>26/3/2026</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B60240F5-A592-CB4C-B3EB-742B1D536E95}" type="slidenum">
              <a:rPr lang="en-US" altLang="x-none"/>
              <a:pPr/>
              <a:t>‹#›</a:t>
            </a:fld>
            <a:endParaRPr lang="en-US" altLang="x-none"/>
          </a:p>
        </p:txBody>
      </p:sp>
    </p:spTree>
    <p:extLst>
      <p:ext uri="{BB962C8B-B14F-4D97-AF65-F5344CB8AC3E}">
        <p14:creationId xmlns:p14="http://schemas.microsoft.com/office/powerpoint/2010/main" val="1627160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316BF230-B64E-4469-8D65-E6C55615883E}" type="datetime1">
              <a:rPr lang="en-MY" altLang="x-none" smtClean="0"/>
              <a:pPr/>
              <a:t>26/3/2026</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6EE7B5C7-1332-B24B-B4B9-50CEB6238BEA}" type="slidenum">
              <a:rPr lang="en-US" altLang="x-none"/>
              <a:pPr/>
              <a:t>‹#›</a:t>
            </a:fld>
            <a:endParaRPr lang="en-US" altLang="x-none"/>
          </a:p>
        </p:txBody>
      </p:sp>
    </p:spTree>
    <p:extLst>
      <p:ext uri="{BB962C8B-B14F-4D97-AF65-F5344CB8AC3E}">
        <p14:creationId xmlns:p14="http://schemas.microsoft.com/office/powerpoint/2010/main" val="1627913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197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197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4"/>
          <p:cNvSpPr>
            <a:spLocks noGrp="1" noChangeArrowheads="1"/>
          </p:cNvSpPr>
          <p:nvPr>
            <p:ph type="dt" sz="half" idx="10"/>
          </p:nvPr>
        </p:nvSpPr>
        <p:spPr>
          <a:ln/>
        </p:spPr>
        <p:txBody>
          <a:bodyPr/>
          <a:lstStyle>
            <a:lvl1pPr>
              <a:defRPr/>
            </a:lvl1pPr>
          </a:lstStyle>
          <a:p>
            <a:pPr>
              <a:defRPr/>
            </a:pPr>
            <a:fld id="{2C262CF3-032E-4A05-B00B-30EB327732A9}" type="datetime1">
              <a:rPr lang="en-MY" altLang="en-US" smtClean="0"/>
              <a:pPr>
                <a:defRPr/>
              </a:pPr>
              <a:t>26/3/2026</a:t>
            </a:fld>
            <a:endParaRPr lang="en-US" altLang="en-US"/>
          </a:p>
        </p:txBody>
      </p:sp>
      <p:sp>
        <p:nvSpPr>
          <p:cNvPr id="7" name="Rectangle 6"/>
          <p:cNvSpPr>
            <a:spLocks noGrp="1" noChangeArrowheads="1"/>
          </p:cNvSpPr>
          <p:nvPr>
            <p:ph type="sldNum" sz="quarter" idx="11"/>
          </p:nvPr>
        </p:nvSpPr>
        <p:spPr>
          <a:ln/>
        </p:spPr>
        <p:txBody>
          <a:bodyPr/>
          <a:lstStyle>
            <a:lvl1pPr>
              <a:defRPr/>
            </a:lvl1pPr>
          </a:lstStyle>
          <a:p>
            <a:pPr>
              <a:defRPr/>
            </a:pPr>
            <a:fld id="{6D107FCB-E406-4577-A51C-0F66F2318658}" type="slidenum">
              <a:rPr lang="en-US" altLang="en-US"/>
              <a:pPr>
                <a:defRPr/>
              </a:pPr>
              <a:t>‹#›</a:t>
            </a:fld>
            <a:endParaRPr lang="en-US" altLang="en-US"/>
          </a:p>
        </p:txBody>
      </p:sp>
    </p:spTree>
    <p:extLst>
      <p:ext uri="{BB962C8B-B14F-4D97-AF65-F5344CB8AC3E}">
        <p14:creationId xmlns:p14="http://schemas.microsoft.com/office/powerpoint/2010/main" val="3620251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673600" y="533400"/>
            <a:ext cx="6908800" cy="685800"/>
          </a:xfrm>
        </p:spPr>
        <p:txBody>
          <a:bodyPr/>
          <a:lstStyle/>
          <a:p>
            <a:r>
              <a:rPr lang="en-US"/>
              <a:t>Click to edit Master title style</a:t>
            </a:r>
            <a:endParaRPr lang="en-AU"/>
          </a:p>
        </p:txBody>
      </p:sp>
      <p:sp>
        <p:nvSpPr>
          <p:cNvPr id="3" name="Content Placeholder 2"/>
          <p:cNvSpPr>
            <a:spLocks noGrp="1"/>
          </p:cNvSpPr>
          <p:nvPr>
            <p:ph sz="quarter" idx="1"/>
          </p:nvPr>
        </p:nvSpPr>
        <p:spPr>
          <a:xfrm>
            <a:off x="609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197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09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5"/>
          <p:cNvSpPr>
            <a:spLocks noGrp="1"/>
          </p:cNvSpPr>
          <p:nvPr>
            <p:ph sz="quarter" idx="4"/>
          </p:nvPr>
        </p:nvSpPr>
        <p:spPr>
          <a:xfrm>
            <a:off x="6197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4"/>
          <p:cNvSpPr>
            <a:spLocks noGrp="1" noChangeArrowheads="1"/>
          </p:cNvSpPr>
          <p:nvPr>
            <p:ph type="dt" sz="half" idx="10"/>
          </p:nvPr>
        </p:nvSpPr>
        <p:spPr>
          <a:ln/>
        </p:spPr>
        <p:txBody>
          <a:bodyPr/>
          <a:lstStyle>
            <a:lvl1pPr>
              <a:defRPr/>
            </a:lvl1pPr>
          </a:lstStyle>
          <a:p>
            <a:pPr>
              <a:defRPr/>
            </a:pPr>
            <a:fld id="{C0F92641-BD3C-4AEE-AEE0-60A0BEF19257}" type="datetime1">
              <a:rPr lang="en-MY" altLang="en-US" smtClean="0"/>
              <a:pPr>
                <a:defRPr/>
              </a:pPr>
              <a:t>26/3/2026</a:t>
            </a:fld>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DF03E85-04D8-46DA-B588-1BC276B1FA57}" type="slidenum">
              <a:rPr lang="en-US" altLang="en-US"/>
              <a:pPr>
                <a:defRPr/>
              </a:pPr>
              <a:t>‹#›</a:t>
            </a:fld>
            <a:endParaRPr lang="en-US" altLang="en-US"/>
          </a:p>
        </p:txBody>
      </p:sp>
    </p:spTree>
    <p:extLst>
      <p:ext uri="{BB962C8B-B14F-4D97-AF65-F5344CB8AC3E}">
        <p14:creationId xmlns:p14="http://schemas.microsoft.com/office/powerpoint/2010/main" val="224875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3"/>
          <p:cNvSpPr>
            <a:spLocks noGrp="1"/>
          </p:cNvSpPr>
          <p:nvPr>
            <p:ph type="dt" sz="half" idx="10"/>
          </p:nvPr>
        </p:nvSpPr>
        <p:spPr/>
        <p:txBody>
          <a:bodyPr/>
          <a:lstStyle>
            <a:lvl1pPr>
              <a:defRPr/>
            </a:lvl1pPr>
          </a:lstStyle>
          <a:p>
            <a:fld id="{AF7769EC-6264-F743-8269-787B3607F7F1}" type="datetime1">
              <a:rPr lang="en-US" altLang="en-US" smtClean="0"/>
              <a:t>3/26/2026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F4F75E4-7C4F-4247-A77A-0CBBD0BAC1C6}" type="slidenum">
              <a:rPr lang="en-US" altLang="en-US"/>
              <a:pPr/>
              <a:t>‹#›</a:t>
            </a:fld>
            <a:endParaRPr lang="en-US" altLang="en-US"/>
          </a:p>
        </p:txBody>
      </p:sp>
    </p:spTree>
    <p:extLst>
      <p:ext uri="{BB962C8B-B14F-4D97-AF65-F5344CB8AC3E}">
        <p14:creationId xmlns:p14="http://schemas.microsoft.com/office/powerpoint/2010/main" val="4037471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Content Placeholder 2"/>
          <p:cNvSpPr>
            <a:spLocks noGrp="1"/>
          </p:cNvSpPr>
          <p:nvPr>
            <p:ph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197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197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Date Placeholder 3"/>
          <p:cNvSpPr>
            <a:spLocks noGrp="1"/>
          </p:cNvSpPr>
          <p:nvPr>
            <p:ph type="dt" sz="half" idx="10"/>
          </p:nvPr>
        </p:nvSpPr>
        <p:spPr/>
        <p:txBody>
          <a:bodyPr/>
          <a:lstStyle>
            <a:lvl1pPr>
              <a:defRPr/>
            </a:lvl1pPr>
          </a:lstStyle>
          <a:p>
            <a:fld id="{43C52DC0-09B3-1542-88D7-6F28328316AA}" type="datetime1">
              <a:rPr lang="en-US" altLang="en-US" smtClean="0"/>
              <a:t>3/26/2026</a:t>
            </a:fld>
            <a:endParaRPr lang="en-US" alt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AF67C031-4DF9-4A50-A088-AAAABC48F84B}" type="slidenum">
              <a:rPr lang="en-US" altLang="en-US"/>
              <a:pPr/>
              <a:t>‹#›</a:t>
            </a:fld>
            <a:endParaRPr lang="en-US" altLang="en-US"/>
          </a:p>
        </p:txBody>
      </p:sp>
    </p:spTree>
    <p:extLst>
      <p:ext uri="{BB962C8B-B14F-4D97-AF65-F5344CB8AC3E}">
        <p14:creationId xmlns:p14="http://schemas.microsoft.com/office/powerpoint/2010/main" val="403561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574F3A03-6702-4BFD-9166-190A52423683}" type="datetime1">
              <a:rPr lang="en-MY" altLang="x-none" smtClean="0"/>
              <a:pPr/>
              <a:t>26/3/2026</a:t>
            </a:fld>
            <a:endParaRPr lang="en-US" altLang="x-none"/>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MY"/>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0A160C77-8EE4-BA4B-9C0B-FF18244C35C7}" type="slidenum">
              <a:rPr lang="en-US" altLang="x-none"/>
              <a:pPr/>
              <a:t>‹#›</a:t>
            </a:fld>
            <a:endParaRPr lang="en-US" altLang="x-none"/>
          </a:p>
        </p:txBody>
      </p:sp>
      <p:grpSp>
        <p:nvGrpSpPr>
          <p:cNvPr id="2" name="Google Shape;263;p1">
            <a:extLst>
              <a:ext uri="{FF2B5EF4-FFF2-40B4-BE49-F238E27FC236}">
                <a16:creationId xmlns:a16="http://schemas.microsoft.com/office/drawing/2014/main" id="{EC6DE9A0-E8F0-060A-0218-772A61CF0417}"/>
              </a:ext>
            </a:extLst>
          </p:cNvPr>
          <p:cNvGrpSpPr/>
          <p:nvPr userDrawn="1"/>
        </p:nvGrpSpPr>
        <p:grpSpPr>
          <a:xfrm>
            <a:off x="11728422" y="0"/>
            <a:ext cx="158778" cy="6858000"/>
            <a:chOff x="0" y="-47625"/>
            <a:chExt cx="72806" cy="2756958"/>
          </a:xfrm>
        </p:grpSpPr>
        <p:sp>
          <p:nvSpPr>
            <p:cNvPr id="3" name="Google Shape;264;p1">
              <a:extLst>
                <a:ext uri="{FF2B5EF4-FFF2-40B4-BE49-F238E27FC236}">
                  <a16:creationId xmlns:a16="http://schemas.microsoft.com/office/drawing/2014/main" id="{1E4C12AD-6806-0FE8-5642-1058FBEC20A1}"/>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3916A24C-8721-7099-1434-EC5AF3E85CDC}"/>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8" name="Google Shape;268;p1">
            <a:extLst>
              <a:ext uri="{FF2B5EF4-FFF2-40B4-BE49-F238E27FC236}">
                <a16:creationId xmlns:a16="http://schemas.microsoft.com/office/drawing/2014/main" id="{58AD8106-7786-76AF-B23B-06D14D398233}"/>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269;p1">
            <a:extLst>
              <a:ext uri="{FF2B5EF4-FFF2-40B4-BE49-F238E27FC236}">
                <a16:creationId xmlns:a16="http://schemas.microsoft.com/office/drawing/2014/main" id="{C9075E66-F99A-B7A8-F55C-EB16CB42664D}"/>
              </a:ext>
            </a:extLst>
          </p:cNvPr>
          <p:cNvSpPr txBox="1"/>
          <p:nvPr userDrawn="1"/>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4" r:id="rId12"/>
    <p:sldLayoutId id="2147483745" r:id="rId13"/>
    <p:sldLayoutId id="2147483746" r:id="rId14"/>
    <p:sldLayoutId id="2147483747" r:id="rId15"/>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7.png"/><Relationship Id="rId2" Type="http://schemas.openxmlformats.org/officeDocument/2006/relationships/oleObject" Target="../embeddings/oleObject4.bin"/><Relationship Id="rId1" Type="http://schemas.openxmlformats.org/officeDocument/2006/relationships/slideLayout" Target="../slideLayouts/slideLayout4.xml"/><Relationship Id="rId6" Type="http://schemas.openxmlformats.org/officeDocument/2006/relationships/customXml" Target="../ink/ink2.xml"/><Relationship Id="rId5" Type="http://schemas.openxmlformats.org/officeDocument/2006/relationships/image" Target="../media/image6.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0.png"/><Relationship Id="rId2" Type="http://schemas.openxmlformats.org/officeDocument/2006/relationships/oleObject" Target="../embeddings/oleObject5.bin"/><Relationship Id="rId1" Type="http://schemas.openxmlformats.org/officeDocument/2006/relationships/slideLayout" Target="../slideLayouts/slideLayout15.xml"/><Relationship Id="rId6" Type="http://schemas.openxmlformats.org/officeDocument/2006/relationships/customXml" Target="../ink/ink4.xml"/><Relationship Id="rId5" Type="http://schemas.openxmlformats.org/officeDocument/2006/relationships/image" Target="../media/image9.png"/><Relationship Id="rId4" Type="http://schemas.openxmlformats.org/officeDocument/2006/relationships/customXml" Target="../ink/ink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oleObject" Target="../embeddings/oleObject6.bin"/><Relationship Id="rId7" Type="http://schemas.openxmlformats.org/officeDocument/2006/relationships/customXml" Target="../ink/ink6.xml"/><Relationship Id="rId12" Type="http://schemas.openxmlformats.org/officeDocument/2006/relationships/image" Target="../media/image16.png"/><Relationship Id="rId2" Type="http://schemas.openxmlformats.org/officeDocument/2006/relationships/image" Target="../media/image8.wmf"/><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15.png"/><Relationship Id="rId4" Type="http://schemas.openxmlformats.org/officeDocument/2006/relationships/image" Target="../media/image9.wmf"/><Relationship Id="rId9" Type="http://schemas.openxmlformats.org/officeDocument/2006/relationships/customXml" Target="../ink/ink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14.xml"/><Relationship Id="rId18" Type="http://schemas.openxmlformats.org/officeDocument/2006/relationships/image" Target="../media/image28.png"/><Relationship Id="rId26" Type="http://schemas.openxmlformats.org/officeDocument/2006/relationships/image" Target="../media/image32.png"/><Relationship Id="rId3" Type="http://schemas.openxmlformats.org/officeDocument/2006/relationships/customXml" Target="../ink/ink9.xml"/><Relationship Id="rId21" Type="http://schemas.openxmlformats.org/officeDocument/2006/relationships/customXml" Target="../ink/ink18.xml"/><Relationship Id="rId7" Type="http://schemas.openxmlformats.org/officeDocument/2006/relationships/customXml" Target="../ink/ink11.xml"/><Relationship Id="rId12" Type="http://schemas.openxmlformats.org/officeDocument/2006/relationships/image" Target="../media/image25.png"/><Relationship Id="rId17" Type="http://schemas.openxmlformats.org/officeDocument/2006/relationships/customXml" Target="../ink/ink16.xml"/><Relationship Id="rId25" Type="http://schemas.openxmlformats.org/officeDocument/2006/relationships/customXml" Target="../ink/ink20.xml"/><Relationship Id="rId2" Type="http://schemas.openxmlformats.org/officeDocument/2006/relationships/image" Target="../media/image18.jpeg"/><Relationship Id="rId16" Type="http://schemas.openxmlformats.org/officeDocument/2006/relationships/image" Target="../media/image27.png"/><Relationship Id="rId20" Type="http://schemas.openxmlformats.org/officeDocument/2006/relationships/image" Target="../media/image29.png"/><Relationship Id="rId29"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13.xml"/><Relationship Id="rId24" Type="http://schemas.openxmlformats.org/officeDocument/2006/relationships/image" Target="../media/image31.png"/><Relationship Id="rId5" Type="http://schemas.openxmlformats.org/officeDocument/2006/relationships/customXml" Target="../ink/ink10.xml"/><Relationship Id="rId15" Type="http://schemas.openxmlformats.org/officeDocument/2006/relationships/customXml" Target="../ink/ink15.xml"/><Relationship Id="rId23" Type="http://schemas.openxmlformats.org/officeDocument/2006/relationships/customXml" Target="../ink/ink19.xml"/><Relationship Id="rId28" Type="http://schemas.openxmlformats.org/officeDocument/2006/relationships/image" Target="../media/image33.png"/><Relationship Id="rId10" Type="http://schemas.openxmlformats.org/officeDocument/2006/relationships/image" Target="../media/image24.png"/><Relationship Id="rId19" Type="http://schemas.openxmlformats.org/officeDocument/2006/relationships/customXml" Target="../ink/ink17.xml"/><Relationship Id="rId4" Type="http://schemas.openxmlformats.org/officeDocument/2006/relationships/image" Target="../media/image21.png"/><Relationship Id="rId9" Type="http://schemas.openxmlformats.org/officeDocument/2006/relationships/customXml" Target="../ink/ink12.xml"/><Relationship Id="rId14" Type="http://schemas.openxmlformats.org/officeDocument/2006/relationships/image" Target="../media/image26.png"/><Relationship Id="rId22" Type="http://schemas.openxmlformats.org/officeDocument/2006/relationships/image" Target="../media/image30.png"/><Relationship Id="rId27" Type="http://schemas.openxmlformats.org/officeDocument/2006/relationships/customXml" Target="../ink/ink21.xml"/><Relationship Id="rId30"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customXml" Target="../ink/ink2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26.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27.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8.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8.bin"/><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52.png"/><Relationship Id="rId3" Type="http://schemas.openxmlformats.org/officeDocument/2006/relationships/image" Target="../media/image38.wmf"/><Relationship Id="rId7" Type="http://schemas.openxmlformats.org/officeDocument/2006/relationships/image" Target="../media/image49.png"/><Relationship Id="rId12" Type="http://schemas.openxmlformats.org/officeDocument/2006/relationships/customXml" Target="../ink/ink34.xml"/><Relationship Id="rId17" Type="http://schemas.openxmlformats.org/officeDocument/2006/relationships/image" Target="../media/image54.png"/><Relationship Id="rId2" Type="http://schemas.openxmlformats.org/officeDocument/2006/relationships/oleObject" Target="../embeddings/oleObject9.bin"/><Relationship Id="rId16" Type="http://schemas.openxmlformats.org/officeDocument/2006/relationships/customXml" Target="../ink/ink36.xml"/><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51.png"/><Relationship Id="rId5" Type="http://schemas.openxmlformats.org/officeDocument/2006/relationships/image" Target="../media/image48.png"/><Relationship Id="rId15" Type="http://schemas.openxmlformats.org/officeDocument/2006/relationships/image" Target="../media/image53.png"/><Relationship Id="rId10" Type="http://schemas.openxmlformats.org/officeDocument/2006/relationships/customXml" Target="../ink/ink33.xml"/><Relationship Id="rId4" Type="http://schemas.openxmlformats.org/officeDocument/2006/relationships/customXml" Target="../ink/ink30.xml"/><Relationship Id="rId9" Type="http://schemas.openxmlformats.org/officeDocument/2006/relationships/image" Target="../media/image50.png"/><Relationship Id="rId14" Type="http://schemas.openxmlformats.org/officeDocument/2006/relationships/customXml" Target="../ink/ink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11.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E2D6-497E-8C52-5028-48C65D6836D4}"/>
            </a:ext>
          </a:extLst>
        </p:cNvPr>
        <p:cNvGrpSpPr/>
        <p:nvPr/>
      </p:nvGrpSpPr>
      <p:grpSpPr>
        <a:xfrm>
          <a:off x="0" y="0"/>
          <a:ext cx="0" cy="0"/>
          <a:chOff x="0" y="0"/>
          <a:chExt cx="0" cy="0"/>
        </a:xfrm>
      </p:grpSpPr>
      <p:sp>
        <p:nvSpPr>
          <p:cNvPr id="3074" name="Slide Number Placeholder 6">
            <a:extLst>
              <a:ext uri="{FF2B5EF4-FFF2-40B4-BE49-F238E27FC236}">
                <a16:creationId xmlns:a16="http://schemas.microsoft.com/office/drawing/2014/main" id="{A3BF57A6-6A28-2252-5149-E9596FEB015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4BF4DCD-91CE-4387-9234-7C7D33C2CF5E}" type="slidenum">
              <a:rPr lang="en-US" altLang="en-US" sz="1000">
                <a:solidFill>
                  <a:schemeClr val="bg1"/>
                </a:solidFill>
              </a:rPr>
              <a:pPr/>
              <a:t>1</a:t>
            </a:fld>
            <a:endParaRPr lang="en-US" altLang="en-US" sz="1000">
              <a:solidFill>
                <a:schemeClr val="bg1"/>
              </a:solidFill>
            </a:endParaRPr>
          </a:p>
        </p:txBody>
      </p:sp>
      <p:sp>
        <p:nvSpPr>
          <p:cNvPr id="261" name="Google Shape;261;p1"/>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3">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 name="Google Shape;263;p1">
            <a:extLst>
              <a:ext uri="{FF2B5EF4-FFF2-40B4-BE49-F238E27FC236}">
                <a16:creationId xmlns:a16="http://schemas.microsoft.com/office/drawing/2014/main" id="{45B9D261-8C85-6567-87E8-5927E10358C8}"/>
              </a:ext>
            </a:extLst>
          </p:cNvPr>
          <p:cNvGrpSpPr/>
          <p:nvPr/>
        </p:nvGrpSpPr>
        <p:grpSpPr>
          <a:xfrm>
            <a:off x="11707824" y="0"/>
            <a:ext cx="179377" cy="6858000"/>
            <a:chOff x="0" y="-47625"/>
            <a:chExt cx="72806" cy="2756958"/>
          </a:xfrm>
        </p:grpSpPr>
        <p:sp>
          <p:nvSpPr>
            <p:cNvPr id="6" name="Google Shape;264;p1">
              <a:extLst>
                <a:ext uri="{FF2B5EF4-FFF2-40B4-BE49-F238E27FC236}">
                  <a16:creationId xmlns:a16="http://schemas.microsoft.com/office/drawing/2014/main" id="{BAD8433F-375E-AA5E-E320-00DF16B2A62D}"/>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ACFF2846-256C-FA30-15EF-1B964D89676B}"/>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9" name="Google Shape;269;p1">
            <a:extLst>
              <a:ext uri="{FF2B5EF4-FFF2-40B4-BE49-F238E27FC236}">
                <a16:creationId xmlns:a16="http://schemas.microsoft.com/office/drawing/2014/main" id="{1E991F7A-1ACA-9F76-B49B-E7164ED46FE2}"/>
              </a:ext>
            </a:extLst>
          </p:cNvPr>
          <p:cNvSpPr txBox="1"/>
          <p:nvPr/>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
        <p:nvSpPr>
          <p:cNvPr id="11" name="Title 14">
            <a:extLst>
              <a:ext uri="{FF2B5EF4-FFF2-40B4-BE49-F238E27FC236}">
                <a16:creationId xmlns:a16="http://schemas.microsoft.com/office/drawing/2014/main" id="{702330C8-FBC4-5CA4-11AC-348E6125577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ea typeface="ＭＳ Ｐゴシック" charset="0"/>
              </a:rPr>
              <a:t>SECI1143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2" name="Content Placeholder 16">
            <a:extLst>
              <a:ext uri="{FF2B5EF4-FFF2-40B4-BE49-F238E27FC236}">
                <a16:creationId xmlns:a16="http://schemas.microsoft.com/office/drawing/2014/main" id="{6200B972-A955-CB75-F22C-D76C7101A561}"/>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3</a:t>
            </a:r>
          </a:p>
          <a:p>
            <a:pPr algn="ctr" eaLnBrk="1" hangingPunct="1">
              <a:buFont typeface="Arial" charset="0"/>
              <a:buNone/>
            </a:pPr>
            <a:endParaRPr lang="en-US" altLang="x-none" sz="5400" b="1" dirty="0">
              <a:latin typeface="+mj-lt"/>
            </a:endParaRPr>
          </a:p>
          <a:p>
            <a:pPr algn="ctr" eaLnBrk="1" hangingPunct="1">
              <a:buFont typeface="Arial" charset="0"/>
              <a:buNone/>
            </a:pPr>
            <a:r>
              <a:rPr lang="en-US" altLang="x-none" sz="5400" b="1" dirty="0">
                <a:latin typeface="+mj-lt"/>
              </a:rPr>
              <a:t>Descriptive Statistics</a:t>
            </a:r>
          </a:p>
        </p:txBody>
      </p:sp>
      <p:grpSp>
        <p:nvGrpSpPr>
          <p:cNvPr id="13" name="Google Shape;263;p1">
            <a:extLst>
              <a:ext uri="{FF2B5EF4-FFF2-40B4-BE49-F238E27FC236}">
                <a16:creationId xmlns:a16="http://schemas.microsoft.com/office/drawing/2014/main" id="{D772AF11-1559-96E1-7205-5B2275C19447}"/>
              </a:ext>
            </a:extLst>
          </p:cNvPr>
          <p:cNvGrpSpPr/>
          <p:nvPr/>
        </p:nvGrpSpPr>
        <p:grpSpPr>
          <a:xfrm>
            <a:off x="11728422" y="0"/>
            <a:ext cx="158778" cy="6858000"/>
            <a:chOff x="0" y="-47625"/>
            <a:chExt cx="72806" cy="2756958"/>
          </a:xfrm>
        </p:grpSpPr>
        <p:sp>
          <p:nvSpPr>
            <p:cNvPr id="14" name="Google Shape;264;p1">
              <a:extLst>
                <a:ext uri="{FF2B5EF4-FFF2-40B4-BE49-F238E27FC236}">
                  <a16:creationId xmlns:a16="http://schemas.microsoft.com/office/drawing/2014/main" id="{51C7C212-47D8-D864-A522-5676BFABE75F}"/>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15" name="Google Shape;265;p1">
              <a:extLst>
                <a:ext uri="{FF2B5EF4-FFF2-40B4-BE49-F238E27FC236}">
                  <a16:creationId xmlns:a16="http://schemas.microsoft.com/office/drawing/2014/main" id="{28B0BB84-93C8-2499-A2C1-5BCC5F03730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6" name="Google Shape;268;p1">
            <a:extLst>
              <a:ext uri="{FF2B5EF4-FFF2-40B4-BE49-F238E27FC236}">
                <a16:creationId xmlns:a16="http://schemas.microsoft.com/office/drawing/2014/main" id="{E6309E2C-2C31-D3D9-CE01-A1B61E88A57A}"/>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62365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47729" y="2060849"/>
            <a:ext cx="5221621" cy="2585323"/>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Measures </a:t>
            </a:r>
          </a:p>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of </a:t>
            </a:r>
          </a:p>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Central Tendency</a:t>
            </a:r>
          </a:p>
        </p:txBody>
      </p:sp>
      <p:sp>
        <p:nvSpPr>
          <p:cNvPr id="64514" name="Slide Number Placeholder 1"/>
          <p:cNvSpPr>
            <a:spLocks noGrp="1"/>
          </p:cNvSpPr>
          <p:nvPr>
            <p:ph type="sldNum" sz="quarter" idx="12"/>
          </p:nvPr>
        </p:nvSpPr>
        <p:spPr bwMode="auto">
          <a:xfrm>
            <a:off x="5808664" y="6519864"/>
            <a:ext cx="4667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06DF5460-3B6E-4230-A442-2D951AF2E8C1}" type="slidenum">
              <a:rPr lang="en-US" altLang="en-US" sz="1200">
                <a:solidFill>
                  <a:srgbClr val="FFFFFF"/>
                </a:solidFill>
              </a:rPr>
              <a:pPr/>
              <a:t>2</a:t>
            </a:fld>
            <a:endParaRPr lang="en-US" altLang="en-US" sz="1200">
              <a:solidFill>
                <a:srgbClr val="FFFFFF"/>
              </a:solidFill>
            </a:endParaRPr>
          </a:p>
        </p:txBody>
      </p:sp>
    </p:spTree>
    <p:extLst>
      <p:ext uri="{BB962C8B-B14F-4D97-AF65-F5344CB8AC3E}">
        <p14:creationId xmlns:p14="http://schemas.microsoft.com/office/powerpoint/2010/main" val="3442911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Number Placeholder 5"/>
          <p:cNvSpPr>
            <a:spLocks noGrp="1"/>
          </p:cNvSpPr>
          <p:nvPr>
            <p:ph type="sldNum" sz="quarter" idx="12"/>
          </p:nvPr>
        </p:nvSpPr>
        <p:spPr bwMode="auto">
          <a:xfrm>
            <a:off x="5591175" y="6492876"/>
            <a:ext cx="6937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98516FAC-F99A-4CFD-887A-979FFB6FC642}" type="slidenum">
              <a:rPr lang="en-US" altLang="en-US" sz="1000">
                <a:solidFill>
                  <a:schemeClr val="bg1"/>
                </a:solidFill>
                <a:latin typeface="Arial" pitchFamily="34" charset="0"/>
              </a:rPr>
              <a:pPr/>
              <a:t>3</a:t>
            </a:fld>
            <a:endParaRPr lang="en-US" altLang="en-US" sz="1000">
              <a:solidFill>
                <a:schemeClr val="bg1"/>
              </a:solidFill>
              <a:latin typeface="Arial" pitchFamily="34" charset="0"/>
            </a:endParaRPr>
          </a:p>
        </p:txBody>
      </p:sp>
      <p:sp>
        <p:nvSpPr>
          <p:cNvPr id="3076" name="Rectangle 2"/>
          <p:cNvSpPr>
            <a:spLocks noGrp="1" noChangeArrowheads="1"/>
          </p:cNvSpPr>
          <p:nvPr>
            <p:ph type="title"/>
          </p:nvPr>
        </p:nvSpPr>
        <p:spPr>
          <a:xfrm>
            <a:off x="3886200" y="356616"/>
            <a:ext cx="6272784" cy="786384"/>
          </a:xfrm>
          <a:ln w="28575">
            <a:solidFill>
              <a:schemeClr val="accent2"/>
            </a:solidFill>
          </a:ln>
        </p:spPr>
        <p:txBody>
          <a:bodyPr/>
          <a:lstStyle/>
          <a:p>
            <a:pPr eaLnBrk="1" hangingPunct="1">
              <a:defRPr/>
            </a:pPr>
            <a:r>
              <a:rPr lang="en-US" sz="3200" b="1" dirty="0">
                <a:ea typeface="ＭＳ Ｐゴシック" charset="0"/>
                <a:cs typeface="+mj-cs"/>
              </a:rPr>
              <a:t>Measurement of Central Tendency</a:t>
            </a:r>
          </a:p>
        </p:txBody>
      </p:sp>
      <p:sp>
        <p:nvSpPr>
          <p:cNvPr id="3077" name="Rectangle 3"/>
          <p:cNvSpPr>
            <a:spLocks noGrp="1" noChangeArrowheads="1"/>
          </p:cNvSpPr>
          <p:nvPr>
            <p:ph type="body" idx="1"/>
          </p:nvPr>
        </p:nvSpPr>
        <p:spPr>
          <a:xfrm>
            <a:off x="1847850" y="1484784"/>
            <a:ext cx="8434388" cy="4465166"/>
          </a:xfrm>
        </p:spPr>
        <p:txBody>
          <a:bodyPr/>
          <a:lstStyle/>
          <a:p>
            <a:pPr algn="just" eaLnBrk="1" hangingPunct="1">
              <a:buFont typeface="Arial" charset="0"/>
              <a:buChar char="•"/>
              <a:defRPr/>
            </a:pPr>
            <a:r>
              <a:rPr lang="en-US" sz="2800" dirty="0">
                <a:ea typeface="ＭＳ Ｐゴシック" charset="0"/>
                <a:cs typeface="+mn-cs"/>
              </a:rPr>
              <a:t>A measure of central tendency of a distribution is a numerical value that describes the central position of the data or how the data tend to build up in the center.</a:t>
            </a:r>
          </a:p>
          <a:p>
            <a:pPr marL="0" indent="0" algn="just" eaLnBrk="1" hangingPunct="1">
              <a:buNone/>
              <a:defRPr/>
            </a:pPr>
            <a:r>
              <a:rPr lang="en-US" sz="2800" dirty="0">
                <a:ea typeface="ＭＳ Ｐゴシック" charset="0"/>
                <a:cs typeface="+mn-cs"/>
              </a:rPr>
              <a:t> </a:t>
            </a:r>
          </a:p>
          <a:p>
            <a:pPr algn="just" eaLnBrk="1" hangingPunct="1">
              <a:buFont typeface="Arial" charset="0"/>
              <a:buChar char="•"/>
              <a:defRPr/>
            </a:pPr>
            <a:r>
              <a:rPr lang="en-US" sz="2800" dirty="0">
                <a:ea typeface="ＭＳ Ｐゴシック" charset="0"/>
                <a:cs typeface="+mn-cs"/>
              </a:rPr>
              <a:t>Measurements: </a:t>
            </a:r>
          </a:p>
          <a:p>
            <a:pPr lvl="1" algn="just" eaLnBrk="1" hangingPunct="1">
              <a:buFont typeface="Wingdings" charset="2"/>
              <a:buChar char="Ø"/>
              <a:defRPr/>
            </a:pPr>
            <a:r>
              <a:rPr lang="en-US" sz="2400" dirty="0">
                <a:ea typeface="ＭＳ Ｐゴシック" charset="0"/>
              </a:rPr>
              <a:t> Mean</a:t>
            </a:r>
          </a:p>
          <a:p>
            <a:pPr lvl="1" algn="just" eaLnBrk="1" hangingPunct="1">
              <a:buFont typeface="Wingdings" charset="2"/>
              <a:buChar char="Ø"/>
              <a:defRPr/>
            </a:pPr>
            <a:r>
              <a:rPr lang="en-US" sz="2400" dirty="0">
                <a:ea typeface="ＭＳ Ｐゴシック" charset="0"/>
              </a:rPr>
              <a:t> Mode</a:t>
            </a:r>
          </a:p>
          <a:p>
            <a:pPr lvl="1" algn="just" eaLnBrk="1" hangingPunct="1">
              <a:buFont typeface="Wingdings" charset="2"/>
              <a:buChar char="Ø"/>
              <a:defRPr/>
            </a:pPr>
            <a:r>
              <a:rPr lang="en-US" sz="2400" dirty="0">
                <a:ea typeface="ＭＳ Ｐゴシック" charset="0"/>
              </a:rPr>
              <a:t> Median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7"/>
          <p:cNvSpPr>
            <a:spLocks noGrp="1"/>
          </p:cNvSpPr>
          <p:nvPr>
            <p:ph type="sldNum" sz="quarter" idx="12"/>
          </p:nvPr>
        </p:nvSpPr>
        <p:spPr bwMode="auto">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itchFamily="34" charset="0"/>
                <a:ea typeface="MS PGothic" pitchFamily="34" charset="-128"/>
                <a:cs typeface="Arial" pitchFamily="34" charset="0"/>
              </a:defRPr>
            </a:lvl1pPr>
            <a:lvl2pPr marL="4572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a:lstStyle>
          <a:p>
            <a:fld id="{402BBDA9-0A90-4A65-BD1A-818FA3BF9AA2}" type="slidenum">
              <a:rPr lang="en-US" altLang="en-US" smtClean="0"/>
              <a:pPr/>
              <a:t>4</a:t>
            </a:fld>
            <a:endParaRPr lang="en-US" altLang="en-US" sz="1000">
              <a:solidFill>
                <a:schemeClr val="bg1"/>
              </a:solidFill>
              <a:latin typeface="Arial" pitchFamily="34" charset="0"/>
            </a:endParaRPr>
          </a:p>
        </p:txBody>
      </p:sp>
      <p:sp>
        <p:nvSpPr>
          <p:cNvPr id="4100"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Mean</a:t>
            </a:r>
          </a:p>
        </p:txBody>
      </p:sp>
      <p:sp>
        <p:nvSpPr>
          <p:cNvPr id="4101" name="Rectangle 3"/>
          <p:cNvSpPr>
            <a:spLocks noGrp="1" noChangeArrowheads="1"/>
          </p:cNvSpPr>
          <p:nvPr>
            <p:ph type="body" sz="half" idx="1"/>
          </p:nvPr>
        </p:nvSpPr>
        <p:spPr>
          <a:xfrm>
            <a:off x="1992313" y="1524000"/>
            <a:ext cx="8142287" cy="4008438"/>
          </a:xfrm>
        </p:spPr>
        <p:txBody>
          <a:bodyPr/>
          <a:lstStyle/>
          <a:p>
            <a:pPr algn="just" eaLnBrk="1" hangingPunct="1">
              <a:buFont typeface="Arial" charset="0"/>
              <a:buChar char="•"/>
              <a:defRPr/>
            </a:pPr>
            <a:r>
              <a:rPr lang="en-US" sz="2800" dirty="0">
                <a:ea typeface="ＭＳ Ｐゴシック" charset="0"/>
                <a:cs typeface="+mn-cs"/>
              </a:rPr>
              <a:t>Mean is the sum of the observations divided by the number of observations.</a:t>
            </a:r>
          </a:p>
          <a:p>
            <a:pPr algn="just" eaLnBrk="1" hangingPunct="1">
              <a:buFont typeface="Arial" charset="0"/>
              <a:buChar char="•"/>
              <a:defRPr/>
            </a:pPr>
            <a:r>
              <a:rPr lang="en-US" sz="2800" dirty="0">
                <a:ea typeface="ＭＳ Ｐゴシック" charset="0"/>
                <a:cs typeface="+mn-cs"/>
              </a:rPr>
              <a:t>It is the most common measure of central tendency,</a:t>
            </a:r>
          </a:p>
        </p:txBody>
      </p:sp>
      <p:graphicFrame>
        <p:nvGraphicFramePr>
          <p:cNvPr id="21508" name="Object 4"/>
          <p:cNvGraphicFramePr>
            <a:graphicFrameLocks noGrp="1" noChangeAspect="1"/>
          </p:cNvGraphicFramePr>
          <p:nvPr>
            <p:ph sz="quarter" idx="2"/>
          </p:nvPr>
        </p:nvGraphicFramePr>
        <p:xfrm>
          <a:off x="4800600" y="3284539"/>
          <a:ext cx="1397000" cy="1216025"/>
        </p:xfrm>
        <a:graphic>
          <a:graphicData uri="http://schemas.openxmlformats.org/presentationml/2006/ole">
            <mc:AlternateContent xmlns:mc="http://schemas.openxmlformats.org/markup-compatibility/2006">
              <mc:Choice xmlns:v="urn:schemas-microsoft-com:vml" Requires="v">
                <p:oleObj name="Equation" r:id="rId2" imgW="698500" imgH="609600" progId="Equation.3">
                  <p:embed/>
                </p:oleObj>
              </mc:Choice>
              <mc:Fallback>
                <p:oleObj name="Equation" r:id="rId2" imgW="698500" imgH="609600" progId="Equation.3">
                  <p:embed/>
                  <p:pic>
                    <p:nvPicPr>
                      <p:cNvPr id="21508"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284539"/>
                        <a:ext cx="1397000" cy="1216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09" name="Text Box 6"/>
          <p:cNvSpPr txBox="1">
            <a:spLocks noChangeArrowheads="1"/>
          </p:cNvSpPr>
          <p:nvPr/>
        </p:nvSpPr>
        <p:spPr bwMode="auto">
          <a:xfrm>
            <a:off x="2422526" y="3773488"/>
            <a:ext cx="2271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b="1" dirty="0">
                <a:latin typeface="Arial" pitchFamily="34" charset="0"/>
              </a:rPr>
              <a:t>Sample mean:</a:t>
            </a:r>
          </a:p>
        </p:txBody>
      </p:sp>
      <p:sp>
        <p:nvSpPr>
          <p:cNvPr id="21510" name="Text Box 7"/>
          <p:cNvSpPr txBox="1">
            <a:spLocks noChangeArrowheads="1"/>
          </p:cNvSpPr>
          <p:nvPr/>
        </p:nvSpPr>
        <p:spPr bwMode="auto">
          <a:xfrm>
            <a:off x="2438400" y="5181601"/>
            <a:ext cx="2749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b="1">
                <a:latin typeface="Arial" pitchFamily="34" charset="0"/>
              </a:rPr>
              <a:t>Population mean:</a:t>
            </a:r>
          </a:p>
        </p:txBody>
      </p:sp>
      <p:graphicFrame>
        <p:nvGraphicFramePr>
          <p:cNvPr id="21511" name="Object 8"/>
          <p:cNvGraphicFramePr>
            <a:graphicFrameLocks noGrp="1" noChangeAspect="1"/>
          </p:cNvGraphicFramePr>
          <p:nvPr>
            <p:ph sz="quarter" idx="3"/>
          </p:nvPr>
        </p:nvGraphicFramePr>
        <p:xfrm>
          <a:off x="5183188" y="4660901"/>
          <a:ext cx="1344612" cy="1216025"/>
        </p:xfrm>
        <a:graphic>
          <a:graphicData uri="http://schemas.openxmlformats.org/presentationml/2006/ole">
            <mc:AlternateContent xmlns:mc="http://schemas.openxmlformats.org/markup-compatibility/2006">
              <mc:Choice xmlns:v="urn:schemas-microsoft-com:vml" Requires="v">
                <p:oleObj name="Equation" r:id="rId4" imgW="672808" imgH="609336" progId="Equation.3">
                  <p:embed/>
                </p:oleObj>
              </mc:Choice>
              <mc:Fallback>
                <p:oleObj name="Equation" r:id="rId4" imgW="672808" imgH="609336" progId="Equation.3">
                  <p:embed/>
                  <p:pic>
                    <p:nvPicPr>
                      <p:cNvPr id="21511" name="Object 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3188" y="4660901"/>
                        <a:ext cx="1344612" cy="1216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5"/>
          <p:cNvSpPr>
            <a:spLocks noGrp="1"/>
          </p:cNvSpPr>
          <p:nvPr>
            <p:ph type="sldNum" sz="quarter" idx="12"/>
          </p:nvPr>
        </p:nvSpPr>
        <p:spPr bwMode="auto">
          <a:xfrm>
            <a:off x="5735639"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C8C7D472-E402-4071-89F3-3036DB1C828F}" type="slidenum">
              <a:rPr lang="en-US" altLang="en-US" sz="1000">
                <a:solidFill>
                  <a:schemeClr val="bg1"/>
                </a:solidFill>
                <a:latin typeface="Arial" pitchFamily="34" charset="0"/>
              </a:rPr>
              <a:pPr/>
              <a:t>5</a:t>
            </a:fld>
            <a:endParaRPr lang="en-US" altLang="en-US" sz="1000">
              <a:solidFill>
                <a:schemeClr val="bg1"/>
              </a:solidFill>
              <a:latin typeface="Arial" pitchFamily="34" charset="0"/>
            </a:endParaRPr>
          </a:p>
        </p:txBody>
      </p:sp>
      <p:sp>
        <p:nvSpPr>
          <p:cNvPr id="5124" name="Rectangle 2"/>
          <p:cNvSpPr>
            <a:spLocks noGrp="1" noChangeArrowheads="1"/>
          </p:cNvSpPr>
          <p:nvPr>
            <p:ph type="title"/>
          </p:nvPr>
        </p:nvSpPr>
        <p:spPr>
          <a:xfrm>
            <a:off x="2927649" y="274639"/>
            <a:ext cx="6346825" cy="777875"/>
          </a:xfrm>
        </p:spPr>
        <p:txBody>
          <a:bodyPr/>
          <a:lstStyle/>
          <a:p>
            <a:pPr eaLnBrk="1" hangingPunct="1">
              <a:defRPr/>
            </a:pPr>
            <a:r>
              <a:rPr lang="en-US" sz="4000" b="1" dirty="0">
                <a:ea typeface="ＭＳ Ｐゴシック" charset="0"/>
                <a:cs typeface="+mj-cs"/>
              </a:rPr>
              <a:t>Example</a:t>
            </a:r>
          </a:p>
        </p:txBody>
      </p:sp>
      <p:sp>
        <p:nvSpPr>
          <p:cNvPr id="22531" name="Rectangle 3"/>
          <p:cNvSpPr>
            <a:spLocks noGrp="1" noChangeArrowheads="1"/>
          </p:cNvSpPr>
          <p:nvPr>
            <p:ph type="body" idx="1"/>
          </p:nvPr>
        </p:nvSpPr>
        <p:spPr/>
        <p:txBody>
          <a:bodyPr/>
          <a:lstStyle/>
          <a:p>
            <a:pPr eaLnBrk="1" hangingPunct="1"/>
            <a:r>
              <a:rPr lang="en-US" altLang="en-US" sz="2800" dirty="0"/>
              <a:t>Data: </a:t>
            </a:r>
            <a:r>
              <a:rPr lang="en-US" altLang="en-US" sz="2800" b="1" dirty="0"/>
              <a:t>13, 18, 13, 14, 13, 16, 14, 21, 13</a:t>
            </a:r>
          </a:p>
          <a:p>
            <a:pPr eaLnBrk="1" hangingPunct="1"/>
            <a:endParaRPr lang="en-US" altLang="en-US" sz="2800" dirty="0"/>
          </a:p>
          <a:p>
            <a:pPr eaLnBrk="1" hangingPunct="1"/>
            <a:endParaRPr lang="en-US" altLang="en-US" sz="2800" dirty="0"/>
          </a:p>
          <a:p>
            <a:pPr eaLnBrk="1" hangingPunct="1"/>
            <a:endParaRPr lang="en-US" altLang="en-US" sz="2800" dirty="0"/>
          </a:p>
          <a:p>
            <a:pPr eaLnBrk="1" hangingPunct="1"/>
            <a:r>
              <a:rPr lang="en-US" altLang="en-US" sz="2800" dirty="0"/>
              <a:t>The </a:t>
            </a:r>
            <a:r>
              <a:rPr lang="en-US" altLang="en-US" sz="2800" b="1" dirty="0"/>
              <a:t>mean is 15</a:t>
            </a:r>
          </a:p>
          <a:p>
            <a:pPr eaLnBrk="1" hangingPunct="1">
              <a:buFont typeface="Arial" pitchFamily="34" charset="0"/>
              <a:buNone/>
            </a:pPr>
            <a:endParaRPr lang="en-US" altLang="en-US" sz="2800" dirty="0"/>
          </a:p>
          <a:p>
            <a:pPr eaLnBrk="1" hangingPunct="1"/>
            <a:endParaRPr lang="en-US" altLang="en-US" sz="2800" dirty="0"/>
          </a:p>
        </p:txBody>
      </p:sp>
      <p:sp>
        <p:nvSpPr>
          <p:cNvPr id="5126" name="Rectangle 4"/>
          <p:cNvSpPr>
            <a:spLocks noChangeArrowheads="1"/>
          </p:cNvSpPr>
          <p:nvPr/>
        </p:nvSpPr>
        <p:spPr bwMode="auto">
          <a:xfrm>
            <a:off x="2350270" y="2276872"/>
            <a:ext cx="7850187" cy="954088"/>
          </a:xfrm>
          <a:prstGeom prst="rect">
            <a:avLst/>
          </a:prstGeom>
          <a:ln/>
        </p:spPr>
        <p:style>
          <a:lnRef idx="2">
            <a:schemeClr val="accent1"/>
          </a:lnRef>
          <a:fillRef idx="1">
            <a:schemeClr val="lt1"/>
          </a:fillRef>
          <a:effectRef idx="0">
            <a:schemeClr val="accent1"/>
          </a:effectRef>
          <a:fontRef idx="minor">
            <a:schemeClr val="dk1"/>
          </a:fontRef>
        </p:style>
        <p:txBody>
          <a:bodyPr wrap="none" anchor="ct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a:solidFill>
                  <a:srgbClr val="000000"/>
                </a:solidFill>
              </a:rPr>
              <a:t>Calculation: </a:t>
            </a:r>
          </a:p>
          <a:p>
            <a:pPr eaLnBrk="1" hangingPunct="1"/>
            <a:r>
              <a:rPr lang="en-US" altLang="en-US" sz="2800">
                <a:solidFill>
                  <a:srgbClr val="000000"/>
                </a:solidFill>
              </a:rPr>
              <a:t>(13 + 18 + 13 + 14 + 13 + 16 + 14 + 21 + 13) ÷ 9 = 15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161B862F-3EDB-45FC-885E-30B3DCFF2A8C}" type="slidenum">
              <a:rPr lang="en-US" altLang="en-US" sz="1000">
                <a:solidFill>
                  <a:schemeClr val="bg1"/>
                </a:solidFill>
                <a:latin typeface="Arial" pitchFamily="34" charset="0"/>
              </a:rPr>
              <a:pPr/>
              <a:t>6</a:t>
            </a:fld>
            <a:endParaRPr lang="en-US" altLang="en-US" sz="1000">
              <a:solidFill>
                <a:schemeClr val="bg1"/>
              </a:solidFill>
              <a:latin typeface="Arial" pitchFamily="34" charset="0"/>
            </a:endParaRPr>
          </a:p>
        </p:txBody>
      </p:sp>
      <p:sp>
        <p:nvSpPr>
          <p:cNvPr id="23554" name="Rectangle 3"/>
          <p:cNvSpPr>
            <a:spLocks noGrp="1" noChangeArrowheads="1"/>
          </p:cNvSpPr>
          <p:nvPr>
            <p:ph type="body" idx="1"/>
          </p:nvPr>
        </p:nvSpPr>
        <p:spPr>
          <a:xfrm>
            <a:off x="1981200" y="1268413"/>
            <a:ext cx="8229600" cy="4525962"/>
          </a:xfrm>
        </p:spPr>
        <p:txBody>
          <a:bodyPr/>
          <a:lstStyle/>
          <a:p>
            <a:pPr algn="just" eaLnBrk="1" hangingPunct="1"/>
            <a:r>
              <a:rPr lang="en-US" altLang="en-US" sz="2800" dirty="0"/>
              <a:t>The mean is unique for every set of data.</a:t>
            </a:r>
          </a:p>
          <a:p>
            <a:pPr algn="just" eaLnBrk="1" hangingPunct="1"/>
            <a:r>
              <a:rPr lang="en-US" altLang="en-US" sz="2800" dirty="0"/>
              <a:t>Meaningful for interval and ratio data.</a:t>
            </a:r>
          </a:p>
          <a:p>
            <a:pPr algn="just" eaLnBrk="1" hangingPunct="1"/>
            <a:r>
              <a:rPr lang="en-US" altLang="en-US" sz="2800" dirty="0"/>
              <a:t>Can be affected by outliers – rare observations that are radically different from the rest.</a:t>
            </a:r>
          </a:p>
          <a:p>
            <a:pPr algn="just" eaLnBrk="1" hangingPunct="1"/>
            <a:endParaRPr lang="en-US" altLang="en-US" sz="2800" dirty="0"/>
          </a:p>
          <a:p>
            <a:pPr algn="just" eaLnBrk="1" hangingPunct="1"/>
            <a:r>
              <a:rPr lang="en-US" altLang="en-US" sz="2800" dirty="0"/>
              <a:t>Example:   </a:t>
            </a:r>
            <a:r>
              <a:rPr lang="en-US" altLang="en-US" sz="2800" b="1" dirty="0"/>
              <a:t>3, 4, 6, 4, 7, 3, 6, 5, </a:t>
            </a:r>
            <a:r>
              <a:rPr lang="en-US" altLang="en-US" sz="2800" b="1" dirty="0">
                <a:solidFill>
                  <a:srgbClr val="FF0000"/>
                </a:solidFill>
              </a:rPr>
              <a:t>1500</a:t>
            </a:r>
          </a:p>
          <a:p>
            <a:pPr algn="just" eaLnBrk="1" hangingPunct="1"/>
            <a:r>
              <a:rPr lang="en-US" altLang="en-US" sz="2800" dirty="0"/>
              <a:t>Mean: </a:t>
            </a:r>
            <a:r>
              <a:rPr lang="en-US" altLang="en-US" sz="2800" b="1" dirty="0"/>
              <a:t>170.89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6"/>
          <p:cNvSpPr>
            <a:spLocks noGrp="1"/>
          </p:cNvSpPr>
          <p:nvPr>
            <p:ph type="sldNum" sz="quarter" idx="12"/>
          </p:nvPr>
        </p:nvSpPr>
        <p:spPr bwMode="auto">
          <a:xfrm>
            <a:off x="5808663"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5D457B0F-3CAC-465A-986F-390F973E4650}" type="slidenum">
              <a:rPr lang="en-US" altLang="en-US" sz="1000">
                <a:solidFill>
                  <a:schemeClr val="bg1"/>
                </a:solidFill>
                <a:latin typeface="Arial" pitchFamily="34" charset="0"/>
              </a:rPr>
              <a:pPr/>
              <a:t>7</a:t>
            </a:fld>
            <a:endParaRPr lang="en-US" altLang="en-US" sz="1000">
              <a:solidFill>
                <a:schemeClr val="bg1"/>
              </a:solidFill>
              <a:latin typeface="Arial" pitchFamily="34" charset="0"/>
            </a:endParaRPr>
          </a:p>
        </p:txBody>
      </p:sp>
      <p:sp>
        <p:nvSpPr>
          <p:cNvPr id="7172"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Mean of Grouped Data</a:t>
            </a:r>
          </a:p>
        </p:txBody>
      </p:sp>
      <p:sp>
        <p:nvSpPr>
          <p:cNvPr id="24579" name="Rectangle 3"/>
          <p:cNvSpPr>
            <a:spLocks noGrp="1" noChangeArrowheads="1"/>
          </p:cNvSpPr>
          <p:nvPr>
            <p:ph type="body" sz="half" idx="1"/>
          </p:nvPr>
        </p:nvSpPr>
        <p:spPr>
          <a:xfrm>
            <a:off x="1919289" y="1412876"/>
            <a:ext cx="8497887" cy="4824413"/>
          </a:xfrm>
        </p:spPr>
        <p:txBody>
          <a:bodyPr/>
          <a:lstStyle/>
          <a:p>
            <a:pPr marL="0" indent="0" eaLnBrk="1" hangingPunct="1">
              <a:buNone/>
            </a:pPr>
            <a:r>
              <a:rPr lang="en-US" altLang="en-US" sz="2800" dirty="0"/>
              <a:t>The formula for the mean of grouped data,</a:t>
            </a:r>
          </a:p>
          <a:p>
            <a:pPr eaLnBrk="1" hangingPunct="1"/>
            <a:endParaRPr lang="en-US" altLang="en-US" sz="2800" dirty="0"/>
          </a:p>
          <a:p>
            <a:pPr eaLnBrk="1" hangingPunct="1"/>
            <a:endParaRPr lang="en-US" altLang="en-US" sz="2800" dirty="0"/>
          </a:p>
          <a:p>
            <a:pPr eaLnBrk="1" hangingPunct="1"/>
            <a:endParaRPr lang="en-US" altLang="en-US" sz="2800" dirty="0"/>
          </a:p>
          <a:p>
            <a:pPr eaLnBrk="1" hangingPunct="1">
              <a:buFont typeface="Arial" pitchFamily="34" charset="0"/>
              <a:buNone/>
            </a:pPr>
            <a:r>
              <a:rPr lang="en-US" altLang="en-US" sz="2800" dirty="0"/>
              <a:t>where,</a:t>
            </a:r>
          </a:p>
          <a:p>
            <a:pPr eaLnBrk="1" hangingPunct="1">
              <a:buFontTx/>
              <a:buNone/>
            </a:pPr>
            <a:r>
              <a:rPr lang="en-US" altLang="en-US" sz="2800" dirty="0"/>
              <a:t>	</a:t>
            </a:r>
            <a:r>
              <a:rPr lang="en-US" altLang="en-US" sz="2800" i="1" dirty="0"/>
              <a:t>f</a:t>
            </a:r>
            <a:r>
              <a:rPr lang="en-US" altLang="en-US" sz="2800" i="1" baseline="-25000" dirty="0"/>
              <a:t>i</a:t>
            </a:r>
            <a:r>
              <a:rPr lang="en-US" altLang="en-US" sz="2800" i="1" dirty="0"/>
              <a:t> </a:t>
            </a:r>
            <a:r>
              <a:rPr lang="en-US" altLang="en-US" sz="2800" dirty="0"/>
              <a:t>: frequency in a class or frequency of an observed value.</a:t>
            </a:r>
          </a:p>
          <a:p>
            <a:pPr eaLnBrk="1" hangingPunct="1">
              <a:buFontTx/>
              <a:buNone/>
            </a:pPr>
            <a:r>
              <a:rPr lang="en-US" altLang="en-US" sz="2800" dirty="0"/>
              <a:t>	</a:t>
            </a:r>
            <a:r>
              <a:rPr lang="en-US" altLang="en-US" sz="2800" i="1" dirty="0"/>
              <a:t>X</a:t>
            </a:r>
            <a:r>
              <a:rPr lang="en-US" altLang="en-US" sz="2800" i="1" baseline="-25000" dirty="0"/>
              <a:t>i</a:t>
            </a:r>
            <a:r>
              <a:rPr lang="en-US" altLang="en-US" sz="2800" baseline="-25000" dirty="0"/>
              <a:t> </a:t>
            </a:r>
            <a:r>
              <a:rPr lang="en-US" altLang="en-US" sz="2800" dirty="0"/>
              <a:t>: class midpoint or an observed value.</a:t>
            </a:r>
          </a:p>
          <a:p>
            <a:pPr eaLnBrk="1" hangingPunct="1">
              <a:buFontTx/>
              <a:buNone/>
            </a:pPr>
            <a:r>
              <a:rPr lang="en-US" altLang="en-US" sz="2800" dirty="0"/>
              <a:t>	</a:t>
            </a:r>
            <a:r>
              <a:rPr lang="en-US" altLang="en-US" sz="2800" i="1" dirty="0"/>
              <a:t>n</a:t>
            </a:r>
            <a:r>
              <a:rPr lang="en-US" altLang="en-US" sz="2800" dirty="0"/>
              <a:t> : number of classes or number of observed values.</a:t>
            </a:r>
          </a:p>
        </p:txBody>
      </p:sp>
      <p:graphicFrame>
        <p:nvGraphicFramePr>
          <p:cNvPr id="24580" name="Object 4"/>
          <p:cNvGraphicFramePr>
            <a:graphicFrameLocks noGrp="1" noChangeAspect="1"/>
          </p:cNvGraphicFramePr>
          <p:nvPr>
            <p:ph sz="half" idx="2"/>
          </p:nvPr>
        </p:nvGraphicFramePr>
        <p:xfrm>
          <a:off x="2927351" y="1978025"/>
          <a:ext cx="6069013" cy="1595438"/>
        </p:xfrm>
        <a:graphic>
          <a:graphicData uri="http://schemas.openxmlformats.org/presentationml/2006/ole">
            <mc:AlternateContent xmlns:mc="http://schemas.openxmlformats.org/markup-compatibility/2006">
              <mc:Choice xmlns:v="urn:schemas-microsoft-com:vml" Requires="v">
                <p:oleObj name="Equation" r:id="rId2" imgW="2463800" imgH="647700" progId="Equation.3">
                  <p:embed/>
                </p:oleObj>
              </mc:Choice>
              <mc:Fallback>
                <p:oleObj name="Equation" r:id="rId2" imgW="2463800" imgH="647700" progId="Equation.3">
                  <p:embed/>
                  <p:pic>
                    <p:nvPicPr>
                      <p:cNvPr id="2458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1" y="1978025"/>
                        <a:ext cx="6069013" cy="159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6"/>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7D8A66E9-7D1D-4165-947B-55D8EE29563E}" type="slidenum">
              <a:rPr lang="en-US" altLang="en-US" sz="1000">
                <a:solidFill>
                  <a:schemeClr val="bg1"/>
                </a:solidFill>
                <a:latin typeface="Arial" pitchFamily="34" charset="0"/>
              </a:rPr>
              <a:pPr/>
              <a:t>8</a:t>
            </a:fld>
            <a:endParaRPr lang="en-US" altLang="en-US" sz="1000">
              <a:solidFill>
                <a:schemeClr val="bg1"/>
              </a:solidFill>
              <a:latin typeface="Arial" pitchFamily="34" charset="0"/>
            </a:endParaRPr>
          </a:p>
        </p:txBody>
      </p:sp>
      <p:sp>
        <p:nvSpPr>
          <p:cNvPr id="8196" name="Rectangle 2"/>
          <p:cNvSpPr>
            <a:spLocks noGrp="1" noChangeArrowheads="1"/>
          </p:cNvSpPr>
          <p:nvPr>
            <p:ph type="title"/>
          </p:nvPr>
        </p:nvSpPr>
        <p:spPr>
          <a:xfrm>
            <a:off x="2918098" y="274862"/>
            <a:ext cx="6418262" cy="777875"/>
          </a:xfrm>
        </p:spPr>
        <p:txBody>
          <a:bodyPr/>
          <a:lstStyle/>
          <a:p>
            <a:pPr eaLnBrk="1" hangingPunct="1">
              <a:defRPr/>
            </a:pPr>
            <a:r>
              <a:rPr lang="en-US" sz="4000" b="1" dirty="0">
                <a:ea typeface="ＭＳ Ｐゴシック" charset="0"/>
                <a:cs typeface="+mj-cs"/>
              </a:rPr>
              <a:t>Example</a:t>
            </a:r>
          </a:p>
        </p:txBody>
      </p:sp>
      <p:graphicFrame>
        <p:nvGraphicFramePr>
          <p:cNvPr id="131118" name="Group 46"/>
          <p:cNvGraphicFramePr>
            <a:graphicFrameLocks noGrp="1"/>
          </p:cNvGraphicFramePr>
          <p:nvPr>
            <p:ph sz="half" idx="1"/>
          </p:nvPr>
        </p:nvGraphicFramePr>
        <p:xfrm>
          <a:off x="2495600" y="1844824"/>
          <a:ext cx="6999312" cy="1521620"/>
        </p:xfrm>
        <a:graphic>
          <a:graphicData uri="http://schemas.openxmlformats.org/drawingml/2006/table">
            <a:tbl>
              <a:tblPr/>
              <a:tblGrid>
                <a:gridCol w="1460500">
                  <a:extLst>
                    <a:ext uri="{9D8B030D-6E8A-4147-A177-3AD203B41FA5}">
                      <a16:colId xmlns:a16="http://schemas.microsoft.com/office/drawing/2014/main" val="20000"/>
                    </a:ext>
                  </a:extLst>
                </a:gridCol>
                <a:gridCol w="786284">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792088">
                  <a:extLst>
                    <a:ext uri="{9D8B030D-6E8A-4147-A177-3AD203B41FA5}">
                      <a16:colId xmlns:a16="http://schemas.microsoft.com/office/drawing/2014/main" val="20005"/>
                    </a:ext>
                  </a:extLst>
                </a:gridCol>
                <a:gridCol w="792088">
                  <a:extLst>
                    <a:ext uri="{9D8B030D-6E8A-4147-A177-3AD203B41FA5}">
                      <a16:colId xmlns:a16="http://schemas.microsoft.com/office/drawing/2014/main" val="20006"/>
                    </a:ext>
                  </a:extLst>
                </a:gridCol>
                <a:gridCol w="792088">
                  <a:extLst>
                    <a:ext uri="{9D8B030D-6E8A-4147-A177-3AD203B41FA5}">
                      <a16:colId xmlns:a16="http://schemas.microsoft.com/office/drawing/2014/main" val="20007"/>
                    </a:ext>
                  </a:extLst>
                </a:gridCol>
              </a:tblGrid>
              <a:tr h="759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Number of children (</a:t>
                      </a:r>
                      <a:r>
                        <a:rPr kumimoji="0" lang="en-US" sz="2000" b="1" i="1" u="none" strike="noStrike" cap="none" normalizeH="0" baseline="0" dirty="0">
                          <a:ln>
                            <a:noFill/>
                          </a:ln>
                          <a:solidFill>
                            <a:schemeClr val="tx1"/>
                          </a:solidFill>
                          <a:effectLst/>
                          <a:latin typeface="+mn-lt"/>
                          <a:ea typeface="MS PGothic" charset="0"/>
                          <a:cs typeface="MS PGothic" charset="0"/>
                        </a:rPr>
                        <a:t>X</a:t>
                      </a:r>
                      <a:r>
                        <a:rPr kumimoji="0" lang="en-US" sz="2000" b="1" i="1" u="none" strike="noStrike" cap="none" normalizeH="0" baseline="-25000" dirty="0">
                          <a:ln>
                            <a:noFill/>
                          </a:ln>
                          <a:solidFill>
                            <a:schemeClr val="tx1"/>
                          </a:solidFill>
                          <a:effectLst/>
                          <a:latin typeface="+mn-lt"/>
                          <a:ea typeface="MS PGothic" charset="0"/>
                          <a:cs typeface="MS PGothic" charset="0"/>
                        </a:rPr>
                        <a:t>i</a:t>
                      </a:r>
                      <a:r>
                        <a:rPr kumimoji="0" lang="en-US" sz="2000" b="1" i="0" u="none" strike="noStrike" cap="none" normalizeH="0" baseline="0" dirty="0">
                          <a:ln>
                            <a:noFill/>
                          </a:ln>
                          <a:solidFill>
                            <a:schemeClr val="tx1"/>
                          </a:solidFill>
                          <a:effectLst/>
                          <a:latin typeface="+mn-lt"/>
                          <a:ea typeface="MS PGothic" charset="0"/>
                          <a:cs typeface="MS PGothic" charset="0"/>
                        </a:rPr>
                        <a:t>)</a:t>
                      </a:r>
                      <a:r>
                        <a:rPr kumimoji="0" lang="en-US" sz="2000" b="1" i="1" u="none" strike="noStrike" cap="none" normalizeH="0" baseline="-25000" dirty="0">
                          <a:ln>
                            <a:noFill/>
                          </a:ln>
                          <a:solidFill>
                            <a:schemeClr val="tx1"/>
                          </a:solidFill>
                          <a:effectLst/>
                          <a:latin typeface="+mn-lt"/>
                          <a:ea typeface="MS PGothic" charset="0"/>
                          <a:cs typeface="MS PGothic" charset="0"/>
                        </a:rPr>
                        <a:t> </a:t>
                      </a:r>
                      <a:endParaRPr kumimoji="0" lang="en-US" sz="2000" b="1" i="0" u="none" strike="noStrike" cap="none" normalizeH="0" baseline="0" dirty="0">
                        <a:ln>
                          <a:noFill/>
                        </a:ln>
                        <a:solidFill>
                          <a:schemeClr val="tx1"/>
                        </a:solidFill>
                        <a:effectLst/>
                        <a:latin typeface="+mn-lt"/>
                        <a:ea typeface="MS PGothic" charset="0"/>
                        <a:cs typeface="MS PGothic" charset="0"/>
                      </a:endParaRP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1</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2</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3</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4</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5</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6</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mn-lt"/>
                          <a:ea typeface="MS PGothic" charset="0"/>
                          <a:cs typeface="MS PGothic" charset="0"/>
                        </a:rPr>
                        <a:t>7</a:t>
                      </a: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27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Frequency</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a:t>
                      </a:r>
                      <a:r>
                        <a:rPr kumimoji="0" lang="en-US" sz="2000" b="1" i="1" u="none" strike="noStrike" cap="none" normalizeH="0" baseline="0" dirty="0">
                          <a:ln>
                            <a:noFill/>
                          </a:ln>
                          <a:solidFill>
                            <a:schemeClr val="tx1"/>
                          </a:solidFill>
                          <a:effectLst/>
                          <a:latin typeface="+mn-lt"/>
                          <a:ea typeface="MS PGothic" charset="0"/>
                          <a:cs typeface="MS PGothic" charset="0"/>
                        </a:rPr>
                        <a:t>f</a:t>
                      </a:r>
                      <a:r>
                        <a:rPr kumimoji="0" lang="en-US" sz="2000" b="1" i="1" u="none" strike="noStrike" cap="none" normalizeH="0" baseline="-25000" dirty="0">
                          <a:ln>
                            <a:noFill/>
                          </a:ln>
                          <a:solidFill>
                            <a:schemeClr val="tx1"/>
                          </a:solidFill>
                          <a:effectLst/>
                          <a:latin typeface="+mn-lt"/>
                          <a:ea typeface="MS PGothic" charset="0"/>
                          <a:cs typeface="MS PGothic" charset="0"/>
                        </a:rPr>
                        <a:t>i</a:t>
                      </a:r>
                      <a:r>
                        <a:rPr kumimoji="0" lang="en-US" sz="2000" b="1" i="0" u="none" strike="noStrike" cap="none" normalizeH="0" baseline="0" dirty="0">
                          <a:ln>
                            <a:noFill/>
                          </a:ln>
                          <a:solidFill>
                            <a:schemeClr val="tx1"/>
                          </a:solidFill>
                          <a:effectLst/>
                          <a:latin typeface="+mn-lt"/>
                          <a:ea typeface="MS PGothic" charset="0"/>
                          <a:cs typeface="MS PGothic" charset="0"/>
                        </a:rPr>
                        <a:t>)</a:t>
                      </a:r>
                    </a:p>
                  </a:txBody>
                  <a:tcPr marT="45736" marB="4573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mn-lt"/>
                          <a:ea typeface="MS PGothic" charset="0"/>
                          <a:cs typeface="MS PGothic" charset="0"/>
                        </a:rPr>
                        <a:t>5</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mn-lt"/>
                          <a:ea typeface="MS PGothic" charset="0"/>
                          <a:cs typeface="MS PGothic" charset="0"/>
                        </a:rPr>
                        <a:t>12</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mn-lt"/>
                          <a:ea typeface="MS PGothic" charset="0"/>
                          <a:cs typeface="MS PGothic" charset="0"/>
                        </a:rPr>
                        <a:t>8</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mn-lt"/>
                          <a:ea typeface="MS PGothic" charset="0"/>
                          <a:cs typeface="MS PGothic" charset="0"/>
                        </a:rPr>
                        <a:t>3</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0</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0</a:t>
                      </a:r>
                    </a:p>
                  </a:txBody>
                  <a:tcPr marT="45736" marB="4573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mn-lt"/>
                          <a:ea typeface="MS PGothic" charset="0"/>
                          <a:cs typeface="MS PGothic" charset="0"/>
                        </a:rPr>
                        <a:t>1</a:t>
                      </a:r>
                    </a:p>
                  </a:txBody>
                  <a:tcPr marT="45736" marB="4573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5632" name="Rectangle 47"/>
          <p:cNvSpPr>
            <a:spLocks noChangeArrowheads="1"/>
          </p:cNvSpPr>
          <p:nvPr/>
        </p:nvSpPr>
        <p:spPr bwMode="auto">
          <a:xfrm>
            <a:off x="1976438" y="3645024"/>
            <a:ext cx="8583612"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dirty="0">
                <a:latin typeface="+mn-lt"/>
              </a:rPr>
              <a:t> </a:t>
            </a:r>
            <a:r>
              <a:rPr lang="en-US" altLang="en-US" sz="2800" b="1" dirty="0">
                <a:latin typeface="+mn-lt"/>
              </a:rPr>
              <a:t>Solution:</a:t>
            </a:r>
          </a:p>
          <a:p>
            <a:pPr eaLnBrk="1" hangingPunct="1">
              <a:buFont typeface="Arial" pitchFamily="34" charset="0"/>
              <a:buNone/>
            </a:pPr>
            <a:r>
              <a:rPr lang="en-US" altLang="en-US" sz="2800" dirty="0">
                <a:latin typeface="+mn-lt"/>
              </a:rPr>
              <a:t> </a:t>
            </a:r>
            <a:r>
              <a:rPr lang="en-US" altLang="en-US" sz="2800" dirty="0">
                <a:latin typeface="+mn-lt"/>
                <a:sym typeface="Symbol" pitchFamily="18" charset="2"/>
              </a:rPr>
              <a:t> </a:t>
            </a:r>
            <a:r>
              <a:rPr lang="en-US" altLang="en-US" sz="2800" i="1" dirty="0" err="1">
                <a:latin typeface="+mn-lt"/>
              </a:rPr>
              <a:t>f</a:t>
            </a:r>
            <a:r>
              <a:rPr lang="en-US" altLang="en-US" sz="2800" i="1" baseline="-25000" dirty="0" err="1">
                <a:latin typeface="+mn-lt"/>
              </a:rPr>
              <a:t>i</a:t>
            </a:r>
            <a:r>
              <a:rPr lang="en-US" altLang="en-US" sz="2800" i="1" dirty="0" err="1">
                <a:latin typeface="+mn-lt"/>
              </a:rPr>
              <a:t>X</a:t>
            </a:r>
            <a:r>
              <a:rPr lang="en-US" altLang="en-US" sz="2800" i="1" baseline="-25000" dirty="0" err="1">
                <a:latin typeface="+mn-lt"/>
              </a:rPr>
              <a:t>i</a:t>
            </a:r>
            <a:r>
              <a:rPr lang="en-US" altLang="en-US" sz="2800" i="1" baseline="-25000" dirty="0">
                <a:latin typeface="+mn-lt"/>
              </a:rPr>
              <a:t>  </a:t>
            </a:r>
            <a:r>
              <a:rPr lang="en-US" altLang="en-US" sz="2800" dirty="0">
                <a:latin typeface="+mn-lt"/>
              </a:rPr>
              <a:t>= 5(1) + 12(2) + 8(3) + 3(4) + 0(5)+ 0(6) + 1(7) = 72 </a:t>
            </a:r>
          </a:p>
          <a:p>
            <a:pPr eaLnBrk="1" hangingPunct="1"/>
            <a:endParaRPr lang="en-US" altLang="en-US" sz="2800" dirty="0">
              <a:latin typeface="+mn-lt"/>
            </a:endParaRPr>
          </a:p>
        </p:txBody>
      </p:sp>
      <p:graphicFrame>
        <p:nvGraphicFramePr>
          <p:cNvPr id="25633" name="Object 48"/>
          <p:cNvGraphicFramePr>
            <a:graphicFrameLocks noGrp="1" noChangeAspect="1"/>
          </p:cNvGraphicFramePr>
          <p:nvPr>
            <p:ph sz="half" idx="2"/>
          </p:nvPr>
        </p:nvGraphicFramePr>
        <p:xfrm>
          <a:off x="4367809" y="4797153"/>
          <a:ext cx="3336925" cy="1368425"/>
        </p:xfrm>
        <a:graphic>
          <a:graphicData uri="http://schemas.openxmlformats.org/presentationml/2006/ole">
            <mc:AlternateContent xmlns:mc="http://schemas.openxmlformats.org/markup-compatibility/2006">
              <mc:Choice xmlns:v="urn:schemas-microsoft-com:vml" Requires="v">
                <p:oleObj name="Equation" r:id="rId2" imgW="1485900" imgH="609600" progId="Equation.3">
                  <p:embed/>
                </p:oleObj>
              </mc:Choice>
              <mc:Fallback>
                <p:oleObj name="Equation" r:id="rId2" imgW="1485900" imgH="609600" progId="Equation.3">
                  <p:embed/>
                  <p:pic>
                    <p:nvPicPr>
                      <p:cNvPr id="25633" name="Object 4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809" y="4797153"/>
                        <a:ext cx="3336925" cy="136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34" name="TextBox 6"/>
          <p:cNvSpPr txBox="1">
            <a:spLocks noChangeArrowheads="1"/>
          </p:cNvSpPr>
          <p:nvPr/>
        </p:nvSpPr>
        <p:spPr bwMode="auto">
          <a:xfrm>
            <a:off x="1919288" y="1166813"/>
            <a:ext cx="64533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r>
              <a:rPr lang="en-US" altLang="en-US" sz="2800" dirty="0"/>
              <a:t>Find the mean value for the following data:</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05FE0E3-24F7-7D05-AD05-CE9949934F22}"/>
                  </a:ext>
                </a:extLst>
              </p14:cNvPr>
              <p14:cNvContentPartPr/>
              <p14:nvPr/>
            </p14:nvContentPartPr>
            <p14:xfrm>
              <a:off x="7255873" y="5616823"/>
              <a:ext cx="455400" cy="19440"/>
            </p14:xfrm>
          </p:contentPart>
        </mc:Choice>
        <mc:Fallback xmlns="">
          <p:pic>
            <p:nvPicPr>
              <p:cNvPr id="2" name="Ink 1">
                <a:extLst>
                  <a:ext uri="{FF2B5EF4-FFF2-40B4-BE49-F238E27FC236}">
                    <a16:creationId xmlns:a16="http://schemas.microsoft.com/office/drawing/2014/main" id="{105FE0E3-24F7-7D05-AD05-CE9949934F22}"/>
                  </a:ext>
                </a:extLst>
              </p:cNvPr>
              <p:cNvPicPr/>
              <p:nvPr/>
            </p:nvPicPr>
            <p:blipFill>
              <a:blip r:embed="rId5"/>
              <a:stretch>
                <a:fillRect/>
              </a:stretch>
            </p:blipFill>
            <p:spPr>
              <a:xfrm>
                <a:off x="7201873" y="5506785"/>
                <a:ext cx="563040" cy="23914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C36A903-4F06-0464-54AF-0465DBFBFD70}"/>
                  </a:ext>
                </a:extLst>
              </p14:cNvPr>
              <p14:cNvContentPartPr/>
              <p14:nvPr/>
            </p14:nvContentPartPr>
            <p14:xfrm>
              <a:off x="7254073" y="5814823"/>
              <a:ext cx="505080" cy="41760"/>
            </p14:xfrm>
          </p:contentPart>
        </mc:Choice>
        <mc:Fallback xmlns="">
          <p:pic>
            <p:nvPicPr>
              <p:cNvPr id="3" name="Ink 2">
                <a:extLst>
                  <a:ext uri="{FF2B5EF4-FFF2-40B4-BE49-F238E27FC236}">
                    <a16:creationId xmlns:a16="http://schemas.microsoft.com/office/drawing/2014/main" id="{9C36A903-4F06-0464-54AF-0465DBFBFD70}"/>
                  </a:ext>
                </a:extLst>
              </p:cNvPr>
              <p:cNvPicPr/>
              <p:nvPr/>
            </p:nvPicPr>
            <p:blipFill>
              <a:blip r:embed="rId7"/>
              <a:stretch>
                <a:fillRect/>
              </a:stretch>
            </p:blipFill>
            <p:spPr>
              <a:xfrm>
                <a:off x="7200034" y="5706823"/>
                <a:ext cx="612797" cy="257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632"/>
                                        </p:tgtEl>
                                        <p:attrNameLst>
                                          <p:attrName>style.visibility</p:attrName>
                                        </p:attrNameLst>
                                      </p:cBhvr>
                                      <p:to>
                                        <p:strVal val="visible"/>
                                      </p:to>
                                    </p:set>
                                    <p:animEffect transition="in" filter="checkerboard(across)">
                                      <p:cBhvr>
                                        <p:cTn id="7" dur="500"/>
                                        <p:tgtEl>
                                          <p:spTgt spid="256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5633"/>
                                        </p:tgtEl>
                                        <p:attrNameLst>
                                          <p:attrName>style.visibility</p:attrName>
                                        </p:attrNameLst>
                                      </p:cBhvr>
                                      <p:to>
                                        <p:strVal val="visible"/>
                                      </p:to>
                                    </p:set>
                                    <p:anim calcmode="lin" valueType="num">
                                      <p:cBhvr additive="base">
                                        <p:cTn id="12" dur="500" fill="hold"/>
                                        <p:tgtEl>
                                          <p:spTgt spid="25633"/>
                                        </p:tgtEl>
                                        <p:attrNameLst>
                                          <p:attrName>ppt_x</p:attrName>
                                        </p:attrNameLst>
                                      </p:cBhvr>
                                      <p:tavLst>
                                        <p:tav tm="0">
                                          <p:val>
                                            <p:strVal val="#ppt_x"/>
                                          </p:val>
                                        </p:tav>
                                        <p:tav tm="100000">
                                          <p:val>
                                            <p:strVal val="#ppt_x"/>
                                          </p:val>
                                        </p:tav>
                                      </p:tavLst>
                                    </p:anim>
                                    <p:anim calcmode="lin" valueType="num">
                                      <p:cBhvr additive="base">
                                        <p:cTn id="13" dur="500" fill="hold"/>
                                        <p:tgtEl>
                                          <p:spTgt spid="256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6"/>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2B5E4D69-8010-43FC-9072-61535CE2F5A7}" type="slidenum">
              <a:rPr lang="en-US" altLang="en-US" sz="1000">
                <a:solidFill>
                  <a:schemeClr val="bg1"/>
                </a:solidFill>
                <a:latin typeface="Arial" pitchFamily="34" charset="0"/>
              </a:rPr>
              <a:pPr/>
              <a:t>9</a:t>
            </a:fld>
            <a:endParaRPr lang="en-US" altLang="en-US" sz="1000">
              <a:solidFill>
                <a:schemeClr val="bg1"/>
              </a:solidFill>
              <a:latin typeface="Arial" pitchFamily="34" charset="0"/>
            </a:endParaRPr>
          </a:p>
        </p:txBody>
      </p:sp>
      <p:sp>
        <p:nvSpPr>
          <p:cNvPr id="9220" name="Rectangle 2"/>
          <p:cNvSpPr>
            <a:spLocks noGrp="1" noChangeArrowheads="1"/>
          </p:cNvSpPr>
          <p:nvPr>
            <p:ph type="title"/>
          </p:nvPr>
        </p:nvSpPr>
        <p:spPr>
          <a:xfrm>
            <a:off x="2927648" y="274292"/>
            <a:ext cx="6418262" cy="706437"/>
          </a:xfrm>
        </p:spPr>
        <p:txBody>
          <a:bodyPr/>
          <a:lstStyle/>
          <a:p>
            <a:pPr eaLnBrk="1" hangingPunct="1">
              <a:defRPr/>
            </a:pPr>
            <a:r>
              <a:rPr lang="en-US" sz="4000" b="1" dirty="0">
                <a:ea typeface="ＭＳ Ｐゴシック" charset="0"/>
                <a:cs typeface="+mj-cs"/>
              </a:rPr>
              <a:t>Example</a:t>
            </a:r>
          </a:p>
        </p:txBody>
      </p:sp>
      <p:graphicFrame>
        <p:nvGraphicFramePr>
          <p:cNvPr id="122951" name="Group 71"/>
          <p:cNvGraphicFramePr>
            <a:graphicFrameLocks noGrp="1"/>
          </p:cNvGraphicFramePr>
          <p:nvPr>
            <p:ph sz="half" idx="1"/>
          </p:nvPr>
        </p:nvGraphicFramePr>
        <p:xfrm>
          <a:off x="3291071" y="1988840"/>
          <a:ext cx="5370513" cy="3656484"/>
        </p:xfrm>
        <a:graphic>
          <a:graphicData uri="http://schemas.openxmlformats.org/drawingml/2006/table">
            <a:tbl>
              <a:tblPr/>
              <a:tblGrid>
                <a:gridCol w="2684463">
                  <a:extLst>
                    <a:ext uri="{9D8B030D-6E8A-4147-A177-3AD203B41FA5}">
                      <a16:colId xmlns:a16="http://schemas.microsoft.com/office/drawing/2014/main" val="20000"/>
                    </a:ext>
                  </a:extLst>
                </a:gridCol>
                <a:gridCol w="2686050">
                  <a:extLst>
                    <a:ext uri="{9D8B030D-6E8A-4147-A177-3AD203B41FA5}">
                      <a16:colId xmlns:a16="http://schemas.microsoft.com/office/drawing/2014/main" val="20001"/>
                    </a:ext>
                  </a:extLst>
                </a:gridCol>
              </a:tblGrid>
              <a:tr h="559891">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Class interval</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ea typeface="MS PGothic" pitchFamily="34" charset="-128"/>
                        </a:rPr>
                        <a:t>Frequency</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93938">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40.5 – 45.5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45.5 – 50.5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50.5 – 55.5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55.5 – 60.5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60.5 – 65.5</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15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12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6</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ea typeface="MS PGothic" pitchFamily="34" charset="-128"/>
                        </a:rPr>
                        <a:t>Total </a:t>
                      </a: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ea typeface="MS PGothic" pitchFamily="34" charset="-128"/>
                        </a:rPr>
                        <a:t>50</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6641" name="TextBox 1"/>
          <p:cNvSpPr txBox="1">
            <a:spLocks noChangeArrowheads="1"/>
          </p:cNvSpPr>
          <p:nvPr/>
        </p:nvSpPr>
        <p:spPr bwMode="auto">
          <a:xfrm>
            <a:off x="2208213" y="1311275"/>
            <a:ext cx="64533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r>
              <a:rPr lang="en-US" altLang="en-US" sz="2800" dirty="0"/>
              <a:t>Find the mean value for the following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7"/>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2DEF9F79-50ED-4B70-B56B-A66C0E114692}" type="slidenum">
              <a:rPr lang="en-US" altLang="en-US" sz="1000">
                <a:solidFill>
                  <a:schemeClr val="bg1"/>
                </a:solidFill>
                <a:latin typeface="Arial" pitchFamily="34" charset="0"/>
              </a:rPr>
              <a:pPr/>
              <a:t>10</a:t>
            </a:fld>
            <a:endParaRPr lang="en-US" altLang="en-US" sz="1000">
              <a:solidFill>
                <a:schemeClr val="bg1"/>
              </a:solidFill>
              <a:latin typeface="Arial" pitchFamily="34" charset="0"/>
            </a:endParaRPr>
          </a:p>
        </p:txBody>
      </p:sp>
      <p:sp>
        <p:nvSpPr>
          <p:cNvPr id="10244" name="Rectangle 5"/>
          <p:cNvSpPr>
            <a:spLocks noGrp="1" noChangeArrowheads="1"/>
          </p:cNvSpPr>
          <p:nvPr>
            <p:ph type="title"/>
          </p:nvPr>
        </p:nvSpPr>
        <p:spPr>
          <a:xfrm>
            <a:off x="3503712" y="260648"/>
            <a:ext cx="5181600" cy="685800"/>
          </a:xfrm>
        </p:spPr>
        <p:txBody>
          <a:bodyPr/>
          <a:lstStyle/>
          <a:p>
            <a:pPr eaLnBrk="1" hangingPunct="1">
              <a:defRPr/>
            </a:pPr>
            <a:r>
              <a:rPr lang="en-US" sz="4000" b="1" dirty="0">
                <a:ea typeface="ＭＳ Ｐゴシック" charset="0"/>
                <a:cs typeface="+mj-cs"/>
              </a:rPr>
              <a:t>Example</a:t>
            </a:r>
          </a:p>
        </p:txBody>
      </p:sp>
      <p:graphicFrame>
        <p:nvGraphicFramePr>
          <p:cNvPr id="27651" name="Object 8"/>
          <p:cNvGraphicFramePr>
            <a:graphicFrameLocks noGrp="1" noChangeAspect="1"/>
          </p:cNvGraphicFramePr>
          <p:nvPr>
            <p:ph sz="quarter" idx="2"/>
          </p:nvPr>
        </p:nvGraphicFramePr>
        <p:xfrm>
          <a:off x="4495801" y="4648201"/>
          <a:ext cx="3190875" cy="1216025"/>
        </p:xfrm>
        <a:graphic>
          <a:graphicData uri="http://schemas.openxmlformats.org/presentationml/2006/ole">
            <mc:AlternateContent xmlns:mc="http://schemas.openxmlformats.org/markup-compatibility/2006">
              <mc:Choice xmlns:v="urn:schemas-microsoft-com:vml" Requires="v">
                <p:oleObj name="Equation" r:id="rId2" imgW="1600200" imgH="609600" progId="Equation.3">
                  <p:embed/>
                </p:oleObj>
              </mc:Choice>
              <mc:Fallback>
                <p:oleObj name="Equation" r:id="rId2" imgW="1600200" imgH="609600" progId="Equation.3">
                  <p:embed/>
                  <p:pic>
                    <p:nvPicPr>
                      <p:cNvPr id="27651" name="Object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1" y="4648201"/>
                        <a:ext cx="3190875" cy="1216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5267" name="Group 99"/>
          <p:cNvGraphicFramePr>
            <a:graphicFrameLocks noGrp="1"/>
          </p:cNvGraphicFramePr>
          <p:nvPr>
            <p:ph sz="quarter" idx="3"/>
          </p:nvPr>
        </p:nvGraphicFramePr>
        <p:xfrm>
          <a:off x="2057400" y="1752600"/>
          <a:ext cx="8305800" cy="2722850"/>
        </p:xfrm>
        <a:graphic>
          <a:graphicData uri="http://schemas.openxmlformats.org/drawingml/2006/table">
            <a:tbl>
              <a:tblPr/>
              <a:tblGrid>
                <a:gridCol w="19812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46672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Class interval</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Midpoint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Frequency</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1" u="none" strike="noStrike" cap="none" normalizeH="0" baseline="0">
                          <a:ln>
                            <a:noFill/>
                          </a:ln>
                          <a:solidFill>
                            <a:schemeClr val="tx1"/>
                          </a:solidFill>
                          <a:effectLst/>
                          <a:latin typeface="+mn-lt"/>
                          <a:ea typeface="MS PGothic" pitchFamily="34" charset="-128"/>
                        </a:rPr>
                        <a:t>f</a:t>
                      </a:r>
                      <a:r>
                        <a:rPr kumimoji="0" lang="en-US" altLang="en-US" sz="2000" b="0" i="1" u="none" strike="noStrike" cap="none" normalizeH="0" baseline="-25000">
                          <a:ln>
                            <a:noFill/>
                          </a:ln>
                          <a:solidFill>
                            <a:schemeClr val="tx1"/>
                          </a:solidFill>
                          <a:effectLst/>
                          <a:latin typeface="+mn-lt"/>
                          <a:ea typeface="MS PGothic" pitchFamily="34" charset="-128"/>
                        </a:rPr>
                        <a:t>i</a:t>
                      </a:r>
                      <a:r>
                        <a:rPr kumimoji="0" lang="en-US" altLang="en-US" sz="2000" b="0" i="1" u="none" strike="noStrike" cap="none" normalizeH="0" baseline="0">
                          <a:ln>
                            <a:noFill/>
                          </a:ln>
                          <a:solidFill>
                            <a:schemeClr val="tx1"/>
                          </a:solidFill>
                          <a:effectLst/>
                          <a:latin typeface="+mn-lt"/>
                          <a:ea typeface="MS PGothic" pitchFamily="34" charset="-128"/>
                        </a:rPr>
                        <a:t>X</a:t>
                      </a:r>
                      <a:r>
                        <a:rPr kumimoji="0" lang="en-US" altLang="en-US" sz="2000" b="0" i="1" u="none" strike="noStrike" cap="none" normalizeH="0" baseline="-25000">
                          <a:ln>
                            <a:noFill/>
                          </a:ln>
                          <a:solidFill>
                            <a:schemeClr val="tx1"/>
                          </a:solidFill>
                          <a:effectLst/>
                          <a:latin typeface="+mn-lt"/>
                          <a:ea typeface="MS PGothic" pitchFamily="34" charset="-128"/>
                        </a:rPr>
                        <a:t>i</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58963">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40.5 – 45.5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45.5 – 50.5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50.5 – 55.5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55.5 – 60.5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60.5 – 65.5</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(40.5 + 45.5) </a:t>
                      </a:r>
                      <a:r>
                        <a:rPr kumimoji="0" lang="en-US" altLang="en-US" sz="2000" b="0" i="0" u="none" strike="noStrike" cap="none" normalizeH="0" baseline="0" dirty="0">
                          <a:ln>
                            <a:noFill/>
                          </a:ln>
                          <a:solidFill>
                            <a:schemeClr val="tx1"/>
                          </a:solidFill>
                          <a:effectLst/>
                          <a:latin typeface="+mn-lt"/>
                          <a:ea typeface="MS PGothic" pitchFamily="34" charset="-128"/>
                          <a:sym typeface="Symbol" pitchFamily="18" charset="2"/>
                        </a:rPr>
                        <a:t> 2 </a:t>
                      </a:r>
                      <a:r>
                        <a:rPr kumimoji="0" lang="en-US" altLang="en-US" sz="2000" b="0" i="0" u="none" strike="noStrike" cap="none" normalizeH="0" baseline="0" dirty="0">
                          <a:ln>
                            <a:noFill/>
                          </a:ln>
                          <a:solidFill>
                            <a:schemeClr val="tx1"/>
                          </a:solidFill>
                          <a:effectLst/>
                          <a:latin typeface="+mn-lt"/>
                          <a:ea typeface="MS PGothic" pitchFamily="34" charset="-128"/>
                        </a:rPr>
                        <a:t>= 43</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53</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58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63</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15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12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6</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43 x 7 = 301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480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795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696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378</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Total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mn-lt"/>
                        <a:ea typeface="MS PGothic" pitchFamily="34" charset="-128"/>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50</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2650</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DA32F31-ABC4-52D9-D7F9-EA8D4B9A01FE}"/>
                  </a:ext>
                </a:extLst>
              </p14:cNvPr>
              <p14:cNvContentPartPr/>
              <p14:nvPr/>
            </p14:nvContentPartPr>
            <p14:xfrm>
              <a:off x="7352713" y="5401903"/>
              <a:ext cx="334440" cy="16560"/>
            </p14:xfrm>
          </p:contentPart>
        </mc:Choice>
        <mc:Fallback xmlns="">
          <p:pic>
            <p:nvPicPr>
              <p:cNvPr id="2" name="Ink 1">
                <a:extLst>
                  <a:ext uri="{FF2B5EF4-FFF2-40B4-BE49-F238E27FC236}">
                    <a16:creationId xmlns:a16="http://schemas.microsoft.com/office/drawing/2014/main" id="{CDA32F31-ABC4-52D9-D7F9-EA8D4B9A01FE}"/>
                  </a:ext>
                </a:extLst>
              </p:cNvPr>
              <p:cNvPicPr/>
              <p:nvPr/>
            </p:nvPicPr>
            <p:blipFill>
              <a:blip r:embed="rId5"/>
              <a:stretch>
                <a:fillRect/>
              </a:stretch>
            </p:blipFill>
            <p:spPr>
              <a:xfrm>
                <a:off x="7298713" y="5293903"/>
                <a:ext cx="44208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B743880-CDCF-56EB-3BB8-89FF63BD9A86}"/>
                  </a:ext>
                </a:extLst>
              </p14:cNvPr>
              <p14:cNvContentPartPr/>
              <p14:nvPr/>
            </p14:nvContentPartPr>
            <p14:xfrm>
              <a:off x="7330753" y="5546263"/>
              <a:ext cx="438840" cy="13320"/>
            </p14:xfrm>
          </p:contentPart>
        </mc:Choice>
        <mc:Fallback xmlns="">
          <p:pic>
            <p:nvPicPr>
              <p:cNvPr id="3" name="Ink 2">
                <a:extLst>
                  <a:ext uri="{FF2B5EF4-FFF2-40B4-BE49-F238E27FC236}">
                    <a16:creationId xmlns:a16="http://schemas.microsoft.com/office/drawing/2014/main" id="{2B743880-CDCF-56EB-3BB8-89FF63BD9A86}"/>
                  </a:ext>
                </a:extLst>
              </p:cNvPr>
              <p:cNvPicPr/>
              <p:nvPr/>
            </p:nvPicPr>
            <p:blipFill>
              <a:blip r:embed="rId7"/>
              <a:stretch>
                <a:fillRect/>
              </a:stretch>
            </p:blipFill>
            <p:spPr>
              <a:xfrm>
                <a:off x="7276753" y="5438263"/>
                <a:ext cx="546480" cy="2289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5"/>
          <p:cNvSpPr>
            <a:spLocks noGrp="1"/>
          </p:cNvSpPr>
          <p:nvPr>
            <p:ph type="sldNum" sz="quarter" idx="12"/>
          </p:nvPr>
        </p:nvSpPr>
        <p:spPr bwMode="auto">
          <a:xfrm>
            <a:off x="5735638" y="6519864"/>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4A8EAA77-DC57-40FB-A6EE-E5718FC64289}" type="slidenum">
              <a:rPr lang="en-US" altLang="en-US" sz="1000">
                <a:solidFill>
                  <a:schemeClr val="bg1"/>
                </a:solidFill>
                <a:latin typeface="Arial" pitchFamily="34" charset="0"/>
              </a:rPr>
              <a:pPr/>
              <a:t>11</a:t>
            </a:fld>
            <a:endParaRPr lang="en-US" altLang="en-US" sz="1000">
              <a:solidFill>
                <a:schemeClr val="bg1"/>
              </a:solidFill>
              <a:latin typeface="Arial" pitchFamily="34" charset="0"/>
            </a:endParaRPr>
          </a:p>
        </p:txBody>
      </p:sp>
      <p:sp>
        <p:nvSpPr>
          <p:cNvPr id="11268"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Median</a:t>
            </a:r>
          </a:p>
        </p:txBody>
      </p:sp>
      <p:sp>
        <p:nvSpPr>
          <p:cNvPr id="28675" name="Rectangle 3"/>
          <p:cNvSpPr>
            <a:spLocks noGrp="1" noChangeArrowheads="1"/>
          </p:cNvSpPr>
          <p:nvPr>
            <p:ph type="body" idx="1"/>
          </p:nvPr>
        </p:nvSpPr>
        <p:spPr>
          <a:xfrm>
            <a:off x="1847850" y="1341438"/>
            <a:ext cx="8229600" cy="4525962"/>
          </a:xfrm>
        </p:spPr>
        <p:txBody>
          <a:bodyPr/>
          <a:lstStyle/>
          <a:p>
            <a:pPr algn="just" eaLnBrk="1" hangingPunct="1">
              <a:lnSpc>
                <a:spcPct val="120000"/>
              </a:lnSpc>
            </a:pPr>
            <a:r>
              <a:rPr lang="en-US" altLang="en-US" sz="2800" dirty="0"/>
              <a:t>The median is the </a:t>
            </a:r>
            <a:r>
              <a:rPr lang="en-US" altLang="en-US" sz="2800" b="1" dirty="0"/>
              <a:t>middle</a:t>
            </a:r>
            <a:r>
              <a:rPr lang="en-US" altLang="en-US" sz="2800" dirty="0"/>
              <a:t> value when the data are arranged from smallest to largest. </a:t>
            </a:r>
          </a:p>
          <a:p>
            <a:pPr algn="just" eaLnBrk="1" hangingPunct="1">
              <a:lnSpc>
                <a:spcPct val="120000"/>
              </a:lnSpc>
            </a:pPr>
            <a:r>
              <a:rPr lang="en-US" altLang="en-US" sz="2800" dirty="0"/>
              <a:t>To find the median, your numbers must be listed in an order, so you may have to rewrite your list first. </a:t>
            </a:r>
          </a:p>
          <a:p>
            <a:pPr algn="just" eaLnBrk="1" hangingPunct="1">
              <a:lnSpc>
                <a:spcPct val="120000"/>
              </a:lnSpc>
            </a:pPr>
            <a:r>
              <a:rPr lang="en-US" altLang="en-US" sz="2800" dirty="0"/>
              <a:t>For an </a:t>
            </a:r>
            <a:r>
              <a:rPr lang="en-US" altLang="en-US" sz="2800" b="1" dirty="0"/>
              <a:t>odd</a:t>
            </a:r>
            <a:r>
              <a:rPr lang="en-US" altLang="en-US" sz="2800" dirty="0"/>
              <a:t> number of observations, the formula for the place to find the median is </a:t>
            </a:r>
          </a:p>
          <a:p>
            <a:pPr algn="just" eaLnBrk="1" hangingPunct="1">
              <a:lnSpc>
                <a:spcPct val="120000"/>
              </a:lnSpc>
              <a:buFontTx/>
              <a:buNone/>
            </a:pPr>
            <a:r>
              <a:rPr lang="en-US" altLang="en-US" sz="2800" dirty="0"/>
              <a:t>	    </a:t>
            </a:r>
            <a:r>
              <a:rPr lang="en-US" altLang="en-US" sz="2800" b="1" dirty="0"/>
              <a:t>([the number of data points] + 1) ÷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1E1AF2CE-9CAE-45DB-9029-63485B21FB25}" type="slidenum">
              <a:rPr lang="en-US" altLang="en-US" sz="1000">
                <a:solidFill>
                  <a:schemeClr val="bg1"/>
                </a:solidFill>
                <a:latin typeface="Arial" pitchFamily="34" charset="0"/>
              </a:rPr>
              <a:pPr/>
              <a:t>12</a:t>
            </a:fld>
            <a:endParaRPr lang="en-US" altLang="en-US" sz="1000">
              <a:solidFill>
                <a:schemeClr val="bg1"/>
              </a:solidFill>
              <a:latin typeface="Arial" pitchFamily="34" charset="0"/>
            </a:endParaRPr>
          </a:p>
        </p:txBody>
      </p:sp>
      <p:sp>
        <p:nvSpPr>
          <p:cNvPr id="12292" name="Rectangle 2"/>
          <p:cNvSpPr>
            <a:spLocks noGrp="1" noChangeArrowheads="1"/>
          </p:cNvSpPr>
          <p:nvPr>
            <p:ph type="title"/>
          </p:nvPr>
        </p:nvSpPr>
        <p:spPr>
          <a:xfrm>
            <a:off x="2999656" y="274862"/>
            <a:ext cx="6202362" cy="777875"/>
          </a:xfrm>
        </p:spPr>
        <p:txBody>
          <a:bodyPr/>
          <a:lstStyle/>
          <a:p>
            <a:pPr eaLnBrk="1" hangingPunct="1">
              <a:defRPr/>
            </a:pPr>
            <a:r>
              <a:rPr lang="en-US" sz="4000" b="1" dirty="0">
                <a:ea typeface="ＭＳ Ｐゴシック" charset="0"/>
                <a:cs typeface="+mj-cs"/>
              </a:rPr>
              <a:t>Example</a:t>
            </a:r>
          </a:p>
        </p:txBody>
      </p:sp>
      <p:sp>
        <p:nvSpPr>
          <p:cNvPr id="29699" name="Rectangle 3"/>
          <p:cNvSpPr>
            <a:spLocks noGrp="1" noChangeArrowheads="1"/>
          </p:cNvSpPr>
          <p:nvPr>
            <p:ph type="body" idx="1"/>
          </p:nvPr>
        </p:nvSpPr>
        <p:spPr>
          <a:xfrm>
            <a:off x="1847529" y="1556792"/>
            <a:ext cx="8569325" cy="4525962"/>
          </a:xfrm>
        </p:spPr>
        <p:txBody>
          <a:bodyPr/>
          <a:lstStyle/>
          <a:p>
            <a:pPr algn="just" eaLnBrk="1" hangingPunct="1"/>
            <a:r>
              <a:rPr lang="en-US" altLang="en-US" sz="2800" dirty="0"/>
              <a:t>Data: </a:t>
            </a:r>
            <a:r>
              <a:rPr lang="en-US" altLang="en-US" sz="2800" b="1" dirty="0"/>
              <a:t>13, 18, 13, 14, 13, 16, 14, 21, 13</a:t>
            </a:r>
          </a:p>
          <a:p>
            <a:pPr algn="just" eaLnBrk="1" hangingPunct="1"/>
            <a:endParaRPr lang="en-US" altLang="en-US" sz="2800" dirty="0"/>
          </a:p>
          <a:p>
            <a:pPr algn="just" eaLnBrk="1" hangingPunct="1"/>
            <a:r>
              <a:rPr lang="en-US" altLang="en-US" sz="2800" dirty="0"/>
              <a:t>Arrange in order: </a:t>
            </a:r>
            <a:r>
              <a:rPr lang="en-US" altLang="en-US" sz="2800" b="1" dirty="0"/>
              <a:t>13, 13, 13, 13, </a:t>
            </a:r>
            <a:r>
              <a:rPr lang="en-US" altLang="en-US" sz="2800" b="1" dirty="0">
                <a:solidFill>
                  <a:srgbClr val="CC3300"/>
                </a:solidFill>
              </a:rPr>
              <a:t>14</a:t>
            </a:r>
            <a:r>
              <a:rPr lang="en-US" altLang="en-US" sz="2800" b="1" dirty="0"/>
              <a:t>, 14, 16, 18, 21</a:t>
            </a:r>
          </a:p>
          <a:p>
            <a:pPr algn="just" eaLnBrk="1" hangingPunct="1"/>
            <a:endParaRPr lang="en-US" altLang="en-US" sz="2800" dirty="0"/>
          </a:p>
          <a:p>
            <a:pPr algn="just" eaLnBrk="1" hangingPunct="1"/>
            <a:r>
              <a:rPr lang="en-US" altLang="en-US" sz="2800" dirty="0"/>
              <a:t>There are </a:t>
            </a:r>
            <a:r>
              <a:rPr lang="en-US" altLang="en-US" sz="2800" b="1" dirty="0"/>
              <a:t>nine</a:t>
            </a:r>
            <a:r>
              <a:rPr lang="en-US" altLang="en-US" sz="2800" dirty="0"/>
              <a:t> numbers in the list, so, the middle one will be the </a:t>
            </a:r>
            <a:r>
              <a:rPr lang="en-US" altLang="en-US" sz="2800" b="1" dirty="0"/>
              <a:t>(9 + 1) ÷ 2 = 10 ÷ 2 = 5</a:t>
            </a:r>
            <a:r>
              <a:rPr lang="en-US" altLang="en-US" sz="2800" b="1" baseline="30000" dirty="0"/>
              <a:t>th</a:t>
            </a:r>
            <a:r>
              <a:rPr lang="en-US" altLang="en-US" sz="2800" dirty="0"/>
              <a:t> number.</a:t>
            </a:r>
          </a:p>
          <a:p>
            <a:pPr algn="just" eaLnBrk="1" hangingPunct="1"/>
            <a:endParaRPr lang="en-US" altLang="en-US" sz="2800" dirty="0"/>
          </a:p>
          <a:p>
            <a:pPr algn="just" eaLnBrk="1" hangingPunct="1"/>
            <a:r>
              <a:rPr lang="en-US" altLang="en-US" sz="2800" dirty="0"/>
              <a:t>So, the </a:t>
            </a:r>
            <a:r>
              <a:rPr lang="en-US" altLang="en-US" sz="2800" b="1" dirty="0"/>
              <a:t>median is 14</a:t>
            </a:r>
            <a:r>
              <a:rPr lang="en-US" altLang="en-US" sz="28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CF8CC0AC-8CD2-461F-8FD8-A102EB3A6F75}" type="slidenum">
              <a:rPr lang="en-US" altLang="en-US" sz="1000">
                <a:solidFill>
                  <a:schemeClr val="bg1"/>
                </a:solidFill>
                <a:latin typeface="Arial" pitchFamily="34" charset="0"/>
              </a:rPr>
              <a:pPr/>
              <a:t>13</a:t>
            </a:fld>
            <a:endParaRPr lang="en-US" altLang="en-US" sz="1000">
              <a:solidFill>
                <a:schemeClr val="bg1"/>
              </a:solidFill>
              <a:latin typeface="Arial" pitchFamily="34" charset="0"/>
            </a:endParaRPr>
          </a:p>
        </p:txBody>
      </p:sp>
      <p:sp>
        <p:nvSpPr>
          <p:cNvPr id="30722" name="Rectangle 3"/>
          <p:cNvSpPr>
            <a:spLocks noGrp="1" noChangeArrowheads="1"/>
          </p:cNvSpPr>
          <p:nvPr>
            <p:ph type="body" idx="1"/>
          </p:nvPr>
        </p:nvSpPr>
        <p:spPr>
          <a:xfrm>
            <a:off x="1981200" y="1125538"/>
            <a:ext cx="8229600" cy="4525962"/>
          </a:xfrm>
        </p:spPr>
        <p:txBody>
          <a:bodyPr/>
          <a:lstStyle/>
          <a:p>
            <a:pPr algn="just" eaLnBrk="1" hangingPunct="1"/>
            <a:r>
              <a:rPr lang="en-US" altLang="en-US" sz="2800" dirty="0"/>
              <a:t>For an </a:t>
            </a:r>
            <a:r>
              <a:rPr lang="en-US" altLang="en-US" sz="2800" b="1" dirty="0"/>
              <a:t>even number of observations</a:t>
            </a:r>
            <a:r>
              <a:rPr lang="en-US" altLang="en-US" sz="2800" dirty="0"/>
              <a:t>, the median is the mean of the</a:t>
            </a:r>
            <a:r>
              <a:rPr lang="en-US" altLang="en-US" sz="2800" b="1" dirty="0"/>
              <a:t> two middle number</a:t>
            </a:r>
            <a:r>
              <a:rPr lang="en-US" altLang="en-US" sz="2800" dirty="0"/>
              <a:t>s.</a:t>
            </a:r>
          </a:p>
          <a:p>
            <a:pPr algn="just" eaLnBrk="1" hangingPunct="1"/>
            <a:endParaRPr lang="en-US" altLang="en-US" sz="2800" dirty="0"/>
          </a:p>
          <a:p>
            <a:pPr algn="just" eaLnBrk="1" hangingPunct="1"/>
            <a:r>
              <a:rPr lang="en-US" altLang="en-US" sz="2800" dirty="0"/>
              <a:t>Example:</a:t>
            </a:r>
          </a:p>
          <a:p>
            <a:pPr algn="just" eaLnBrk="1" hangingPunct="1">
              <a:buFontTx/>
              <a:buNone/>
            </a:pPr>
            <a:endParaRPr lang="en-US" altLang="en-US" sz="2800" dirty="0"/>
          </a:p>
          <a:p>
            <a:pPr algn="just" eaLnBrk="1" hangingPunct="1">
              <a:buFontTx/>
              <a:buNone/>
            </a:pPr>
            <a:r>
              <a:rPr lang="en-US" altLang="en-US" sz="2800" dirty="0"/>
              <a:t>		</a:t>
            </a:r>
            <a:r>
              <a:rPr lang="en-US" altLang="en-US" sz="2800" b="1" dirty="0"/>
              <a:t>2,  3,  3,  </a:t>
            </a:r>
            <a:r>
              <a:rPr lang="en-US" altLang="en-US" sz="2800" b="1" dirty="0">
                <a:solidFill>
                  <a:srgbClr val="FF0000"/>
                </a:solidFill>
              </a:rPr>
              <a:t>5,  6,</a:t>
            </a:r>
            <a:r>
              <a:rPr lang="en-US" altLang="en-US" sz="2800" b="1" dirty="0"/>
              <a:t>  7, 8,  9</a:t>
            </a:r>
          </a:p>
          <a:p>
            <a:pPr algn="just" eaLnBrk="1" hangingPunct="1">
              <a:buFontTx/>
              <a:buNone/>
            </a:pPr>
            <a:endParaRPr lang="en-US" altLang="en-US" sz="2800" dirty="0"/>
          </a:p>
          <a:p>
            <a:pPr algn="just" eaLnBrk="1" hangingPunct="1">
              <a:buFontTx/>
              <a:buNone/>
            </a:pPr>
            <a:r>
              <a:rPr lang="en-US" altLang="en-US" sz="2800" dirty="0"/>
              <a:t>			(5 + 6) ÷ 2 = </a:t>
            </a:r>
            <a:r>
              <a:rPr lang="en-US" altLang="en-US" sz="2800" b="1" dirty="0"/>
              <a:t>5.5   (median)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5"/>
          <p:cNvSpPr>
            <a:spLocks noGrp="1"/>
          </p:cNvSpPr>
          <p:nvPr>
            <p:ph type="sldNum" sz="quarter" idx="12"/>
          </p:nvPr>
        </p:nvSpPr>
        <p:spPr bwMode="auto">
          <a:xfrm>
            <a:off x="5808664" y="6524626"/>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3B279502-237C-48E5-B412-9252D07628E2}" type="slidenum">
              <a:rPr lang="en-US" altLang="en-US" sz="1000">
                <a:solidFill>
                  <a:schemeClr val="bg1"/>
                </a:solidFill>
                <a:latin typeface="Arial" pitchFamily="34" charset="0"/>
              </a:rPr>
              <a:pPr/>
              <a:t>14</a:t>
            </a:fld>
            <a:endParaRPr lang="en-US" altLang="en-US" sz="1000">
              <a:solidFill>
                <a:schemeClr val="bg1"/>
              </a:solidFill>
              <a:latin typeface="Arial" pitchFamily="34" charset="0"/>
            </a:endParaRPr>
          </a:p>
        </p:txBody>
      </p:sp>
      <p:sp>
        <p:nvSpPr>
          <p:cNvPr id="31746" name="Rectangle 3"/>
          <p:cNvSpPr>
            <a:spLocks noGrp="1" noChangeArrowheads="1"/>
          </p:cNvSpPr>
          <p:nvPr>
            <p:ph type="body" idx="1"/>
          </p:nvPr>
        </p:nvSpPr>
        <p:spPr>
          <a:xfrm>
            <a:off x="1919288" y="1125538"/>
            <a:ext cx="8424862" cy="5256212"/>
          </a:xfrm>
        </p:spPr>
        <p:txBody>
          <a:bodyPr/>
          <a:lstStyle/>
          <a:p>
            <a:pPr algn="just" eaLnBrk="1" hangingPunct="1"/>
            <a:r>
              <a:rPr lang="en-US" altLang="en-US" sz="2800" dirty="0"/>
              <a:t>The median is meaningful for ratio, interval, and ordinal data.</a:t>
            </a:r>
          </a:p>
          <a:p>
            <a:pPr algn="just" eaLnBrk="1" hangingPunct="1"/>
            <a:r>
              <a:rPr lang="en-US" altLang="en-US" sz="2800" dirty="0"/>
              <a:t>The median is not affected by outliers.</a:t>
            </a:r>
          </a:p>
          <a:p>
            <a:pPr algn="just" eaLnBrk="1" hangingPunct="1"/>
            <a:endParaRPr lang="en-US" altLang="en-US" sz="2800" dirty="0"/>
          </a:p>
          <a:p>
            <a:pPr algn="just" eaLnBrk="1" hangingPunct="1"/>
            <a:r>
              <a:rPr lang="en-US" altLang="en-US" sz="2800" dirty="0"/>
              <a:t>Example:  </a:t>
            </a:r>
            <a:r>
              <a:rPr lang="en-US" altLang="en-US" sz="2800" b="1" dirty="0"/>
              <a:t>3, 4, 6, 4, 7, 3, 6, 5,</a:t>
            </a:r>
            <a:r>
              <a:rPr lang="en-US" altLang="en-US" sz="2800" dirty="0"/>
              <a:t> </a:t>
            </a:r>
            <a:r>
              <a:rPr lang="en-US" altLang="en-US" sz="2800" b="1" dirty="0">
                <a:solidFill>
                  <a:srgbClr val="FF0000"/>
                </a:solidFill>
              </a:rPr>
              <a:t>1500</a:t>
            </a:r>
          </a:p>
          <a:p>
            <a:pPr algn="just" eaLnBrk="1" hangingPunct="1">
              <a:buFontTx/>
              <a:buNone/>
            </a:pPr>
            <a:r>
              <a:rPr lang="en-US" altLang="en-US" sz="2800" b="1" dirty="0"/>
              <a:t>          </a:t>
            </a:r>
            <a:r>
              <a:rPr lang="en-US" altLang="en-US" sz="2800" dirty="0"/>
              <a:t> (sort)  ↓</a:t>
            </a:r>
          </a:p>
          <a:p>
            <a:pPr algn="just" eaLnBrk="1" hangingPunct="1">
              <a:buFontTx/>
              <a:buNone/>
            </a:pPr>
            <a:r>
              <a:rPr lang="en-US" altLang="en-US" sz="2800" b="1" dirty="0"/>
              <a:t>			</a:t>
            </a:r>
            <a:r>
              <a:rPr lang="en-US" altLang="en-US" sz="2800" dirty="0"/>
              <a:t>3, 3, 4, 4, </a:t>
            </a:r>
            <a:r>
              <a:rPr lang="en-US" altLang="en-US" sz="2800" b="1" dirty="0"/>
              <a:t>5</a:t>
            </a:r>
            <a:r>
              <a:rPr lang="en-US" altLang="en-US" sz="2800" dirty="0"/>
              <a:t>, 6, 6, 7, 1500</a:t>
            </a:r>
          </a:p>
          <a:p>
            <a:pPr algn="just" eaLnBrk="1" hangingPunct="1">
              <a:buFontTx/>
              <a:buNone/>
            </a:pPr>
            <a:endParaRPr lang="en-US" altLang="en-US" sz="2800" b="1" dirty="0"/>
          </a:p>
          <a:p>
            <a:pPr algn="just" eaLnBrk="1" hangingPunct="1"/>
            <a:r>
              <a:rPr lang="en-US" altLang="en-US" sz="2800" dirty="0"/>
              <a:t>Median: </a:t>
            </a:r>
            <a:r>
              <a:rPr lang="en-US" altLang="en-US" sz="2800" b="1" dirty="0"/>
              <a:t>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7"/>
          <p:cNvSpPr>
            <a:spLocks noGrp="1"/>
          </p:cNvSpPr>
          <p:nvPr>
            <p:ph type="sldNum" sz="quarter" idx="12"/>
          </p:nvPr>
        </p:nvSpPr>
        <p:spPr bwMode="auto">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itchFamily="34" charset="0"/>
                <a:ea typeface="MS PGothic" pitchFamily="34" charset="-128"/>
                <a:cs typeface="Arial" pitchFamily="34" charset="0"/>
              </a:defRPr>
            </a:lvl1pPr>
            <a:lvl2pPr marL="4572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a:lstStyle>
          <a:p>
            <a:fld id="{402BBDA9-0A90-4A65-BD1A-818FA3BF9AA2}" type="slidenum">
              <a:rPr lang="en-US" altLang="en-US" smtClean="0"/>
              <a:pPr/>
              <a:t>15</a:t>
            </a:fld>
            <a:endParaRPr lang="en-US" altLang="en-US" sz="1000">
              <a:solidFill>
                <a:schemeClr val="bg1"/>
              </a:solidFill>
              <a:latin typeface="Arial" pitchFamily="34" charset="0"/>
            </a:endParaRPr>
          </a:p>
        </p:txBody>
      </p:sp>
      <p:sp>
        <p:nvSpPr>
          <p:cNvPr id="15364"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Median of Grouped Data </a:t>
            </a:r>
          </a:p>
        </p:txBody>
      </p:sp>
      <p:sp>
        <p:nvSpPr>
          <p:cNvPr id="32771" name="Rectangle 3"/>
          <p:cNvSpPr>
            <a:spLocks noGrp="1" noChangeArrowheads="1"/>
          </p:cNvSpPr>
          <p:nvPr>
            <p:ph type="body" sz="half" idx="1"/>
          </p:nvPr>
        </p:nvSpPr>
        <p:spPr>
          <a:xfrm>
            <a:off x="1774825" y="1458912"/>
            <a:ext cx="8497888" cy="5399088"/>
          </a:xfrm>
        </p:spPr>
        <p:txBody>
          <a:bodyPr/>
          <a:lstStyle/>
          <a:p>
            <a:pPr marL="0" indent="0" eaLnBrk="1" hangingPunct="1">
              <a:lnSpc>
                <a:spcPct val="90000"/>
              </a:lnSpc>
              <a:buNone/>
            </a:pPr>
            <a:r>
              <a:rPr lang="en-US" altLang="en-US" sz="2800" dirty="0"/>
              <a:t>The median for the grouped data is given by</a:t>
            </a:r>
          </a:p>
          <a:p>
            <a:pPr eaLnBrk="1" hangingPunct="1">
              <a:lnSpc>
                <a:spcPct val="90000"/>
              </a:lnSpc>
            </a:pPr>
            <a:endParaRPr lang="en-US" altLang="en-US" sz="2800" dirty="0"/>
          </a:p>
          <a:p>
            <a:pPr eaLnBrk="1" hangingPunct="1">
              <a:lnSpc>
                <a:spcPct val="90000"/>
              </a:lnSpc>
            </a:pPr>
            <a:endParaRPr lang="en-US" altLang="en-US" sz="2000" dirty="0"/>
          </a:p>
          <a:p>
            <a:pPr eaLnBrk="1" hangingPunct="1">
              <a:lnSpc>
                <a:spcPct val="90000"/>
              </a:lnSpc>
              <a:buFontTx/>
              <a:buNone/>
            </a:pPr>
            <a:endParaRPr lang="en-US" altLang="en-US" sz="2000" dirty="0"/>
          </a:p>
          <a:p>
            <a:pPr eaLnBrk="1" hangingPunct="1">
              <a:lnSpc>
                <a:spcPct val="130000"/>
              </a:lnSpc>
              <a:buFont typeface="Arial" pitchFamily="34" charset="0"/>
              <a:buNone/>
            </a:pPr>
            <a:r>
              <a:rPr lang="en-US" altLang="en-US" sz="2000" dirty="0"/>
              <a:t>where, </a:t>
            </a:r>
          </a:p>
          <a:p>
            <a:pPr eaLnBrk="1" hangingPunct="1">
              <a:lnSpc>
                <a:spcPct val="130000"/>
              </a:lnSpc>
              <a:buFont typeface="Arial" pitchFamily="34" charset="0"/>
              <a:buNone/>
            </a:pPr>
            <a:r>
              <a:rPr lang="en-US" altLang="en-US" sz="2000" dirty="0"/>
              <a:t>      (</a:t>
            </a:r>
            <a:r>
              <a:rPr lang="en-US" altLang="en-US" sz="2000" dirty="0">
                <a:solidFill>
                  <a:srgbClr val="0000FF"/>
                </a:solidFill>
              </a:rPr>
              <a:t>Median class</a:t>
            </a:r>
            <a:r>
              <a:rPr lang="en-US" altLang="en-US" sz="2000" i="1" dirty="0">
                <a:solidFill>
                  <a:srgbClr val="FF0000"/>
                </a:solidFill>
              </a:rPr>
              <a:t> </a:t>
            </a:r>
            <a:r>
              <a:rPr lang="en-US" altLang="en-US" sz="2000" dirty="0"/>
              <a:t>is the first class with the value of cumulative frequency equal at least </a:t>
            </a:r>
            <a:r>
              <a:rPr lang="en-US" altLang="en-US" sz="2000" i="1" dirty="0"/>
              <a:t>N/2)</a:t>
            </a:r>
            <a:endParaRPr lang="en-US" altLang="en-US" sz="2000" dirty="0"/>
          </a:p>
          <a:p>
            <a:pPr eaLnBrk="1" hangingPunct="1">
              <a:lnSpc>
                <a:spcPct val="130000"/>
              </a:lnSpc>
              <a:buFont typeface="Arial" pitchFamily="34" charset="0"/>
              <a:buNone/>
            </a:pPr>
            <a:r>
              <a:rPr lang="en-US" altLang="en-US" sz="2000" i="1" dirty="0"/>
              <a:t>	</a:t>
            </a:r>
            <a:r>
              <a:rPr lang="en-US" altLang="en-US" sz="2000" b="1" i="1" dirty="0"/>
              <a:t>L</a:t>
            </a:r>
            <a:r>
              <a:rPr lang="en-US" altLang="en-US" sz="2000" dirty="0"/>
              <a:t> 	: lower class limit of median class,</a:t>
            </a:r>
            <a:br>
              <a:rPr lang="en-US" altLang="en-US" sz="2000" dirty="0"/>
            </a:br>
            <a:r>
              <a:rPr lang="en-US" altLang="en-US" sz="2000" b="1" i="1" dirty="0"/>
              <a:t>N</a:t>
            </a:r>
            <a:r>
              <a:rPr lang="en-US" altLang="en-US" sz="2000" dirty="0"/>
              <a:t> 	: total number of observations,</a:t>
            </a:r>
          </a:p>
          <a:p>
            <a:pPr eaLnBrk="1" hangingPunct="1">
              <a:lnSpc>
                <a:spcPct val="130000"/>
              </a:lnSpc>
              <a:buFont typeface="Arial" pitchFamily="34" charset="0"/>
              <a:buNone/>
            </a:pPr>
            <a:r>
              <a:rPr lang="en-US" altLang="en-US" sz="2000" b="1" i="1" dirty="0"/>
              <a:t>     </a:t>
            </a:r>
            <a:r>
              <a:rPr lang="en-US" altLang="en-US" sz="2000" b="1" i="1" dirty="0" err="1"/>
              <a:t>cf</a:t>
            </a:r>
            <a:r>
              <a:rPr lang="en-US" altLang="en-US" sz="2000" b="1" i="1" baseline="-25000" dirty="0" err="1"/>
              <a:t>p</a:t>
            </a:r>
            <a:r>
              <a:rPr lang="en-US" altLang="en-US" sz="2000" b="1" i="1" baseline="-25000" dirty="0"/>
              <a:t>	</a:t>
            </a:r>
            <a:r>
              <a:rPr lang="en-US" altLang="en-US" sz="2000" dirty="0"/>
              <a:t>: cumulative frequency of the class preceding the median class,</a:t>
            </a:r>
            <a:br>
              <a:rPr lang="en-US" altLang="en-US" sz="2000" dirty="0"/>
            </a:br>
            <a:r>
              <a:rPr lang="en-US" altLang="en-US" sz="2000" b="1" i="1" dirty="0" err="1"/>
              <a:t>f</a:t>
            </a:r>
            <a:r>
              <a:rPr lang="en-US" altLang="en-US" sz="2000" b="1" i="1" baseline="-25000" dirty="0" err="1"/>
              <a:t>med</a:t>
            </a:r>
            <a:r>
              <a:rPr lang="en-US" altLang="en-US" sz="2000" dirty="0"/>
              <a:t> 	: frequency of the median class, </a:t>
            </a:r>
          </a:p>
          <a:p>
            <a:pPr eaLnBrk="1" hangingPunct="1">
              <a:lnSpc>
                <a:spcPct val="130000"/>
              </a:lnSpc>
              <a:buFontTx/>
              <a:buNone/>
            </a:pPr>
            <a:r>
              <a:rPr lang="en-US" altLang="en-US" sz="2000" dirty="0"/>
              <a:t>	</a:t>
            </a:r>
            <a:r>
              <a:rPr lang="en-US" altLang="en-US" sz="2000" b="1" i="1" dirty="0"/>
              <a:t>W</a:t>
            </a:r>
            <a:r>
              <a:rPr lang="en-US" altLang="en-US" sz="2000" dirty="0"/>
              <a:t> 	: median class size.</a:t>
            </a:r>
          </a:p>
        </p:txBody>
      </p:sp>
      <p:pic>
        <p:nvPicPr>
          <p:cNvPr id="32772" name="Picture 7"/>
          <p:cNvPicPr>
            <a:picLocks noGrp="1" noChangeAspect="1" noChangeArrowheads="1"/>
          </p:cNvPicPr>
          <p:nvPr>
            <p:ph sz="quarter" idx="3"/>
          </p:nvPr>
        </p:nvPicPr>
        <p:blipFill>
          <a:blip r:embed="rId2">
            <a:extLst>
              <a:ext uri="{28A0092B-C50C-407E-A947-70E740481C1C}">
                <a14:useLocalDpi xmlns:a14="http://schemas.microsoft.com/office/drawing/2010/main" val="0"/>
              </a:ext>
            </a:extLst>
          </a:blip>
          <a:srcRect/>
          <a:stretch>
            <a:fillRect/>
          </a:stretch>
        </p:blipFill>
        <p:spPr>
          <a:xfrm>
            <a:off x="3962400" y="1981201"/>
            <a:ext cx="4348162" cy="1260475"/>
          </a:xfrm>
          <a:ln w="19050">
            <a:solidFill>
              <a:srgbClr val="FF0000"/>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7"/>
          <p:cNvSpPr>
            <a:spLocks noGrp="1"/>
          </p:cNvSpPr>
          <p:nvPr>
            <p:ph type="sldNum" sz="quarter" idx="12"/>
          </p:nvPr>
        </p:nvSpPr>
        <p:spPr bwMode="auto">
          <a:xfrm>
            <a:off x="5808664" y="6524626"/>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E323F1A0-5ABC-4BFE-B64E-2A5638F2ED72}" type="slidenum">
              <a:rPr lang="en-US" altLang="en-US" sz="1000">
                <a:solidFill>
                  <a:schemeClr val="bg1"/>
                </a:solidFill>
                <a:latin typeface="Arial" pitchFamily="34" charset="0"/>
              </a:rPr>
              <a:pPr/>
              <a:t>16</a:t>
            </a:fld>
            <a:endParaRPr lang="en-US" altLang="en-US" sz="1000">
              <a:solidFill>
                <a:schemeClr val="bg1"/>
              </a:solidFill>
              <a:latin typeface="Arial" pitchFamily="34" charset="0"/>
            </a:endParaRPr>
          </a:p>
        </p:txBody>
      </p:sp>
      <p:sp>
        <p:nvSpPr>
          <p:cNvPr id="16388" name="Rectangle 2"/>
          <p:cNvSpPr>
            <a:spLocks noGrp="1" noChangeArrowheads="1"/>
          </p:cNvSpPr>
          <p:nvPr>
            <p:ph type="title"/>
          </p:nvPr>
        </p:nvSpPr>
        <p:spPr>
          <a:xfrm>
            <a:off x="3506688" y="260648"/>
            <a:ext cx="5181600" cy="685800"/>
          </a:xfrm>
        </p:spPr>
        <p:txBody>
          <a:bodyPr/>
          <a:lstStyle/>
          <a:p>
            <a:pPr eaLnBrk="1" hangingPunct="1">
              <a:defRPr/>
            </a:pPr>
            <a:r>
              <a:rPr lang="en-US" sz="4000" b="1" dirty="0">
                <a:ea typeface="ＭＳ Ｐゴシック" charset="0"/>
                <a:cs typeface="+mj-cs"/>
              </a:rPr>
              <a:t>Example</a:t>
            </a:r>
          </a:p>
        </p:txBody>
      </p:sp>
      <p:pic>
        <p:nvPicPr>
          <p:cNvPr id="33795" name="Picture 6"/>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2286932" y="5123905"/>
            <a:ext cx="4087054" cy="1185192"/>
          </a:xfrm>
        </p:spPr>
      </p:pic>
      <p:graphicFrame>
        <p:nvGraphicFramePr>
          <p:cNvPr id="123928" name="Group 24"/>
          <p:cNvGraphicFramePr>
            <a:graphicFrameLocks noGrp="1"/>
          </p:cNvGraphicFramePr>
          <p:nvPr>
            <p:ph sz="quarter" idx="3"/>
          </p:nvPr>
        </p:nvGraphicFramePr>
        <p:xfrm>
          <a:off x="1991098" y="1912010"/>
          <a:ext cx="4752975" cy="2957151"/>
        </p:xfrm>
        <a:graphic>
          <a:graphicData uri="http://schemas.openxmlformats.org/drawingml/2006/table">
            <a:tbl>
              <a:tblPr/>
              <a:tblGrid>
                <a:gridCol w="1728787">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728788">
                  <a:extLst>
                    <a:ext uri="{9D8B030D-6E8A-4147-A177-3AD203B41FA5}">
                      <a16:colId xmlns:a16="http://schemas.microsoft.com/office/drawing/2014/main" val="20002"/>
                    </a:ext>
                  </a:extLst>
                </a:gridCol>
              </a:tblGrid>
              <a:tr h="579438">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Class interval</a:t>
                      </a:r>
                    </a:p>
                  </a:txBody>
                  <a:tcPr marL="91444" marR="91444" marT="45709" marB="4570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Frequency</a:t>
                      </a:r>
                    </a:p>
                  </a:txBody>
                  <a:tcPr marL="91444" marR="91444"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Cumulative frequency</a:t>
                      </a:r>
                    </a:p>
                  </a:txBody>
                  <a:tcPr marL="91444" marR="91444" marT="45709" marB="4570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58963">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40.5 – 45.5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45.5 – 50.5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MS PGothic" pitchFamily="34" charset="-128"/>
                        </a:rPr>
                        <a:t>50.5 – 55.5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55.5 – 60.5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60.5 – 65.5</a:t>
                      </a:r>
                    </a:p>
                  </a:txBody>
                  <a:tcPr marL="91444" marR="9144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MS PGothic" pitchFamily="34" charset="-128"/>
                        </a:rPr>
                        <a:t>15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6</a:t>
                      </a:r>
                    </a:p>
                  </a:txBody>
                  <a:tcPr marL="91444" marR="91444"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MS PGothic" pitchFamily="34" charset="-128"/>
                        </a:rPr>
                        <a:t>17</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MS PGothic" pitchFamily="34" charset="-128"/>
                        </a:rPr>
                        <a:t>32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34</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ea typeface="MS PGothic" pitchFamily="34" charset="-128"/>
                        </a:rPr>
                        <a:t>40</a:t>
                      </a:r>
                    </a:p>
                  </a:txBody>
                  <a:tcPr marL="91444" marR="9144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Total </a:t>
                      </a:r>
                    </a:p>
                  </a:txBody>
                  <a:tcPr marL="91444" marR="9144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mn-lt"/>
                          <a:ea typeface="MS PGothic" pitchFamily="34" charset="-128"/>
                        </a:rPr>
                        <a:t>40</a:t>
                      </a:r>
                    </a:p>
                  </a:txBody>
                  <a:tcPr marL="91444" marR="91444" marT="45709" marB="457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n-lt"/>
                        <a:ea typeface="MS PGothic" pitchFamily="34" charset="-128"/>
                      </a:endParaRPr>
                    </a:p>
                  </a:txBody>
                  <a:tcPr marL="91444" marR="9144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3814" name="Text Box 8"/>
          <p:cNvSpPr txBox="1">
            <a:spLocks noChangeArrowheads="1"/>
          </p:cNvSpPr>
          <p:nvPr/>
        </p:nvSpPr>
        <p:spPr bwMode="auto">
          <a:xfrm>
            <a:off x="6888164" y="1556793"/>
            <a:ext cx="36147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i="1" dirty="0">
                <a:latin typeface="+mn-lt"/>
              </a:rPr>
              <a:t>N</a:t>
            </a:r>
            <a:r>
              <a:rPr lang="en-US" altLang="en-US" dirty="0">
                <a:latin typeface="+mn-lt"/>
              </a:rPr>
              <a:t>÷2 = 40÷2=20</a:t>
            </a:r>
          </a:p>
          <a:p>
            <a:pPr eaLnBrk="1" hangingPunct="1"/>
            <a:endParaRPr lang="en-US" altLang="en-US" dirty="0">
              <a:latin typeface="+mn-lt"/>
            </a:endParaRPr>
          </a:p>
          <a:p>
            <a:pPr eaLnBrk="1" hangingPunct="1"/>
            <a:r>
              <a:rPr lang="en-US" altLang="en-US" dirty="0">
                <a:latin typeface="+mn-lt"/>
              </a:rPr>
              <a:t>.: median class = 50.5 - 55.5 </a:t>
            </a:r>
          </a:p>
        </p:txBody>
      </p:sp>
      <p:graphicFrame>
        <p:nvGraphicFramePr>
          <p:cNvPr id="33815" name="Object 27"/>
          <p:cNvGraphicFramePr>
            <a:graphicFrameLocks noGrp="1" noChangeAspect="1"/>
          </p:cNvGraphicFramePr>
          <p:nvPr>
            <p:ph sz="half" idx="1"/>
          </p:nvPr>
        </p:nvGraphicFramePr>
        <p:xfrm>
          <a:off x="7162800" y="2892426"/>
          <a:ext cx="1169988" cy="2289175"/>
        </p:xfrm>
        <a:graphic>
          <a:graphicData uri="http://schemas.openxmlformats.org/presentationml/2006/ole">
            <mc:AlternateContent xmlns:mc="http://schemas.openxmlformats.org/markup-compatibility/2006">
              <mc:Choice xmlns:v="urn:schemas-microsoft-com:vml" Requires="v">
                <p:oleObj name="Equation" r:id="rId3" imgW="584200" imgH="1143000" progId="Equation.3">
                  <p:embed/>
                </p:oleObj>
              </mc:Choice>
              <mc:Fallback>
                <p:oleObj name="Equation" r:id="rId3" imgW="584200" imgH="1143000" progId="Equation.3">
                  <p:embed/>
                  <p:pic>
                    <p:nvPicPr>
                      <p:cNvPr id="33815" name="Object 2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892426"/>
                        <a:ext cx="1169988" cy="228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6" name="TextBox 3"/>
          <p:cNvSpPr txBox="1">
            <a:spLocks noChangeArrowheads="1"/>
          </p:cNvSpPr>
          <p:nvPr/>
        </p:nvSpPr>
        <p:spPr bwMode="auto">
          <a:xfrm>
            <a:off x="6018558" y="5569853"/>
            <a:ext cx="10855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dirty="0"/>
              <a:t>= 51.5</a:t>
            </a:r>
          </a:p>
        </p:txBody>
      </p:sp>
      <p:grpSp>
        <p:nvGrpSpPr>
          <p:cNvPr id="5" name="Group 4">
            <a:extLst>
              <a:ext uri="{FF2B5EF4-FFF2-40B4-BE49-F238E27FC236}">
                <a16:creationId xmlns:a16="http://schemas.microsoft.com/office/drawing/2014/main" id="{5C0845AE-8DC7-6BA7-9A74-F73E7C9D7343}"/>
              </a:ext>
            </a:extLst>
          </p:cNvPr>
          <p:cNvGrpSpPr/>
          <p:nvPr/>
        </p:nvGrpSpPr>
        <p:grpSpPr>
          <a:xfrm>
            <a:off x="6182105" y="3342720"/>
            <a:ext cx="475200" cy="226080"/>
            <a:chOff x="4658105" y="3342720"/>
            <a:chExt cx="475200" cy="22608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1F95981-6F5A-4ECE-AB37-7EE2A152F856}"/>
                    </a:ext>
                  </a:extLst>
                </p14:cNvPr>
                <p14:cNvContentPartPr/>
                <p14:nvPr/>
              </p14:nvContentPartPr>
              <p14:xfrm>
                <a:off x="4658105" y="3424440"/>
                <a:ext cx="147600" cy="144360"/>
              </p14:xfrm>
            </p:contentPart>
          </mc:Choice>
          <mc:Fallback xmlns="">
            <p:pic>
              <p:nvPicPr>
                <p:cNvPr id="2" name="Ink 1">
                  <a:extLst>
                    <a:ext uri="{FF2B5EF4-FFF2-40B4-BE49-F238E27FC236}">
                      <a16:creationId xmlns:a16="http://schemas.microsoft.com/office/drawing/2014/main" id="{01F95981-6F5A-4ECE-AB37-7EE2A152F856}"/>
                    </a:ext>
                  </a:extLst>
                </p:cNvPr>
                <p:cNvPicPr/>
                <p:nvPr/>
              </p:nvPicPr>
              <p:blipFill>
                <a:blip r:embed="rId6"/>
                <a:stretch>
                  <a:fillRect/>
                </a:stretch>
              </p:blipFill>
              <p:spPr>
                <a:xfrm>
                  <a:off x="4649465" y="3415440"/>
                  <a:ext cx="1652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68D1014B-D382-F6DD-48E4-572DF8479279}"/>
                    </a:ext>
                  </a:extLst>
                </p14:cNvPr>
                <p14:cNvContentPartPr/>
                <p14:nvPr/>
              </p14:nvContentPartPr>
              <p14:xfrm>
                <a:off x="4669985" y="3342720"/>
                <a:ext cx="463320" cy="161280"/>
              </p14:xfrm>
            </p:contentPart>
          </mc:Choice>
          <mc:Fallback xmlns="">
            <p:pic>
              <p:nvPicPr>
                <p:cNvPr id="3" name="Ink 2">
                  <a:extLst>
                    <a:ext uri="{FF2B5EF4-FFF2-40B4-BE49-F238E27FC236}">
                      <a16:creationId xmlns:a16="http://schemas.microsoft.com/office/drawing/2014/main" id="{68D1014B-D382-F6DD-48E4-572DF8479279}"/>
                    </a:ext>
                  </a:extLst>
                </p:cNvPr>
                <p:cNvPicPr/>
                <p:nvPr/>
              </p:nvPicPr>
              <p:blipFill>
                <a:blip r:embed="rId8"/>
                <a:stretch>
                  <a:fillRect/>
                </a:stretch>
              </p:blipFill>
              <p:spPr>
                <a:xfrm>
                  <a:off x="4661345" y="3333720"/>
                  <a:ext cx="480960" cy="178920"/>
                </a:xfrm>
                <a:prstGeom prst="rect">
                  <a:avLst/>
                </a:prstGeom>
              </p:spPr>
            </p:pic>
          </mc:Fallback>
        </mc:AlternateContent>
      </p:grpSp>
      <p:grpSp>
        <p:nvGrpSpPr>
          <p:cNvPr id="9" name="Group 8">
            <a:extLst>
              <a:ext uri="{FF2B5EF4-FFF2-40B4-BE49-F238E27FC236}">
                <a16:creationId xmlns:a16="http://schemas.microsoft.com/office/drawing/2014/main" id="{A57F411A-859F-6BCA-9800-9404CEB497A0}"/>
              </a:ext>
            </a:extLst>
          </p:cNvPr>
          <p:cNvGrpSpPr/>
          <p:nvPr/>
        </p:nvGrpSpPr>
        <p:grpSpPr>
          <a:xfrm>
            <a:off x="1783625" y="3443880"/>
            <a:ext cx="487080" cy="186120"/>
            <a:chOff x="259625" y="3443880"/>
            <a:chExt cx="487080" cy="186120"/>
          </a:xfrm>
        </p:grpSpPr>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24FB71FD-7B34-68C1-E660-2DB3B227016D}"/>
                    </a:ext>
                  </a:extLst>
                </p14:cNvPr>
                <p14:cNvContentPartPr/>
                <p14:nvPr/>
              </p14:nvContentPartPr>
              <p14:xfrm>
                <a:off x="259625" y="3443880"/>
                <a:ext cx="394560" cy="86040"/>
              </p14:xfrm>
            </p:contentPart>
          </mc:Choice>
          <mc:Fallback xmlns="">
            <p:pic>
              <p:nvPicPr>
                <p:cNvPr id="6" name="Ink 5">
                  <a:extLst>
                    <a:ext uri="{FF2B5EF4-FFF2-40B4-BE49-F238E27FC236}">
                      <a16:creationId xmlns:a16="http://schemas.microsoft.com/office/drawing/2014/main" id="{24FB71FD-7B34-68C1-E660-2DB3B227016D}"/>
                    </a:ext>
                  </a:extLst>
                </p:cNvPr>
                <p:cNvPicPr/>
                <p:nvPr/>
              </p:nvPicPr>
              <p:blipFill>
                <a:blip r:embed="rId10"/>
                <a:stretch>
                  <a:fillRect/>
                </a:stretch>
              </p:blipFill>
              <p:spPr>
                <a:xfrm>
                  <a:off x="250985" y="3435240"/>
                  <a:ext cx="4122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2F9644A4-522E-7F58-5C2B-B697F45A1431}"/>
                    </a:ext>
                  </a:extLst>
                </p14:cNvPr>
                <p14:cNvContentPartPr/>
                <p14:nvPr/>
              </p14:nvContentPartPr>
              <p14:xfrm>
                <a:off x="631505" y="3445680"/>
                <a:ext cx="115200" cy="184320"/>
              </p14:xfrm>
            </p:contentPart>
          </mc:Choice>
          <mc:Fallback xmlns="">
            <p:pic>
              <p:nvPicPr>
                <p:cNvPr id="7" name="Ink 6">
                  <a:extLst>
                    <a:ext uri="{FF2B5EF4-FFF2-40B4-BE49-F238E27FC236}">
                      <a16:creationId xmlns:a16="http://schemas.microsoft.com/office/drawing/2014/main" id="{2F9644A4-522E-7F58-5C2B-B697F45A1431}"/>
                    </a:ext>
                  </a:extLst>
                </p:cNvPr>
                <p:cNvPicPr/>
                <p:nvPr/>
              </p:nvPicPr>
              <p:blipFill>
                <a:blip r:embed="rId12"/>
                <a:stretch>
                  <a:fillRect/>
                </a:stretch>
              </p:blipFill>
              <p:spPr>
                <a:xfrm>
                  <a:off x="622505" y="3436680"/>
                  <a:ext cx="132840" cy="201960"/>
                </a:xfrm>
                <a:prstGeom prst="rect">
                  <a:avLst/>
                </a:prstGeom>
              </p:spPr>
            </p:pic>
          </mc:Fallback>
        </mc:AlternateContent>
      </p:grpSp>
      <p:sp>
        <p:nvSpPr>
          <p:cNvPr id="4" name="TextBox 3">
            <a:extLst>
              <a:ext uri="{FF2B5EF4-FFF2-40B4-BE49-F238E27FC236}">
                <a16:creationId xmlns:a16="http://schemas.microsoft.com/office/drawing/2014/main" id="{6C41DB92-EEC7-2F99-9FB5-AFD3BA9B4064}"/>
              </a:ext>
            </a:extLst>
          </p:cNvPr>
          <p:cNvSpPr txBox="1"/>
          <p:nvPr/>
        </p:nvSpPr>
        <p:spPr>
          <a:xfrm>
            <a:off x="7928252" y="4355068"/>
            <a:ext cx="1213794" cy="369332"/>
          </a:xfrm>
          <a:prstGeom prst="rect">
            <a:avLst/>
          </a:prstGeom>
          <a:noFill/>
        </p:spPr>
        <p:txBody>
          <a:bodyPr wrap="none" rtlCol="0">
            <a:spAutoFit/>
          </a:bodyPr>
          <a:lstStyle/>
          <a:p>
            <a:r>
              <a:rPr lang="en-US" dirty="0"/>
              <a:t>(55.5-50.5)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5"/>
          <p:cNvSpPr>
            <a:spLocks noGrp="1"/>
          </p:cNvSpPr>
          <p:nvPr>
            <p:ph type="sldNum" sz="quarter" idx="12"/>
          </p:nvPr>
        </p:nvSpPr>
        <p:spPr bwMode="auto">
          <a:xfrm>
            <a:off x="5735638" y="6519864"/>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E98BE9BA-F8AE-468D-AF68-62B7C1A9020A}" type="slidenum">
              <a:rPr lang="en-US" altLang="en-US" sz="1000">
                <a:solidFill>
                  <a:schemeClr val="bg1"/>
                </a:solidFill>
                <a:latin typeface="Arial" pitchFamily="34" charset="0"/>
              </a:rPr>
              <a:pPr/>
              <a:t>17</a:t>
            </a:fld>
            <a:endParaRPr lang="en-US" altLang="en-US" sz="1000">
              <a:solidFill>
                <a:schemeClr val="bg1"/>
              </a:solidFill>
              <a:latin typeface="Arial" pitchFamily="34" charset="0"/>
            </a:endParaRPr>
          </a:p>
        </p:txBody>
      </p:sp>
      <p:sp>
        <p:nvSpPr>
          <p:cNvPr id="17412"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Mode</a:t>
            </a:r>
          </a:p>
        </p:txBody>
      </p:sp>
      <p:sp>
        <p:nvSpPr>
          <p:cNvPr id="17413" name="Rectangle 3"/>
          <p:cNvSpPr>
            <a:spLocks noGrp="1" noChangeArrowheads="1"/>
          </p:cNvSpPr>
          <p:nvPr>
            <p:ph type="body" idx="1"/>
          </p:nvPr>
        </p:nvSpPr>
        <p:spPr/>
        <p:txBody>
          <a:bodyPr/>
          <a:lstStyle/>
          <a:p>
            <a:pPr algn="just" eaLnBrk="1" hangingPunct="1">
              <a:lnSpc>
                <a:spcPct val="120000"/>
              </a:lnSpc>
              <a:buFont typeface="Arial" charset="0"/>
              <a:buChar char="•"/>
              <a:defRPr/>
            </a:pPr>
            <a:r>
              <a:rPr lang="en-US" sz="2800" dirty="0">
                <a:ea typeface="ＭＳ Ｐゴシック" charset="0"/>
                <a:cs typeface="+mn-cs"/>
              </a:rPr>
              <a:t>The mode is the value that occurs </a:t>
            </a:r>
            <a:r>
              <a:rPr lang="en-US" sz="2800" b="1" dirty="0">
                <a:ea typeface="ＭＳ Ｐゴシック" charset="0"/>
                <a:cs typeface="+mn-cs"/>
              </a:rPr>
              <a:t>most often</a:t>
            </a:r>
            <a:r>
              <a:rPr lang="en-US" sz="2800" dirty="0">
                <a:ea typeface="ＭＳ Ｐゴシック" charset="0"/>
                <a:cs typeface="+mn-cs"/>
              </a:rPr>
              <a:t>. </a:t>
            </a:r>
          </a:p>
          <a:p>
            <a:pPr algn="just" eaLnBrk="1" hangingPunct="1">
              <a:lnSpc>
                <a:spcPct val="120000"/>
              </a:lnSpc>
              <a:buFont typeface="Arial" charset="0"/>
              <a:buChar char="•"/>
              <a:defRPr/>
            </a:pPr>
            <a:r>
              <a:rPr lang="en-US" sz="2800" dirty="0">
                <a:ea typeface="ＭＳ Ｐゴシック" charset="0"/>
                <a:cs typeface="+mn-cs"/>
              </a:rPr>
              <a:t>If </a:t>
            </a:r>
            <a:r>
              <a:rPr lang="en-US" sz="2800" b="1" dirty="0">
                <a:ea typeface="ＭＳ Ｐゴシック" charset="0"/>
                <a:cs typeface="+mn-cs"/>
              </a:rPr>
              <a:t>no number is repeated</a:t>
            </a:r>
            <a:r>
              <a:rPr lang="en-US" sz="2800" dirty="0">
                <a:ea typeface="ＭＳ Ｐゴシック" charset="0"/>
                <a:cs typeface="+mn-cs"/>
              </a:rPr>
              <a:t>, then there is </a:t>
            </a:r>
            <a:r>
              <a:rPr lang="en-US" sz="2800" b="1" dirty="0">
                <a:ea typeface="ＭＳ Ｐゴシック" charset="0"/>
                <a:cs typeface="+mn-cs"/>
              </a:rPr>
              <a:t>no mode</a:t>
            </a:r>
            <a:r>
              <a:rPr lang="en-US" sz="2800" dirty="0">
                <a:ea typeface="ＭＳ Ｐゴシック" charset="0"/>
                <a:cs typeface="+mn-cs"/>
              </a:rPr>
              <a:t> for the list.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6"/>
          <p:cNvSpPr>
            <a:spLocks noGrp="1"/>
          </p:cNvSpPr>
          <p:nvPr>
            <p:ph type="sldNum" sz="quarter" idx="12"/>
          </p:nvPr>
        </p:nvSpPr>
        <p:spPr bwMode="auto">
          <a:xfrm>
            <a:off x="5735638" y="6492876"/>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F84D3BD6-5168-4E13-9CF2-A51D683A1064}" type="slidenum">
              <a:rPr lang="en-US" altLang="en-US" sz="1000">
                <a:solidFill>
                  <a:schemeClr val="bg1"/>
                </a:solidFill>
                <a:latin typeface="Arial" pitchFamily="34" charset="0"/>
              </a:rPr>
              <a:pPr/>
              <a:t>18</a:t>
            </a:fld>
            <a:endParaRPr lang="en-US" altLang="en-US" sz="1000">
              <a:solidFill>
                <a:schemeClr val="bg1"/>
              </a:solidFill>
              <a:latin typeface="Arial" pitchFamily="34" charset="0"/>
            </a:endParaRPr>
          </a:p>
        </p:txBody>
      </p:sp>
      <p:sp>
        <p:nvSpPr>
          <p:cNvPr id="35842" name="Rectangle 3"/>
          <p:cNvSpPr>
            <a:spLocks noGrp="1" noChangeArrowheads="1"/>
          </p:cNvSpPr>
          <p:nvPr>
            <p:ph type="body" sz="half" idx="1"/>
          </p:nvPr>
        </p:nvSpPr>
        <p:spPr>
          <a:xfrm>
            <a:off x="1774825" y="1412874"/>
            <a:ext cx="8148638" cy="4968454"/>
          </a:xfrm>
        </p:spPr>
        <p:txBody>
          <a:bodyPr/>
          <a:lstStyle/>
          <a:p>
            <a:pPr marL="0" indent="0" algn="just" eaLnBrk="1" hangingPunct="1">
              <a:buNone/>
            </a:pPr>
            <a:r>
              <a:rPr lang="en-US" altLang="en-US" sz="2800" b="1" dirty="0"/>
              <a:t>Case study: </a:t>
            </a:r>
            <a:r>
              <a:rPr lang="en-US" altLang="en-US" sz="2800" dirty="0"/>
              <a:t>On a cold winter day in January, the temperature for 9 North American cities is recorded in Fahrenheit as follows:</a:t>
            </a:r>
          </a:p>
          <a:p>
            <a:pPr marL="0" indent="0" algn="just" eaLnBrk="1" hangingPunct="1">
              <a:buNone/>
            </a:pPr>
            <a:r>
              <a:rPr lang="en-US" altLang="en-US" sz="2800" dirty="0"/>
              <a:t>      </a:t>
            </a:r>
            <a:r>
              <a:rPr lang="en-US" altLang="en-US" sz="2800" b="1" dirty="0"/>
              <a:t>  -8,  0,  -3,  4,  12,  0,  5,  -1,  0  </a:t>
            </a:r>
          </a:p>
          <a:p>
            <a:pPr marL="0" indent="0" algn="just" eaLnBrk="1" hangingPunct="1">
              <a:buNone/>
            </a:pPr>
            <a:r>
              <a:rPr lang="en-US" altLang="en-US" sz="2800" dirty="0"/>
              <a:t>What is the mode of these temperatures?     </a:t>
            </a:r>
          </a:p>
          <a:p>
            <a:pPr marL="0" indent="0" algn="just" eaLnBrk="1" hangingPunct="1">
              <a:buNone/>
            </a:pPr>
            <a:endParaRPr lang="en-US" altLang="en-US" sz="2800" dirty="0"/>
          </a:p>
          <a:p>
            <a:pPr marL="0" indent="0" algn="just" eaLnBrk="1" hangingPunct="1">
              <a:buNone/>
            </a:pPr>
            <a:r>
              <a:rPr lang="en-US" altLang="en-US" sz="2800" u="sng" dirty="0"/>
              <a:t>Solution:</a:t>
            </a:r>
          </a:p>
          <a:p>
            <a:pPr marL="0" indent="0" algn="just" eaLnBrk="1" hangingPunct="1"/>
            <a:r>
              <a:rPr lang="en-US" altLang="en-US" sz="2800" dirty="0"/>
              <a:t>Ordering the data from least to greatest, we get: </a:t>
            </a:r>
          </a:p>
          <a:p>
            <a:pPr marL="0" indent="0" algn="just" eaLnBrk="1" hangingPunct="1">
              <a:buNone/>
            </a:pPr>
            <a:r>
              <a:rPr lang="en-US" altLang="en-US" sz="2800" dirty="0"/>
              <a:t>	 -8,  -3,  -1,  </a:t>
            </a:r>
            <a:r>
              <a:rPr lang="en-US" altLang="en-US" sz="2800" dirty="0">
                <a:solidFill>
                  <a:srgbClr val="FF0000"/>
                </a:solidFill>
              </a:rPr>
              <a:t>0,  0,  0,</a:t>
            </a:r>
            <a:r>
              <a:rPr lang="en-US" altLang="en-US" sz="2800" dirty="0"/>
              <a:t>  4,  5,  12  </a:t>
            </a:r>
          </a:p>
          <a:p>
            <a:pPr marL="0" indent="0" algn="just" eaLnBrk="1" hangingPunct="1"/>
            <a:r>
              <a:rPr lang="en-US" altLang="en-US" sz="2800" dirty="0"/>
              <a:t>The </a:t>
            </a:r>
            <a:r>
              <a:rPr lang="en-US" altLang="en-US" sz="2800" b="1" dirty="0"/>
              <a:t>mode of these temperatures is 0 Fahrenheit</a:t>
            </a:r>
            <a:r>
              <a:rPr lang="en-US" altLang="en-US" sz="2800" dirty="0"/>
              <a:t>.</a:t>
            </a:r>
          </a:p>
        </p:txBody>
      </p:sp>
      <p:pic>
        <p:nvPicPr>
          <p:cNvPr id="35843" name="Picture 5" descr="[IM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184233" y="2996953"/>
            <a:ext cx="2124075" cy="17303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TextBox 2"/>
          <p:cNvSpPr txBox="1">
            <a:spLocks noChangeArrowheads="1"/>
          </p:cNvSpPr>
          <p:nvPr/>
        </p:nvSpPr>
        <p:spPr bwMode="auto">
          <a:xfrm>
            <a:off x="5087888" y="260648"/>
            <a:ext cx="20002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4000" b="1" dirty="0">
                <a:latin typeface="+mj-lt"/>
              </a:rPr>
              <a:t>Example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6"/>
          <p:cNvSpPr>
            <a:spLocks noGrp="1"/>
          </p:cNvSpPr>
          <p:nvPr>
            <p:ph type="sldNum" sz="quarter" idx="12"/>
          </p:nvPr>
        </p:nvSpPr>
        <p:spPr bwMode="auto">
          <a:xfrm>
            <a:off x="5664201" y="6519864"/>
            <a:ext cx="57626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BCC839B9-B9B3-44F1-B3E8-33D44B8DA4A4}" type="slidenum">
              <a:rPr lang="en-US" altLang="en-US" sz="1000">
                <a:solidFill>
                  <a:schemeClr val="bg1"/>
                </a:solidFill>
                <a:latin typeface="Arial" pitchFamily="34" charset="0"/>
              </a:rPr>
              <a:pPr/>
              <a:t>19</a:t>
            </a:fld>
            <a:endParaRPr lang="en-US" altLang="en-US" sz="1000">
              <a:solidFill>
                <a:schemeClr val="bg1"/>
              </a:solidFill>
              <a:latin typeface="Arial" pitchFamily="34" charset="0"/>
            </a:endParaRPr>
          </a:p>
        </p:txBody>
      </p:sp>
      <p:sp>
        <p:nvSpPr>
          <p:cNvPr id="19460" name="Rectangle 2"/>
          <p:cNvSpPr>
            <a:spLocks noGrp="1" noChangeArrowheads="1"/>
          </p:cNvSpPr>
          <p:nvPr>
            <p:ph type="title"/>
          </p:nvPr>
        </p:nvSpPr>
        <p:spPr>
          <a:xfrm>
            <a:off x="3503712" y="294928"/>
            <a:ext cx="5181600" cy="685800"/>
          </a:xfrm>
        </p:spPr>
        <p:txBody>
          <a:bodyPr/>
          <a:lstStyle/>
          <a:p>
            <a:pPr eaLnBrk="1" hangingPunct="1">
              <a:defRPr/>
            </a:pPr>
            <a:r>
              <a:rPr lang="en-US" sz="4000" b="1" dirty="0">
                <a:ea typeface="ＭＳ Ｐゴシック" charset="0"/>
                <a:cs typeface="+mj-cs"/>
              </a:rPr>
              <a:t>Example</a:t>
            </a:r>
          </a:p>
        </p:txBody>
      </p:sp>
      <p:sp>
        <p:nvSpPr>
          <p:cNvPr id="36867" name="Rectangle 3"/>
          <p:cNvSpPr>
            <a:spLocks noGrp="1" noChangeArrowheads="1"/>
          </p:cNvSpPr>
          <p:nvPr>
            <p:ph type="body" sz="half" idx="1"/>
          </p:nvPr>
        </p:nvSpPr>
        <p:spPr>
          <a:xfrm>
            <a:off x="1847851" y="1125539"/>
            <a:ext cx="8424863" cy="2592387"/>
          </a:xfrm>
        </p:spPr>
        <p:txBody>
          <a:bodyPr/>
          <a:lstStyle/>
          <a:p>
            <a:pPr marL="0" indent="0" algn="just" eaLnBrk="1" hangingPunct="1">
              <a:buNone/>
            </a:pPr>
            <a:r>
              <a:rPr lang="en-US" altLang="en-US" sz="2800" dirty="0">
                <a:solidFill>
                  <a:srgbClr val="2F32FF"/>
                </a:solidFill>
              </a:rPr>
              <a:t>Case study</a:t>
            </a:r>
            <a:r>
              <a:rPr lang="en-US" altLang="en-US" sz="2800" dirty="0"/>
              <a:t>: A marathon race was completed by 5 participants. The time taken by each participant is recorded as follows:</a:t>
            </a:r>
          </a:p>
          <a:p>
            <a:pPr marL="0" indent="0" algn="ctr" eaLnBrk="1" hangingPunct="1">
              <a:buNone/>
            </a:pPr>
            <a:r>
              <a:rPr lang="en-US" altLang="en-US" sz="2800" dirty="0"/>
              <a:t> </a:t>
            </a:r>
            <a:r>
              <a:rPr lang="en-US" altLang="en-US" sz="2800" b="1" dirty="0"/>
              <a:t>2.7 </a:t>
            </a:r>
            <a:r>
              <a:rPr lang="en-US" altLang="en-US" sz="2800" b="1" dirty="0" err="1"/>
              <a:t>hr</a:t>
            </a:r>
            <a:r>
              <a:rPr lang="en-US" altLang="en-US" sz="2800" b="1" dirty="0"/>
              <a:t>,  8.3 </a:t>
            </a:r>
            <a:r>
              <a:rPr lang="en-US" altLang="en-US" sz="2800" b="1" dirty="0" err="1"/>
              <a:t>hr</a:t>
            </a:r>
            <a:r>
              <a:rPr lang="en-US" altLang="en-US" sz="2800" b="1" dirty="0"/>
              <a:t>,  3.5 </a:t>
            </a:r>
            <a:r>
              <a:rPr lang="en-US" altLang="en-US" sz="2800" b="1" dirty="0" err="1"/>
              <a:t>hr</a:t>
            </a:r>
            <a:r>
              <a:rPr lang="en-US" altLang="en-US" sz="2800" b="1" dirty="0"/>
              <a:t>,  5.1 </a:t>
            </a:r>
            <a:r>
              <a:rPr lang="en-US" altLang="en-US" sz="2800" b="1" dirty="0" err="1"/>
              <a:t>hr</a:t>
            </a:r>
            <a:r>
              <a:rPr lang="en-US" altLang="en-US" sz="2800" b="1" dirty="0"/>
              <a:t>,  4.9 </a:t>
            </a:r>
            <a:r>
              <a:rPr lang="en-US" altLang="en-US" sz="2800" b="1" dirty="0" err="1"/>
              <a:t>hr</a:t>
            </a:r>
            <a:r>
              <a:rPr lang="en-US" altLang="en-US" sz="2800" b="1" dirty="0"/>
              <a:t>   </a:t>
            </a:r>
          </a:p>
          <a:p>
            <a:pPr marL="0" indent="0" algn="just" eaLnBrk="1" hangingPunct="1">
              <a:buNone/>
            </a:pPr>
            <a:r>
              <a:rPr lang="en-US" altLang="en-US" sz="2800" dirty="0"/>
              <a:t>What is the mode of these times given in hours?     </a:t>
            </a:r>
          </a:p>
          <a:p>
            <a:pPr marL="0" indent="0" algn="just" eaLnBrk="1" hangingPunct="1">
              <a:buNone/>
            </a:pPr>
            <a:endParaRPr lang="en-US" altLang="en-US" sz="2800" dirty="0"/>
          </a:p>
        </p:txBody>
      </p:sp>
      <p:pic>
        <p:nvPicPr>
          <p:cNvPr id="36868" name="Picture 5" descr="[IM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896201" y="3501008"/>
            <a:ext cx="2352675" cy="85725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Rectangle 1"/>
          <p:cNvSpPr>
            <a:spLocks noChangeArrowheads="1"/>
          </p:cNvSpPr>
          <p:nvPr/>
        </p:nvSpPr>
        <p:spPr bwMode="auto">
          <a:xfrm>
            <a:off x="1847851" y="4076701"/>
            <a:ext cx="85693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just" eaLnBrk="1" hangingPunct="1"/>
            <a:r>
              <a:rPr lang="en-US" altLang="en-US" sz="2800" b="1" dirty="0">
                <a:solidFill>
                  <a:srgbClr val="2F32FF"/>
                </a:solidFill>
                <a:latin typeface="+mn-lt"/>
              </a:rPr>
              <a:t>Solution:</a:t>
            </a:r>
          </a:p>
          <a:p>
            <a:pPr algn="just" eaLnBrk="1" hangingPunct="1"/>
            <a:r>
              <a:rPr lang="en-US" altLang="en-US" sz="2800" dirty="0">
                <a:latin typeface="+mn-lt"/>
              </a:rPr>
              <a:t>Ordering the data from least to greatest, we get:  </a:t>
            </a:r>
          </a:p>
          <a:p>
            <a:pPr algn="ctr" eaLnBrk="1" hangingPunct="1">
              <a:buFont typeface="Arial" pitchFamily="34" charset="0"/>
              <a:buNone/>
            </a:pPr>
            <a:r>
              <a:rPr lang="en-US" altLang="en-US" sz="2800" dirty="0">
                <a:latin typeface="+mn-lt"/>
              </a:rPr>
              <a:t>   </a:t>
            </a:r>
            <a:r>
              <a:rPr lang="en-US" altLang="en-US" sz="2800" b="1" dirty="0">
                <a:latin typeface="+mn-lt"/>
              </a:rPr>
              <a:t>  2.7,  3.5,  4.9,  5.1,  8.3  </a:t>
            </a:r>
          </a:p>
          <a:p>
            <a:pPr algn="just" eaLnBrk="1" hangingPunct="1"/>
            <a:r>
              <a:rPr lang="en-US" altLang="en-US" sz="2800" dirty="0">
                <a:latin typeface="+mn-lt"/>
              </a:rPr>
              <a:t>Since each value occurs only once in the data set, there is </a:t>
            </a:r>
            <a:r>
              <a:rPr lang="en-US" altLang="en-US" sz="2800" dirty="0">
                <a:solidFill>
                  <a:srgbClr val="FF0000"/>
                </a:solidFill>
                <a:latin typeface="+mn-lt"/>
              </a:rPr>
              <a:t>no mode </a:t>
            </a:r>
            <a:r>
              <a:rPr lang="en-US" altLang="en-US" sz="2800" dirty="0">
                <a:latin typeface="+mn-lt"/>
              </a:rPr>
              <a:t>for this data set.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6"/>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21B7D35B-E2EA-43C2-97FF-F7EB915E3BAA}" type="slidenum">
              <a:rPr lang="en-US" altLang="en-US" sz="1000">
                <a:solidFill>
                  <a:schemeClr val="bg1"/>
                </a:solidFill>
                <a:latin typeface="Arial" pitchFamily="34" charset="0"/>
              </a:rPr>
              <a:pPr/>
              <a:t>20</a:t>
            </a:fld>
            <a:endParaRPr lang="en-US" altLang="en-US" sz="1000">
              <a:solidFill>
                <a:schemeClr val="bg1"/>
              </a:solidFill>
              <a:latin typeface="Arial" pitchFamily="34" charset="0"/>
            </a:endParaRPr>
          </a:p>
        </p:txBody>
      </p:sp>
      <p:sp>
        <p:nvSpPr>
          <p:cNvPr id="20484" name="Rectangle 2"/>
          <p:cNvSpPr>
            <a:spLocks noGrp="1" noChangeArrowheads="1"/>
          </p:cNvSpPr>
          <p:nvPr>
            <p:ph type="title"/>
          </p:nvPr>
        </p:nvSpPr>
        <p:spPr>
          <a:xfrm>
            <a:off x="3503712" y="260350"/>
            <a:ext cx="5181600" cy="685800"/>
          </a:xfrm>
        </p:spPr>
        <p:txBody>
          <a:bodyPr/>
          <a:lstStyle/>
          <a:p>
            <a:pPr eaLnBrk="1" hangingPunct="1">
              <a:defRPr/>
            </a:pPr>
            <a:r>
              <a:rPr lang="en-US" sz="4000" b="1" dirty="0">
                <a:ea typeface="ＭＳ Ｐゴシック" charset="0"/>
                <a:cs typeface="+mj-cs"/>
              </a:rPr>
              <a:t>Example</a:t>
            </a:r>
          </a:p>
        </p:txBody>
      </p:sp>
      <p:sp>
        <p:nvSpPr>
          <p:cNvPr id="37891" name="Rectangle 3"/>
          <p:cNvSpPr>
            <a:spLocks noGrp="1" noChangeArrowheads="1"/>
          </p:cNvSpPr>
          <p:nvPr>
            <p:ph type="body" sz="half" idx="1"/>
          </p:nvPr>
        </p:nvSpPr>
        <p:spPr>
          <a:xfrm>
            <a:off x="1919288" y="1196975"/>
            <a:ext cx="8291512" cy="2376488"/>
          </a:xfrm>
        </p:spPr>
        <p:txBody>
          <a:bodyPr/>
          <a:lstStyle/>
          <a:p>
            <a:pPr marL="0" indent="0" algn="just" eaLnBrk="1" hangingPunct="1">
              <a:buNone/>
            </a:pPr>
            <a:r>
              <a:rPr lang="en-US" altLang="en-US" sz="2800" dirty="0">
                <a:solidFill>
                  <a:srgbClr val="2F32FF"/>
                </a:solidFill>
              </a:rPr>
              <a:t>Case study</a:t>
            </a:r>
            <a:r>
              <a:rPr lang="en-US" altLang="en-US" sz="2800" dirty="0"/>
              <a:t>: In a crash test, 11 cars were tested to determine what impact speed was required to obtain minimal bumper damage. The collected data as shown below:</a:t>
            </a:r>
          </a:p>
          <a:p>
            <a:pPr marL="0" indent="0" algn="ctr" eaLnBrk="1" hangingPunct="1">
              <a:lnSpc>
                <a:spcPct val="80000"/>
              </a:lnSpc>
              <a:buNone/>
            </a:pPr>
            <a:r>
              <a:rPr lang="en-US" altLang="en-US" sz="2800" dirty="0"/>
              <a:t>        </a:t>
            </a:r>
            <a:r>
              <a:rPr lang="en-US" altLang="en-US" sz="2800" b="1" dirty="0"/>
              <a:t>24,  15,  18,  20,  18,  22,  24,  26,  18,  26,  24  </a:t>
            </a:r>
          </a:p>
          <a:p>
            <a:pPr marL="0" indent="0" algn="just" eaLnBrk="1" hangingPunct="1">
              <a:lnSpc>
                <a:spcPct val="80000"/>
              </a:lnSpc>
              <a:buNone/>
            </a:pPr>
            <a:r>
              <a:rPr lang="en-US" altLang="en-US" sz="2800" dirty="0"/>
              <a:t>Find the mode of the speeds given in miles per hour.   </a:t>
            </a:r>
          </a:p>
          <a:p>
            <a:pPr marL="0" indent="0" algn="just" eaLnBrk="1" hangingPunct="1">
              <a:lnSpc>
                <a:spcPct val="80000"/>
              </a:lnSpc>
              <a:buNone/>
            </a:pPr>
            <a:endParaRPr lang="en-US" altLang="en-US" sz="2800" dirty="0"/>
          </a:p>
        </p:txBody>
      </p:sp>
      <p:sp>
        <p:nvSpPr>
          <p:cNvPr id="2" name="Rectangle 1"/>
          <p:cNvSpPr>
            <a:spLocks noChangeArrowheads="1"/>
          </p:cNvSpPr>
          <p:nvPr/>
        </p:nvSpPr>
        <p:spPr bwMode="auto">
          <a:xfrm>
            <a:off x="1793876" y="4292746"/>
            <a:ext cx="8550597"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just" eaLnBrk="1" hangingPunct="1">
              <a:lnSpc>
                <a:spcPct val="80000"/>
              </a:lnSpc>
            </a:pPr>
            <a:r>
              <a:rPr lang="en-US" altLang="en-US" sz="2800" b="1" dirty="0">
                <a:solidFill>
                  <a:srgbClr val="2F32FF"/>
                </a:solidFill>
                <a:latin typeface="+mn-lt"/>
              </a:rPr>
              <a:t>Solution:</a:t>
            </a:r>
          </a:p>
          <a:p>
            <a:pPr algn="just" eaLnBrk="1" hangingPunct="1"/>
            <a:r>
              <a:rPr lang="en-US" altLang="en-US" sz="2800" dirty="0">
                <a:latin typeface="+mn-lt"/>
              </a:rPr>
              <a:t>Ordering the data from least to greatest, we get:  </a:t>
            </a:r>
          </a:p>
          <a:p>
            <a:pPr algn="ctr" eaLnBrk="1" hangingPunct="1">
              <a:buFont typeface="Arial" pitchFamily="34" charset="0"/>
              <a:buNone/>
            </a:pPr>
            <a:r>
              <a:rPr lang="en-US" altLang="en-US" sz="2800" dirty="0">
                <a:latin typeface="+mn-lt"/>
              </a:rPr>
              <a:t>        15,  </a:t>
            </a:r>
            <a:r>
              <a:rPr lang="en-US" altLang="en-US" sz="2800" dirty="0">
                <a:solidFill>
                  <a:srgbClr val="FF0000"/>
                </a:solidFill>
                <a:latin typeface="+mn-lt"/>
              </a:rPr>
              <a:t>18,  18,  18</a:t>
            </a:r>
            <a:r>
              <a:rPr lang="en-US" altLang="en-US" sz="2800" dirty="0">
                <a:latin typeface="+mn-lt"/>
              </a:rPr>
              <a:t>,  20,  22, </a:t>
            </a:r>
            <a:r>
              <a:rPr lang="en-US" altLang="en-US" sz="2800" dirty="0">
                <a:solidFill>
                  <a:srgbClr val="FF0000"/>
                </a:solidFill>
                <a:latin typeface="+mn-lt"/>
              </a:rPr>
              <a:t> 24,  24,  24</a:t>
            </a:r>
            <a:r>
              <a:rPr lang="en-US" altLang="en-US" sz="2800" dirty="0">
                <a:latin typeface="+mn-lt"/>
              </a:rPr>
              <a:t>,  26,  26  </a:t>
            </a:r>
          </a:p>
          <a:p>
            <a:pPr algn="just" eaLnBrk="1" hangingPunct="1"/>
            <a:r>
              <a:rPr lang="en-US" altLang="en-US" sz="2800" dirty="0">
                <a:latin typeface="+mn-lt"/>
              </a:rPr>
              <a:t>Since both 18 and 24 occur three times, the </a:t>
            </a:r>
            <a:r>
              <a:rPr lang="en-US" altLang="en-US" sz="2800" b="1" dirty="0">
                <a:latin typeface="+mn-lt"/>
              </a:rPr>
              <a:t>modes are 18 and 24 miles per hour</a:t>
            </a:r>
            <a:r>
              <a:rPr lang="en-US" altLang="en-US" sz="2800" dirty="0">
                <a:latin typeface="+mn-lt"/>
              </a:rPr>
              <a:t>. This data set is </a:t>
            </a:r>
            <a:r>
              <a:rPr lang="en-US" altLang="en-US" sz="2800" b="1" dirty="0">
                <a:solidFill>
                  <a:srgbClr val="FF0000"/>
                </a:solidFill>
                <a:latin typeface="+mn-lt"/>
              </a:rPr>
              <a:t>bimodal.</a:t>
            </a:r>
          </a:p>
        </p:txBody>
      </p:sp>
      <p:pic>
        <p:nvPicPr>
          <p:cNvPr id="37892" name="Picture 5" descr="[IM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883650" y="3789363"/>
            <a:ext cx="1676400" cy="11795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5"/>
          <p:cNvSpPr>
            <a:spLocks noGrp="1"/>
          </p:cNvSpPr>
          <p:nvPr>
            <p:ph type="sldNum" sz="quarter" idx="12"/>
          </p:nvPr>
        </p:nvSpPr>
        <p:spPr bwMode="auto">
          <a:xfrm>
            <a:off x="5880101" y="6519864"/>
            <a:ext cx="504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50C3D1E7-4BCD-4D75-9FDA-04FB9A818E66}" type="slidenum">
              <a:rPr lang="en-US" altLang="en-US" sz="1000">
                <a:solidFill>
                  <a:schemeClr val="bg1"/>
                </a:solidFill>
                <a:latin typeface="Arial" pitchFamily="34" charset="0"/>
              </a:rPr>
              <a:pPr/>
              <a:t>21</a:t>
            </a:fld>
            <a:endParaRPr lang="en-US" altLang="en-US" sz="1000">
              <a:solidFill>
                <a:schemeClr val="bg1"/>
              </a:solidFill>
              <a:latin typeface="Arial" pitchFamily="34" charset="0"/>
            </a:endParaRPr>
          </a:p>
        </p:txBody>
      </p:sp>
      <p:sp>
        <p:nvSpPr>
          <p:cNvPr id="21508" name="Rectangle 2"/>
          <p:cNvSpPr>
            <a:spLocks noGrp="1" noChangeArrowheads="1"/>
          </p:cNvSpPr>
          <p:nvPr>
            <p:ph type="title"/>
          </p:nvPr>
        </p:nvSpPr>
        <p:spPr>
          <a:xfrm>
            <a:off x="3861816" y="365126"/>
            <a:ext cx="6272784" cy="777875"/>
          </a:xfrm>
          <a:ln w="28575">
            <a:solidFill>
              <a:schemeClr val="accent2"/>
            </a:solidFill>
          </a:ln>
        </p:spPr>
        <p:txBody>
          <a:bodyPr/>
          <a:lstStyle/>
          <a:p>
            <a:pPr eaLnBrk="1" hangingPunct="1">
              <a:defRPr/>
            </a:pPr>
            <a:r>
              <a:rPr lang="en-US" sz="4000" b="1" dirty="0">
                <a:ea typeface="ＭＳ Ｐゴシック" charset="0"/>
                <a:cs typeface="+mj-cs"/>
              </a:rPr>
              <a:t>Mode of Grouped Data </a:t>
            </a:r>
          </a:p>
        </p:txBody>
      </p:sp>
      <p:sp>
        <p:nvSpPr>
          <p:cNvPr id="21509" name="Rectangle 3"/>
          <p:cNvSpPr>
            <a:spLocks noGrp="1" noChangeArrowheads="1"/>
          </p:cNvSpPr>
          <p:nvPr>
            <p:ph type="body" idx="1"/>
          </p:nvPr>
        </p:nvSpPr>
        <p:spPr/>
        <p:txBody>
          <a:bodyPr/>
          <a:lstStyle/>
          <a:p>
            <a:pPr algn="just" eaLnBrk="1" hangingPunct="1">
              <a:lnSpc>
                <a:spcPct val="120000"/>
              </a:lnSpc>
              <a:buFont typeface="Arial" charset="0"/>
              <a:buChar char="•"/>
              <a:defRPr/>
            </a:pPr>
            <a:r>
              <a:rPr lang="en-US" sz="2800" dirty="0">
                <a:ea typeface="ＭＳ Ｐゴシック" charset="0"/>
                <a:cs typeface="+mn-cs"/>
              </a:rPr>
              <a:t>The first step towards finding the mode of the grouped data is to locate the class interval with the maximum frequency. </a:t>
            </a:r>
          </a:p>
          <a:p>
            <a:pPr algn="just" eaLnBrk="1" hangingPunct="1">
              <a:lnSpc>
                <a:spcPct val="120000"/>
              </a:lnSpc>
              <a:buFont typeface="Arial" charset="0"/>
              <a:buChar char="•"/>
              <a:defRPr/>
            </a:pPr>
            <a:r>
              <a:rPr lang="en-US" sz="2800" dirty="0">
                <a:ea typeface="ＭＳ Ｐゴシック" charset="0"/>
                <a:cs typeface="+mn-cs"/>
              </a:rPr>
              <a:t>The class interval corresponding to the maximum frequency is called the modal class.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5"/>
          <p:cNvSpPr>
            <a:spLocks noGrp="1"/>
          </p:cNvSpPr>
          <p:nvPr>
            <p:ph type="sldNum" sz="quarter" idx="12"/>
          </p:nvPr>
        </p:nvSpPr>
        <p:spPr bwMode="auto">
          <a:xfrm>
            <a:off x="5735638" y="6519864"/>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AEC75DFF-B8A3-463B-9272-11AB44AD8709}" type="slidenum">
              <a:rPr lang="en-US" altLang="en-US" sz="1000">
                <a:solidFill>
                  <a:schemeClr val="bg1"/>
                </a:solidFill>
                <a:latin typeface="Arial" pitchFamily="34" charset="0"/>
              </a:rPr>
              <a:pPr/>
              <a:t>22</a:t>
            </a:fld>
            <a:endParaRPr lang="en-US" altLang="en-US" sz="1000">
              <a:solidFill>
                <a:schemeClr val="bg1"/>
              </a:solidFill>
              <a:latin typeface="Arial" pitchFamily="34" charset="0"/>
            </a:endParaRPr>
          </a:p>
        </p:txBody>
      </p:sp>
      <p:sp>
        <p:nvSpPr>
          <p:cNvPr id="39938" name="Rectangle 3"/>
          <p:cNvSpPr>
            <a:spLocks noGrp="1" noChangeArrowheads="1"/>
          </p:cNvSpPr>
          <p:nvPr>
            <p:ph type="body" idx="1"/>
          </p:nvPr>
        </p:nvSpPr>
        <p:spPr>
          <a:xfrm>
            <a:off x="2207568" y="1052513"/>
            <a:ext cx="8352482" cy="5472831"/>
          </a:xfrm>
        </p:spPr>
        <p:txBody>
          <a:bodyPr/>
          <a:lstStyle/>
          <a:p>
            <a:pPr marL="0" indent="0" eaLnBrk="1" hangingPunct="1">
              <a:lnSpc>
                <a:spcPct val="90000"/>
              </a:lnSpc>
              <a:buNone/>
            </a:pPr>
            <a:r>
              <a:rPr lang="en-US" altLang="en-US" sz="2800" dirty="0"/>
              <a:t>The mode of grouped data is calculated using the formula</a:t>
            </a:r>
            <a:br>
              <a:rPr lang="en-US" altLang="en-US" sz="2800" dirty="0"/>
            </a:br>
            <a:r>
              <a:rPr lang="en-US" altLang="en-US" sz="2800" dirty="0"/>
              <a:t>	</a:t>
            </a:r>
            <a:r>
              <a:rPr lang="en-US" altLang="en-US" sz="2400" dirty="0"/>
              <a:t>    </a:t>
            </a:r>
            <a:r>
              <a:rPr lang="en-US" altLang="en-US" sz="2800" b="1" dirty="0"/>
              <a:t> </a:t>
            </a:r>
          </a:p>
          <a:p>
            <a:pPr marL="0" indent="0" algn="ctr" eaLnBrk="1" hangingPunct="1">
              <a:lnSpc>
                <a:spcPct val="90000"/>
              </a:lnSpc>
              <a:buNone/>
            </a:pPr>
            <a:r>
              <a:rPr lang="en-US" altLang="en-US" sz="2800" b="1" dirty="0"/>
              <a:t>Mode</a:t>
            </a:r>
            <a:r>
              <a:rPr lang="en-US" altLang="en-US" sz="2800" dirty="0"/>
              <a:t> = </a:t>
            </a:r>
            <a:r>
              <a:rPr lang="en-US" altLang="en-US" sz="2800" i="1" dirty="0"/>
              <a:t>l</a:t>
            </a:r>
            <a:r>
              <a:rPr lang="en-US" altLang="en-US" sz="2800" dirty="0"/>
              <a:t> + </a:t>
            </a:r>
            <a:r>
              <a:rPr lang="en-US" altLang="en-US" sz="2800" i="1" dirty="0"/>
              <a:t>h</a:t>
            </a:r>
            <a:r>
              <a:rPr lang="en-US" altLang="en-US" sz="2800" dirty="0"/>
              <a:t> × [(</a:t>
            </a:r>
            <a:r>
              <a:rPr lang="en-US" altLang="en-US" sz="2800" i="1" dirty="0"/>
              <a:t>f</a:t>
            </a:r>
            <a:r>
              <a:rPr lang="en-US" altLang="en-US" sz="2800" baseline="-25000" dirty="0"/>
              <a:t>1</a:t>
            </a:r>
            <a:r>
              <a:rPr lang="en-US" altLang="en-US" sz="2800" dirty="0"/>
              <a:t> – </a:t>
            </a:r>
            <a:r>
              <a:rPr lang="en-US" altLang="en-US" sz="2800" i="1" dirty="0"/>
              <a:t>f</a:t>
            </a:r>
            <a:r>
              <a:rPr lang="en-US" altLang="en-US" sz="2800" baseline="-25000" dirty="0"/>
              <a:t>0</a:t>
            </a:r>
            <a:r>
              <a:rPr lang="en-US" altLang="en-US" sz="2800" dirty="0"/>
              <a:t>) ÷ (2</a:t>
            </a:r>
            <a:r>
              <a:rPr lang="en-US" altLang="en-US" sz="2800" i="1" dirty="0"/>
              <a:t>f</a:t>
            </a:r>
            <a:r>
              <a:rPr lang="en-US" altLang="en-US" sz="2800" baseline="-25000" dirty="0"/>
              <a:t>1</a:t>
            </a:r>
            <a:r>
              <a:rPr lang="en-US" altLang="en-US" sz="2800" dirty="0"/>
              <a:t> – </a:t>
            </a:r>
            <a:r>
              <a:rPr lang="en-US" altLang="en-US" sz="2800" i="1" dirty="0"/>
              <a:t>f</a:t>
            </a:r>
            <a:r>
              <a:rPr lang="en-US" altLang="en-US" sz="2800" baseline="-25000" dirty="0"/>
              <a:t>0</a:t>
            </a:r>
            <a:r>
              <a:rPr lang="en-US" altLang="en-US" sz="2800" dirty="0"/>
              <a:t> – </a:t>
            </a:r>
            <a:r>
              <a:rPr lang="en-US" altLang="en-US" sz="2800" i="1" dirty="0"/>
              <a:t>f</a:t>
            </a:r>
            <a:r>
              <a:rPr lang="en-US" altLang="en-US" sz="2800" baseline="-25000" dirty="0"/>
              <a:t>2</a:t>
            </a:r>
            <a:r>
              <a:rPr lang="en-US" altLang="en-US" sz="2800" dirty="0"/>
              <a:t>)]   </a:t>
            </a:r>
          </a:p>
          <a:p>
            <a:pPr marL="0" indent="0" eaLnBrk="1" hangingPunct="1">
              <a:lnSpc>
                <a:spcPct val="90000"/>
              </a:lnSpc>
              <a:buNone/>
            </a:pPr>
            <a:r>
              <a:rPr lang="en-US" altLang="en-US" sz="2400" dirty="0"/>
              <a:t>where, </a:t>
            </a:r>
          </a:p>
          <a:p>
            <a:pPr marL="892175" indent="-892175" eaLnBrk="1" hangingPunct="1">
              <a:lnSpc>
                <a:spcPct val="90000"/>
              </a:lnSpc>
              <a:buNone/>
              <a:tabLst>
                <a:tab pos="263525" algn="l"/>
                <a:tab pos="628650" algn="l"/>
                <a:tab pos="892175" algn="l"/>
              </a:tabLst>
            </a:pPr>
            <a:r>
              <a:rPr lang="en-US" altLang="en-US" sz="2400" dirty="0"/>
              <a:t>	</a:t>
            </a:r>
            <a:r>
              <a:rPr lang="en-US" altLang="en-US" sz="2400" b="1" i="1" dirty="0"/>
              <a:t>l</a:t>
            </a:r>
            <a:r>
              <a:rPr lang="en-US" altLang="en-US" sz="2400" dirty="0"/>
              <a:t> 	: lower class limit of the modal class</a:t>
            </a:r>
          </a:p>
          <a:p>
            <a:pPr marL="892175" indent="-892175" eaLnBrk="1" hangingPunct="1">
              <a:lnSpc>
                <a:spcPct val="90000"/>
              </a:lnSpc>
              <a:buNone/>
              <a:tabLst>
                <a:tab pos="263525" algn="l"/>
                <a:tab pos="628650" algn="l"/>
                <a:tab pos="892175" algn="l"/>
              </a:tabLst>
            </a:pPr>
            <a:r>
              <a:rPr lang="en-US" altLang="en-US" sz="2400" dirty="0"/>
              <a:t>	</a:t>
            </a:r>
            <a:r>
              <a:rPr lang="en-US" altLang="en-US" sz="2400" b="1" i="1" dirty="0"/>
              <a:t>h</a:t>
            </a:r>
            <a:r>
              <a:rPr lang="en-US" altLang="en-US" sz="2400" dirty="0"/>
              <a:t> 	: class size if all class intervals have the same class size</a:t>
            </a:r>
          </a:p>
          <a:p>
            <a:pPr marL="892175" indent="-892175" eaLnBrk="1" hangingPunct="1">
              <a:lnSpc>
                <a:spcPct val="90000"/>
              </a:lnSpc>
              <a:buNone/>
              <a:tabLst>
                <a:tab pos="263525" algn="l"/>
                <a:tab pos="628650" algn="l"/>
                <a:tab pos="892175" algn="l"/>
              </a:tabLst>
            </a:pPr>
            <a:r>
              <a:rPr lang="en-US" altLang="en-US" sz="2400" b="1" i="1" dirty="0"/>
              <a:t>	f</a:t>
            </a:r>
            <a:r>
              <a:rPr lang="en-US" altLang="en-US" sz="2400" baseline="-25000" dirty="0"/>
              <a:t>1</a:t>
            </a:r>
            <a:r>
              <a:rPr lang="en-US" altLang="en-US" sz="2400" dirty="0"/>
              <a:t>	: frequency of the modal class</a:t>
            </a:r>
          </a:p>
          <a:p>
            <a:pPr marL="892175" indent="-892175" eaLnBrk="1" hangingPunct="1">
              <a:lnSpc>
                <a:spcPct val="90000"/>
              </a:lnSpc>
              <a:buNone/>
              <a:tabLst>
                <a:tab pos="263525" algn="l"/>
                <a:tab pos="628650" algn="l"/>
                <a:tab pos="892175" algn="l"/>
              </a:tabLst>
            </a:pPr>
            <a:r>
              <a:rPr lang="en-US" altLang="en-US" sz="2400" b="1" i="1" dirty="0"/>
              <a:t>	f</a:t>
            </a:r>
            <a:r>
              <a:rPr lang="en-US" altLang="en-US" sz="2400" baseline="-25000" dirty="0"/>
              <a:t>0</a:t>
            </a:r>
            <a:r>
              <a:rPr lang="en-US" altLang="en-US" sz="2400" dirty="0"/>
              <a:t>	: frequency of the class preceding or just before the</a:t>
            </a:r>
          </a:p>
          <a:p>
            <a:pPr marL="892175" indent="-892175" eaLnBrk="1" hangingPunct="1">
              <a:lnSpc>
                <a:spcPct val="90000"/>
              </a:lnSpc>
              <a:buNone/>
              <a:tabLst>
                <a:tab pos="263525" algn="l"/>
                <a:tab pos="628650" algn="l"/>
                <a:tab pos="892175" algn="l"/>
              </a:tabLst>
            </a:pPr>
            <a:r>
              <a:rPr lang="en-US" altLang="en-US" sz="2400" dirty="0"/>
              <a:t>          modal class</a:t>
            </a:r>
          </a:p>
          <a:p>
            <a:pPr marL="892175" indent="-892175" eaLnBrk="1" hangingPunct="1">
              <a:lnSpc>
                <a:spcPct val="90000"/>
              </a:lnSpc>
              <a:buNone/>
              <a:tabLst>
                <a:tab pos="263525" algn="l"/>
                <a:tab pos="628650" algn="l"/>
                <a:tab pos="892175" algn="l"/>
              </a:tabLst>
            </a:pPr>
            <a:r>
              <a:rPr lang="en-US" altLang="en-US" sz="2400" b="1" i="1" dirty="0"/>
              <a:t>	f</a:t>
            </a:r>
            <a:r>
              <a:rPr lang="en-US" altLang="en-US" sz="2400" baseline="-25000" dirty="0"/>
              <a:t>2</a:t>
            </a:r>
            <a:r>
              <a:rPr lang="en-US" altLang="en-US" sz="2400" dirty="0"/>
              <a:t>	: frequency of the class succeeding or just after the </a:t>
            </a:r>
          </a:p>
          <a:p>
            <a:pPr marL="811213" indent="-811213" eaLnBrk="1" hangingPunct="1">
              <a:lnSpc>
                <a:spcPct val="90000"/>
              </a:lnSpc>
              <a:buNone/>
              <a:tabLst>
                <a:tab pos="263525" algn="l"/>
                <a:tab pos="628650" algn="l"/>
                <a:tab pos="811213" algn="l"/>
              </a:tabLst>
            </a:pPr>
            <a:r>
              <a:rPr lang="en-US" altLang="en-US" sz="2400" dirty="0"/>
              <a:t>          modal class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46A6F156-3E96-45FB-AC37-5446E9D36737}" type="slidenum">
              <a:rPr lang="en-US" altLang="en-US" sz="1000">
                <a:solidFill>
                  <a:schemeClr val="bg1"/>
                </a:solidFill>
                <a:latin typeface="Arial" pitchFamily="34" charset="0"/>
              </a:rPr>
              <a:pPr/>
              <a:t>23</a:t>
            </a:fld>
            <a:endParaRPr lang="en-US" altLang="en-US" sz="1000">
              <a:solidFill>
                <a:schemeClr val="bg1"/>
              </a:solidFill>
              <a:latin typeface="Arial" pitchFamily="34" charset="0"/>
            </a:endParaRPr>
          </a:p>
        </p:txBody>
      </p:sp>
      <p:sp>
        <p:nvSpPr>
          <p:cNvPr id="23556" name="Rectangle 2"/>
          <p:cNvSpPr>
            <a:spLocks noGrp="1" noChangeArrowheads="1"/>
          </p:cNvSpPr>
          <p:nvPr>
            <p:ph type="title"/>
          </p:nvPr>
        </p:nvSpPr>
        <p:spPr>
          <a:xfrm>
            <a:off x="2927649" y="76201"/>
            <a:ext cx="6346825" cy="561975"/>
          </a:xfrm>
        </p:spPr>
        <p:txBody>
          <a:bodyPr/>
          <a:lstStyle/>
          <a:p>
            <a:pPr eaLnBrk="1" hangingPunct="1">
              <a:defRPr/>
            </a:pPr>
            <a:r>
              <a:rPr lang="en-US" sz="4000" b="1" dirty="0">
                <a:ea typeface="ＭＳ Ｐゴシック" charset="0"/>
                <a:cs typeface="+mj-cs"/>
              </a:rPr>
              <a:t>Example</a:t>
            </a:r>
          </a:p>
        </p:txBody>
      </p:sp>
      <p:pic>
        <p:nvPicPr>
          <p:cNvPr id="40963" name="Picture 6" descr="mode, mode of grouped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714" y="609599"/>
            <a:ext cx="7583224" cy="603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8C321E8-C36B-038A-AA15-3B281AAAB10E}"/>
              </a:ext>
            </a:extLst>
          </p:cNvPr>
          <p:cNvSpPr txBox="1"/>
          <p:nvPr/>
        </p:nvSpPr>
        <p:spPr>
          <a:xfrm>
            <a:off x="9398845" y="5147846"/>
            <a:ext cx="1184940" cy="338554"/>
          </a:xfrm>
          <a:prstGeom prst="rect">
            <a:avLst/>
          </a:prstGeom>
          <a:noFill/>
        </p:spPr>
        <p:txBody>
          <a:bodyPr wrap="none" rtlCol="0">
            <a:spAutoFit/>
          </a:bodyPr>
          <a:lstStyle/>
          <a:p>
            <a:r>
              <a:rPr lang="en-US" sz="1600" dirty="0">
                <a:solidFill>
                  <a:srgbClr val="FF0000"/>
                </a:solidFill>
              </a:rPr>
              <a:t>h=85-65=20</a:t>
            </a:r>
          </a:p>
        </p:txBody>
      </p:sp>
      <p:grpSp>
        <p:nvGrpSpPr>
          <p:cNvPr id="6" name="Group 5">
            <a:extLst>
              <a:ext uri="{FF2B5EF4-FFF2-40B4-BE49-F238E27FC236}">
                <a16:creationId xmlns:a16="http://schemas.microsoft.com/office/drawing/2014/main" id="{75B6BE9D-1E6D-7631-F37C-AB063A8112DC}"/>
              </a:ext>
            </a:extLst>
          </p:cNvPr>
          <p:cNvGrpSpPr/>
          <p:nvPr/>
        </p:nvGrpSpPr>
        <p:grpSpPr>
          <a:xfrm>
            <a:off x="8538913" y="2562583"/>
            <a:ext cx="582840" cy="159480"/>
            <a:chOff x="7014913" y="2562583"/>
            <a:chExt cx="582840" cy="15948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F66DE0D-B1A7-E61C-2994-5B9144529DAD}"/>
                    </a:ext>
                  </a:extLst>
                </p14:cNvPr>
                <p14:cNvContentPartPr/>
                <p14:nvPr/>
              </p14:nvContentPartPr>
              <p14:xfrm>
                <a:off x="7014913" y="2562583"/>
                <a:ext cx="140760" cy="159480"/>
              </p14:xfrm>
            </p:contentPart>
          </mc:Choice>
          <mc:Fallback xmlns="">
            <p:pic>
              <p:nvPicPr>
                <p:cNvPr id="3" name="Ink 2">
                  <a:extLst>
                    <a:ext uri="{FF2B5EF4-FFF2-40B4-BE49-F238E27FC236}">
                      <a16:creationId xmlns:a16="http://schemas.microsoft.com/office/drawing/2014/main" id="{FF66DE0D-B1A7-E61C-2994-5B9144529DAD}"/>
                    </a:ext>
                  </a:extLst>
                </p:cNvPr>
                <p:cNvPicPr/>
                <p:nvPr/>
              </p:nvPicPr>
              <p:blipFill>
                <a:blip r:embed="rId4"/>
                <a:stretch>
                  <a:fillRect/>
                </a:stretch>
              </p:blipFill>
              <p:spPr>
                <a:xfrm>
                  <a:off x="7005913" y="2553583"/>
                  <a:ext cx="1584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35D6CA1-B5D3-01A2-14C7-F4BDD9E473B9}"/>
                    </a:ext>
                  </a:extLst>
                </p14:cNvPr>
                <p14:cNvContentPartPr/>
                <p14:nvPr/>
              </p14:nvContentPartPr>
              <p14:xfrm>
                <a:off x="7054153" y="2596783"/>
                <a:ext cx="543600" cy="48960"/>
              </p14:xfrm>
            </p:contentPart>
          </mc:Choice>
          <mc:Fallback xmlns="">
            <p:pic>
              <p:nvPicPr>
                <p:cNvPr id="4" name="Ink 3">
                  <a:extLst>
                    <a:ext uri="{FF2B5EF4-FFF2-40B4-BE49-F238E27FC236}">
                      <a16:creationId xmlns:a16="http://schemas.microsoft.com/office/drawing/2014/main" id="{C35D6CA1-B5D3-01A2-14C7-F4BDD9E473B9}"/>
                    </a:ext>
                  </a:extLst>
                </p:cNvPr>
                <p:cNvPicPr/>
                <p:nvPr/>
              </p:nvPicPr>
              <p:blipFill>
                <a:blip r:embed="rId6"/>
                <a:stretch>
                  <a:fillRect/>
                </a:stretch>
              </p:blipFill>
              <p:spPr>
                <a:xfrm>
                  <a:off x="7045153" y="2587783"/>
                  <a:ext cx="561240" cy="66600"/>
                </a:xfrm>
                <a:prstGeom prst="rect">
                  <a:avLst/>
                </a:prstGeom>
              </p:spPr>
            </p:pic>
          </mc:Fallback>
        </mc:AlternateContent>
      </p:grpSp>
      <p:grpSp>
        <p:nvGrpSpPr>
          <p:cNvPr id="17" name="Group 16">
            <a:extLst>
              <a:ext uri="{FF2B5EF4-FFF2-40B4-BE49-F238E27FC236}">
                <a16:creationId xmlns:a16="http://schemas.microsoft.com/office/drawing/2014/main" id="{64D1BBAE-6A52-DD9C-1033-12EA8A82B527}"/>
              </a:ext>
            </a:extLst>
          </p:cNvPr>
          <p:cNvGrpSpPr/>
          <p:nvPr/>
        </p:nvGrpSpPr>
        <p:grpSpPr>
          <a:xfrm>
            <a:off x="9269353" y="2475463"/>
            <a:ext cx="241200" cy="307800"/>
            <a:chOff x="7745353" y="2475463"/>
            <a:chExt cx="241200" cy="307800"/>
          </a:xfrm>
        </p:grpSpPr>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80CB6C38-5639-738B-7A62-91A5BB0CBB53}"/>
                    </a:ext>
                  </a:extLst>
                </p14:cNvPr>
                <p14:cNvContentPartPr/>
                <p14:nvPr/>
              </p14:nvContentPartPr>
              <p14:xfrm>
                <a:off x="7745353" y="2572663"/>
                <a:ext cx="189360" cy="6840"/>
              </p14:xfrm>
            </p:contentPart>
          </mc:Choice>
          <mc:Fallback xmlns="">
            <p:pic>
              <p:nvPicPr>
                <p:cNvPr id="11" name="Ink 10">
                  <a:extLst>
                    <a:ext uri="{FF2B5EF4-FFF2-40B4-BE49-F238E27FC236}">
                      <a16:creationId xmlns:a16="http://schemas.microsoft.com/office/drawing/2014/main" id="{80CB6C38-5639-738B-7A62-91A5BB0CBB53}"/>
                    </a:ext>
                  </a:extLst>
                </p:cNvPr>
                <p:cNvPicPr/>
                <p:nvPr/>
              </p:nvPicPr>
              <p:blipFill>
                <a:blip r:embed="rId8"/>
                <a:stretch>
                  <a:fillRect/>
                </a:stretch>
              </p:blipFill>
              <p:spPr>
                <a:xfrm>
                  <a:off x="7736353" y="2563663"/>
                  <a:ext cx="2070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50C60F10-5201-E89E-E52A-A68A7FEE2BDE}"/>
                    </a:ext>
                  </a:extLst>
                </p14:cNvPr>
                <p14:cNvContentPartPr/>
                <p14:nvPr/>
              </p14:nvContentPartPr>
              <p14:xfrm>
                <a:off x="7810513" y="2475463"/>
                <a:ext cx="100440" cy="274320"/>
              </p14:xfrm>
            </p:contentPart>
          </mc:Choice>
          <mc:Fallback xmlns="">
            <p:pic>
              <p:nvPicPr>
                <p:cNvPr id="12" name="Ink 11">
                  <a:extLst>
                    <a:ext uri="{FF2B5EF4-FFF2-40B4-BE49-F238E27FC236}">
                      <a16:creationId xmlns:a16="http://schemas.microsoft.com/office/drawing/2014/main" id="{50C60F10-5201-E89E-E52A-A68A7FEE2BDE}"/>
                    </a:ext>
                  </a:extLst>
                </p:cNvPr>
                <p:cNvPicPr/>
                <p:nvPr/>
              </p:nvPicPr>
              <p:blipFill>
                <a:blip r:embed="rId10"/>
                <a:stretch>
                  <a:fillRect/>
                </a:stretch>
              </p:blipFill>
              <p:spPr>
                <a:xfrm>
                  <a:off x="7801513" y="2466463"/>
                  <a:ext cx="11808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404AFF6C-9EC2-430F-BA59-9AFB752CE46E}"/>
                    </a:ext>
                  </a:extLst>
                </p14:cNvPr>
                <p14:cNvContentPartPr/>
                <p14:nvPr/>
              </p14:nvContentPartPr>
              <p14:xfrm>
                <a:off x="7986193" y="2701903"/>
                <a:ext cx="360" cy="81360"/>
              </p14:xfrm>
            </p:contentPart>
          </mc:Choice>
          <mc:Fallback xmlns="">
            <p:pic>
              <p:nvPicPr>
                <p:cNvPr id="15" name="Ink 14">
                  <a:extLst>
                    <a:ext uri="{FF2B5EF4-FFF2-40B4-BE49-F238E27FC236}">
                      <a16:creationId xmlns:a16="http://schemas.microsoft.com/office/drawing/2014/main" id="{404AFF6C-9EC2-430F-BA59-9AFB752CE46E}"/>
                    </a:ext>
                  </a:extLst>
                </p:cNvPr>
                <p:cNvPicPr/>
                <p:nvPr/>
              </p:nvPicPr>
              <p:blipFill>
                <a:blip r:embed="rId12"/>
                <a:stretch>
                  <a:fillRect/>
                </a:stretch>
              </p:blipFill>
              <p:spPr>
                <a:xfrm>
                  <a:off x="7977193" y="2692903"/>
                  <a:ext cx="18000" cy="99000"/>
                </a:xfrm>
                <a:prstGeom prst="rect">
                  <a:avLst/>
                </a:prstGeom>
              </p:spPr>
            </p:pic>
          </mc:Fallback>
        </mc:AlternateContent>
      </p:grpSp>
      <p:grpSp>
        <p:nvGrpSpPr>
          <p:cNvPr id="24" name="Group 23">
            <a:extLst>
              <a:ext uri="{FF2B5EF4-FFF2-40B4-BE49-F238E27FC236}">
                <a16:creationId xmlns:a16="http://schemas.microsoft.com/office/drawing/2014/main" id="{1B2F4197-BA18-16E9-37D1-D6C1E46DAFFB}"/>
              </a:ext>
            </a:extLst>
          </p:cNvPr>
          <p:cNvGrpSpPr/>
          <p:nvPr/>
        </p:nvGrpSpPr>
        <p:grpSpPr>
          <a:xfrm>
            <a:off x="8680033" y="2096023"/>
            <a:ext cx="286920" cy="313560"/>
            <a:chOff x="7156033" y="2096023"/>
            <a:chExt cx="286920" cy="313560"/>
          </a:xfrm>
        </p:grpSpPr>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3390CEB3-8A86-D41F-B6FC-35D18B713860}"/>
                    </a:ext>
                  </a:extLst>
                </p14:cNvPr>
                <p14:cNvContentPartPr/>
                <p14:nvPr/>
              </p14:nvContentPartPr>
              <p14:xfrm>
                <a:off x="7156033" y="2201503"/>
                <a:ext cx="181440" cy="360"/>
              </p14:xfrm>
            </p:contentPart>
          </mc:Choice>
          <mc:Fallback xmlns="">
            <p:pic>
              <p:nvPicPr>
                <p:cNvPr id="18" name="Ink 17">
                  <a:extLst>
                    <a:ext uri="{FF2B5EF4-FFF2-40B4-BE49-F238E27FC236}">
                      <a16:creationId xmlns:a16="http://schemas.microsoft.com/office/drawing/2014/main" id="{3390CEB3-8A86-D41F-B6FC-35D18B713860}"/>
                    </a:ext>
                  </a:extLst>
                </p:cNvPr>
                <p:cNvPicPr/>
                <p:nvPr/>
              </p:nvPicPr>
              <p:blipFill>
                <a:blip r:embed="rId14"/>
                <a:stretch>
                  <a:fillRect/>
                </a:stretch>
              </p:blipFill>
              <p:spPr>
                <a:xfrm>
                  <a:off x="7147393" y="2192503"/>
                  <a:ext cx="199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2E9C718C-FC8E-054E-B7A5-E488A663CDEA}"/>
                    </a:ext>
                  </a:extLst>
                </p14:cNvPr>
                <p14:cNvContentPartPr/>
                <p14:nvPr/>
              </p14:nvContentPartPr>
              <p14:xfrm>
                <a:off x="7226593" y="2096023"/>
                <a:ext cx="113760" cy="254520"/>
              </p14:xfrm>
            </p:contentPart>
          </mc:Choice>
          <mc:Fallback xmlns="">
            <p:pic>
              <p:nvPicPr>
                <p:cNvPr id="19" name="Ink 18">
                  <a:extLst>
                    <a:ext uri="{FF2B5EF4-FFF2-40B4-BE49-F238E27FC236}">
                      <a16:creationId xmlns:a16="http://schemas.microsoft.com/office/drawing/2014/main" id="{2E9C718C-FC8E-054E-B7A5-E488A663CDEA}"/>
                    </a:ext>
                  </a:extLst>
                </p:cNvPr>
                <p:cNvPicPr/>
                <p:nvPr/>
              </p:nvPicPr>
              <p:blipFill>
                <a:blip r:embed="rId16"/>
                <a:stretch>
                  <a:fillRect/>
                </a:stretch>
              </p:blipFill>
              <p:spPr>
                <a:xfrm>
                  <a:off x="7217953" y="2087383"/>
                  <a:ext cx="13140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9881F3C1-CF55-8FB2-527A-DFE3B443014E}"/>
                    </a:ext>
                  </a:extLst>
                </p14:cNvPr>
                <p14:cNvContentPartPr/>
                <p14:nvPr/>
              </p14:nvContentPartPr>
              <p14:xfrm>
                <a:off x="7361593" y="2311663"/>
                <a:ext cx="81360" cy="97920"/>
              </p14:xfrm>
            </p:contentPart>
          </mc:Choice>
          <mc:Fallback xmlns="">
            <p:pic>
              <p:nvPicPr>
                <p:cNvPr id="22" name="Ink 21">
                  <a:extLst>
                    <a:ext uri="{FF2B5EF4-FFF2-40B4-BE49-F238E27FC236}">
                      <a16:creationId xmlns:a16="http://schemas.microsoft.com/office/drawing/2014/main" id="{9881F3C1-CF55-8FB2-527A-DFE3B443014E}"/>
                    </a:ext>
                  </a:extLst>
                </p:cNvPr>
                <p:cNvPicPr/>
                <p:nvPr/>
              </p:nvPicPr>
              <p:blipFill>
                <a:blip r:embed="rId18"/>
                <a:stretch>
                  <a:fillRect/>
                </a:stretch>
              </p:blipFill>
              <p:spPr>
                <a:xfrm>
                  <a:off x="7352953" y="2303023"/>
                  <a:ext cx="99000" cy="115560"/>
                </a:xfrm>
                <a:prstGeom prst="rect">
                  <a:avLst/>
                </a:prstGeom>
              </p:spPr>
            </p:pic>
          </mc:Fallback>
        </mc:AlternateContent>
      </p:grpSp>
      <p:grpSp>
        <p:nvGrpSpPr>
          <p:cNvPr id="28" name="Group 27">
            <a:extLst>
              <a:ext uri="{FF2B5EF4-FFF2-40B4-BE49-F238E27FC236}">
                <a16:creationId xmlns:a16="http://schemas.microsoft.com/office/drawing/2014/main" id="{CEB8DF20-E439-0DED-71EC-32962E94A50D}"/>
              </a:ext>
            </a:extLst>
          </p:cNvPr>
          <p:cNvGrpSpPr/>
          <p:nvPr/>
        </p:nvGrpSpPr>
        <p:grpSpPr>
          <a:xfrm>
            <a:off x="8650513" y="2913223"/>
            <a:ext cx="224280" cy="318240"/>
            <a:chOff x="7126513" y="2913223"/>
            <a:chExt cx="224280" cy="318240"/>
          </a:xfrm>
        </p:grpSpPr>
        <mc:AlternateContent xmlns:mc="http://schemas.openxmlformats.org/markup-compatibility/2006" xmlns:p14="http://schemas.microsoft.com/office/powerpoint/2010/main">
          <mc:Choice Requires="p14">
            <p:contentPart p14:bwMode="auto" r:id="rId19">
              <p14:nvContentPartPr>
                <p14:cNvPr id="25" name="Ink 24">
                  <a:extLst>
                    <a:ext uri="{FF2B5EF4-FFF2-40B4-BE49-F238E27FC236}">
                      <a16:creationId xmlns:a16="http://schemas.microsoft.com/office/drawing/2014/main" id="{C12A8EDA-5B84-6BC2-061C-AF0FDB87BA82}"/>
                    </a:ext>
                  </a:extLst>
                </p14:cNvPr>
                <p14:cNvContentPartPr/>
                <p14:nvPr/>
              </p14:nvContentPartPr>
              <p14:xfrm>
                <a:off x="7126513" y="3039943"/>
                <a:ext cx="224280" cy="3600"/>
              </p14:xfrm>
            </p:contentPart>
          </mc:Choice>
          <mc:Fallback xmlns="">
            <p:pic>
              <p:nvPicPr>
                <p:cNvPr id="25" name="Ink 24">
                  <a:extLst>
                    <a:ext uri="{FF2B5EF4-FFF2-40B4-BE49-F238E27FC236}">
                      <a16:creationId xmlns:a16="http://schemas.microsoft.com/office/drawing/2014/main" id="{C12A8EDA-5B84-6BC2-061C-AF0FDB87BA82}"/>
                    </a:ext>
                  </a:extLst>
                </p:cNvPr>
                <p:cNvPicPr/>
                <p:nvPr/>
              </p:nvPicPr>
              <p:blipFill>
                <a:blip r:embed="rId20"/>
                <a:stretch>
                  <a:fillRect/>
                </a:stretch>
              </p:blipFill>
              <p:spPr>
                <a:xfrm>
                  <a:off x="7117873" y="3030943"/>
                  <a:ext cx="2419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6" name="Ink 25">
                  <a:extLst>
                    <a:ext uri="{FF2B5EF4-FFF2-40B4-BE49-F238E27FC236}">
                      <a16:creationId xmlns:a16="http://schemas.microsoft.com/office/drawing/2014/main" id="{4A70D9F8-AA77-A0F5-DAC8-B00508D8B013}"/>
                    </a:ext>
                  </a:extLst>
                </p14:cNvPr>
                <p14:cNvContentPartPr/>
                <p14:nvPr/>
              </p14:nvContentPartPr>
              <p14:xfrm>
                <a:off x="7229833" y="2913223"/>
                <a:ext cx="101520" cy="318240"/>
              </p14:xfrm>
            </p:contentPart>
          </mc:Choice>
          <mc:Fallback xmlns="">
            <p:pic>
              <p:nvPicPr>
                <p:cNvPr id="26" name="Ink 25">
                  <a:extLst>
                    <a:ext uri="{FF2B5EF4-FFF2-40B4-BE49-F238E27FC236}">
                      <a16:creationId xmlns:a16="http://schemas.microsoft.com/office/drawing/2014/main" id="{4A70D9F8-AA77-A0F5-DAC8-B00508D8B013}"/>
                    </a:ext>
                  </a:extLst>
                </p:cNvPr>
                <p:cNvPicPr/>
                <p:nvPr/>
              </p:nvPicPr>
              <p:blipFill>
                <a:blip r:embed="rId22"/>
                <a:stretch>
                  <a:fillRect/>
                </a:stretch>
              </p:blipFill>
              <p:spPr>
                <a:xfrm>
                  <a:off x="7220833" y="2904583"/>
                  <a:ext cx="119160" cy="33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9" name="Ink 28">
                <a:extLst>
                  <a:ext uri="{FF2B5EF4-FFF2-40B4-BE49-F238E27FC236}">
                    <a16:creationId xmlns:a16="http://schemas.microsoft.com/office/drawing/2014/main" id="{6BCBD21C-3BA5-74C9-392F-66FDB7F024B5}"/>
                  </a:ext>
                </a:extLst>
              </p14:cNvPr>
              <p14:cNvContentPartPr/>
              <p14:nvPr/>
            </p14:nvContentPartPr>
            <p14:xfrm>
              <a:off x="8860393" y="3152623"/>
              <a:ext cx="95400" cy="85680"/>
            </p14:xfrm>
          </p:contentPart>
        </mc:Choice>
        <mc:Fallback xmlns="">
          <p:pic>
            <p:nvPicPr>
              <p:cNvPr id="29" name="Ink 28">
                <a:extLst>
                  <a:ext uri="{FF2B5EF4-FFF2-40B4-BE49-F238E27FC236}">
                    <a16:creationId xmlns:a16="http://schemas.microsoft.com/office/drawing/2014/main" id="{6BCBD21C-3BA5-74C9-392F-66FDB7F024B5}"/>
                  </a:ext>
                </a:extLst>
              </p:cNvPr>
              <p:cNvPicPr/>
              <p:nvPr/>
            </p:nvPicPr>
            <p:blipFill>
              <a:blip r:embed="rId24"/>
              <a:stretch>
                <a:fillRect/>
              </a:stretch>
            </p:blipFill>
            <p:spPr>
              <a:xfrm>
                <a:off x="8851359" y="3143623"/>
                <a:ext cx="113107" cy="103320"/>
              </a:xfrm>
              <a:prstGeom prst="rect">
                <a:avLst/>
              </a:prstGeom>
            </p:spPr>
          </p:pic>
        </mc:Fallback>
      </mc:AlternateContent>
      <p:grpSp>
        <p:nvGrpSpPr>
          <p:cNvPr id="32" name="Group 31">
            <a:extLst>
              <a:ext uri="{FF2B5EF4-FFF2-40B4-BE49-F238E27FC236}">
                <a16:creationId xmlns:a16="http://schemas.microsoft.com/office/drawing/2014/main" id="{8E8C822D-2683-87D0-E50E-0D80539585C8}"/>
              </a:ext>
            </a:extLst>
          </p:cNvPr>
          <p:cNvGrpSpPr/>
          <p:nvPr/>
        </p:nvGrpSpPr>
        <p:grpSpPr>
          <a:xfrm>
            <a:off x="4172113" y="2426863"/>
            <a:ext cx="1155960" cy="384120"/>
            <a:chOff x="2648113" y="2426863"/>
            <a:chExt cx="1155960" cy="384120"/>
          </a:xfrm>
        </p:grpSpPr>
        <mc:AlternateContent xmlns:mc="http://schemas.openxmlformats.org/markup-compatibility/2006" xmlns:p14="http://schemas.microsoft.com/office/powerpoint/2010/main">
          <mc:Choice Requires="p14">
            <p:contentPart p14:bwMode="auto" r:id="rId25">
              <p14:nvContentPartPr>
                <p14:cNvPr id="7" name="Ink 6">
                  <a:extLst>
                    <a:ext uri="{FF2B5EF4-FFF2-40B4-BE49-F238E27FC236}">
                      <a16:creationId xmlns:a16="http://schemas.microsoft.com/office/drawing/2014/main" id="{958CC530-F5A7-B462-EDC0-306E322639B7}"/>
                    </a:ext>
                  </a:extLst>
                </p14:cNvPr>
                <p14:cNvContentPartPr/>
                <p14:nvPr/>
              </p14:nvContentPartPr>
              <p14:xfrm>
                <a:off x="2648113" y="2585623"/>
                <a:ext cx="478080" cy="26640"/>
              </p14:xfrm>
            </p:contentPart>
          </mc:Choice>
          <mc:Fallback xmlns="">
            <p:pic>
              <p:nvPicPr>
                <p:cNvPr id="7" name="Ink 6">
                  <a:extLst>
                    <a:ext uri="{FF2B5EF4-FFF2-40B4-BE49-F238E27FC236}">
                      <a16:creationId xmlns:a16="http://schemas.microsoft.com/office/drawing/2014/main" id="{958CC530-F5A7-B462-EDC0-306E322639B7}"/>
                    </a:ext>
                  </a:extLst>
                </p:cNvPr>
                <p:cNvPicPr/>
                <p:nvPr/>
              </p:nvPicPr>
              <p:blipFill>
                <a:blip r:embed="rId26"/>
                <a:stretch>
                  <a:fillRect/>
                </a:stretch>
              </p:blipFill>
              <p:spPr>
                <a:xfrm>
                  <a:off x="2639473" y="2576983"/>
                  <a:ext cx="4957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 name="Ink 7">
                  <a:extLst>
                    <a:ext uri="{FF2B5EF4-FFF2-40B4-BE49-F238E27FC236}">
                      <a16:creationId xmlns:a16="http://schemas.microsoft.com/office/drawing/2014/main" id="{A2D1E74E-4809-462A-6AE2-B75C1DFDE0CA}"/>
                    </a:ext>
                  </a:extLst>
                </p14:cNvPr>
                <p14:cNvContentPartPr/>
                <p14:nvPr/>
              </p14:nvContentPartPr>
              <p14:xfrm>
                <a:off x="3055273" y="2547103"/>
                <a:ext cx="202680" cy="160560"/>
              </p14:xfrm>
            </p:contentPart>
          </mc:Choice>
          <mc:Fallback xmlns="">
            <p:pic>
              <p:nvPicPr>
                <p:cNvPr id="8" name="Ink 7">
                  <a:extLst>
                    <a:ext uri="{FF2B5EF4-FFF2-40B4-BE49-F238E27FC236}">
                      <a16:creationId xmlns:a16="http://schemas.microsoft.com/office/drawing/2014/main" id="{A2D1E74E-4809-462A-6AE2-B75C1DFDE0CA}"/>
                    </a:ext>
                  </a:extLst>
                </p:cNvPr>
                <p:cNvPicPr/>
                <p:nvPr/>
              </p:nvPicPr>
              <p:blipFill>
                <a:blip r:embed="rId28"/>
                <a:stretch>
                  <a:fillRect/>
                </a:stretch>
              </p:blipFill>
              <p:spPr>
                <a:xfrm>
                  <a:off x="3046273" y="2538103"/>
                  <a:ext cx="2203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084276F8-1A71-11A6-C3FE-BB6687E70F2B}"/>
                    </a:ext>
                  </a:extLst>
                </p14:cNvPr>
                <p14:cNvContentPartPr/>
                <p14:nvPr/>
              </p14:nvContentPartPr>
              <p14:xfrm>
                <a:off x="3402313" y="2426863"/>
                <a:ext cx="401760" cy="384120"/>
              </p14:xfrm>
            </p:contentPart>
          </mc:Choice>
          <mc:Fallback xmlns="">
            <p:pic>
              <p:nvPicPr>
                <p:cNvPr id="30" name="Ink 29">
                  <a:extLst>
                    <a:ext uri="{FF2B5EF4-FFF2-40B4-BE49-F238E27FC236}">
                      <a16:creationId xmlns:a16="http://schemas.microsoft.com/office/drawing/2014/main" id="{084276F8-1A71-11A6-C3FE-BB6687E70F2B}"/>
                    </a:ext>
                  </a:extLst>
                </p:cNvPr>
                <p:cNvPicPr/>
                <p:nvPr/>
              </p:nvPicPr>
              <p:blipFill>
                <a:blip r:embed="rId30"/>
                <a:stretch>
                  <a:fillRect/>
                </a:stretch>
              </p:blipFill>
              <p:spPr>
                <a:xfrm>
                  <a:off x="3393313" y="2418223"/>
                  <a:ext cx="419400" cy="401760"/>
                </a:xfrm>
                <a:prstGeom prst="rect">
                  <a:avLst/>
                </a:prstGeom>
              </p:spPr>
            </p:pic>
          </mc:Fallback>
        </mc:AlternateContent>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3059EBD6-ECF2-444A-BF7F-AB471225F183}" type="slidenum">
              <a:rPr lang="en-US" altLang="en-US" sz="1000">
                <a:solidFill>
                  <a:schemeClr val="bg1"/>
                </a:solidFill>
                <a:latin typeface="Arial" pitchFamily="34" charset="0"/>
              </a:rPr>
              <a:pPr/>
              <a:t>24</a:t>
            </a:fld>
            <a:endParaRPr lang="en-US" altLang="en-US" sz="1000">
              <a:solidFill>
                <a:schemeClr val="bg1"/>
              </a:solidFill>
              <a:latin typeface="Arial" pitchFamily="34" charset="0"/>
            </a:endParaRPr>
          </a:p>
        </p:txBody>
      </p:sp>
      <p:pic>
        <p:nvPicPr>
          <p:cNvPr id="41986" name="Picture 5" descr="Image37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905001"/>
            <a:ext cx="8428038" cy="36369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034445F-FB51-DCED-D526-30FF36A65D35}"/>
                  </a:ext>
                </a:extLst>
              </p14:cNvPr>
              <p14:cNvContentPartPr/>
              <p14:nvPr/>
            </p14:nvContentPartPr>
            <p14:xfrm>
              <a:off x="3352033" y="5408383"/>
              <a:ext cx="1086840" cy="41040"/>
            </p14:xfrm>
          </p:contentPart>
        </mc:Choice>
        <mc:Fallback xmlns="">
          <p:pic>
            <p:nvPicPr>
              <p:cNvPr id="2" name="Ink 1">
                <a:extLst>
                  <a:ext uri="{FF2B5EF4-FFF2-40B4-BE49-F238E27FC236}">
                    <a16:creationId xmlns:a16="http://schemas.microsoft.com/office/drawing/2014/main" id="{2034445F-FB51-DCED-D526-30FF36A65D35}"/>
                  </a:ext>
                </a:extLst>
              </p:cNvPr>
              <p:cNvPicPr/>
              <p:nvPr/>
            </p:nvPicPr>
            <p:blipFill>
              <a:blip r:embed="rId4"/>
              <a:stretch>
                <a:fillRect/>
              </a:stretch>
            </p:blipFill>
            <p:spPr>
              <a:xfrm>
                <a:off x="3298033" y="5300383"/>
                <a:ext cx="11944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01F27FE-2DF2-706E-C796-D459BADF9930}"/>
                  </a:ext>
                </a:extLst>
              </p14:cNvPr>
              <p14:cNvContentPartPr/>
              <p14:nvPr/>
            </p14:nvContentPartPr>
            <p14:xfrm>
              <a:off x="7363153" y="5370943"/>
              <a:ext cx="1225800" cy="51840"/>
            </p14:xfrm>
          </p:contentPart>
        </mc:Choice>
        <mc:Fallback xmlns="">
          <p:pic>
            <p:nvPicPr>
              <p:cNvPr id="3" name="Ink 2">
                <a:extLst>
                  <a:ext uri="{FF2B5EF4-FFF2-40B4-BE49-F238E27FC236}">
                    <a16:creationId xmlns:a16="http://schemas.microsoft.com/office/drawing/2014/main" id="{A01F27FE-2DF2-706E-C796-D459BADF9930}"/>
                  </a:ext>
                </a:extLst>
              </p:cNvPr>
              <p:cNvPicPr/>
              <p:nvPr/>
            </p:nvPicPr>
            <p:blipFill>
              <a:blip r:embed="rId6"/>
              <a:stretch>
                <a:fillRect/>
              </a:stretch>
            </p:blipFill>
            <p:spPr>
              <a:xfrm>
                <a:off x="7309153" y="5262943"/>
                <a:ext cx="1333440" cy="2674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BD952905-CC04-435D-9574-56300E4BCAA4}" type="slidenum">
              <a:rPr lang="en-US" altLang="en-US" sz="1000">
                <a:solidFill>
                  <a:schemeClr val="bg1"/>
                </a:solidFill>
                <a:latin typeface="Arial" pitchFamily="34" charset="0"/>
              </a:rPr>
              <a:pPr/>
              <a:t>25</a:t>
            </a:fld>
            <a:endParaRPr lang="en-US" altLang="en-US" sz="1000">
              <a:solidFill>
                <a:schemeClr val="bg1"/>
              </a:solidFill>
              <a:latin typeface="Arial" pitchFamily="34" charset="0"/>
            </a:endParaRPr>
          </a:p>
        </p:txBody>
      </p:sp>
      <p:sp>
        <p:nvSpPr>
          <p:cNvPr id="25604" name="Rectangle 2"/>
          <p:cNvSpPr>
            <a:spLocks noGrp="1" noChangeArrowheads="1"/>
          </p:cNvSpPr>
          <p:nvPr>
            <p:ph type="title"/>
          </p:nvPr>
        </p:nvSpPr>
        <p:spPr>
          <a:xfrm>
            <a:off x="2989982" y="274639"/>
            <a:ext cx="6202362" cy="777875"/>
          </a:xfrm>
        </p:spPr>
        <p:txBody>
          <a:bodyPr/>
          <a:lstStyle/>
          <a:p>
            <a:pPr eaLnBrk="1" hangingPunct="1">
              <a:defRPr/>
            </a:pPr>
            <a:r>
              <a:rPr lang="en-US" sz="4000" b="1" dirty="0">
                <a:ea typeface="ＭＳ Ｐゴシック" charset="0"/>
                <a:cs typeface="+mj-cs"/>
              </a:rPr>
              <a:t>Example</a:t>
            </a:r>
          </a:p>
        </p:txBody>
      </p:sp>
      <p:pic>
        <p:nvPicPr>
          <p:cNvPr id="43011" name="Picture 5" descr="1471-2105-4-3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0526" y="1399734"/>
            <a:ext cx="6785874" cy="469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5"/>
          <p:cNvSpPr>
            <a:spLocks noGrp="1"/>
          </p:cNvSpPr>
          <p:nvPr>
            <p:ph type="sldNum" sz="quarter" idx="12"/>
          </p:nvPr>
        </p:nvSpPr>
        <p:spPr bwMode="auto">
          <a:xfrm>
            <a:off x="5735639" y="6519864"/>
            <a:ext cx="504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40177414-ADCC-4263-8251-E3E1B3437F17}" type="slidenum">
              <a:rPr lang="en-US" altLang="en-US" sz="1000">
                <a:solidFill>
                  <a:schemeClr val="bg1"/>
                </a:solidFill>
                <a:latin typeface="Arial" pitchFamily="34" charset="0"/>
              </a:rPr>
              <a:pPr/>
              <a:t>26</a:t>
            </a:fld>
            <a:endParaRPr lang="en-US" altLang="en-US" sz="1000">
              <a:solidFill>
                <a:schemeClr val="bg1"/>
              </a:solidFill>
              <a:latin typeface="Arial" pitchFamily="34" charset="0"/>
            </a:endParaRPr>
          </a:p>
        </p:txBody>
      </p:sp>
      <p:sp>
        <p:nvSpPr>
          <p:cNvPr id="26628" name="Rectangle 2"/>
          <p:cNvSpPr>
            <a:spLocks noGrp="1" noChangeArrowheads="1"/>
          </p:cNvSpPr>
          <p:nvPr>
            <p:ph type="title"/>
          </p:nvPr>
        </p:nvSpPr>
        <p:spPr>
          <a:xfrm>
            <a:off x="2988964" y="260649"/>
            <a:ext cx="6275388" cy="720725"/>
          </a:xfrm>
        </p:spPr>
        <p:txBody>
          <a:bodyPr/>
          <a:lstStyle/>
          <a:p>
            <a:pPr eaLnBrk="1" hangingPunct="1">
              <a:defRPr/>
            </a:pPr>
            <a:r>
              <a:rPr lang="en-US" sz="4000" b="1" dirty="0">
                <a:ea typeface="ＭＳ Ｐゴシック" charset="0"/>
                <a:cs typeface="+mj-cs"/>
              </a:rPr>
              <a:t>Exercise #1</a:t>
            </a:r>
          </a:p>
        </p:txBody>
      </p:sp>
      <p:sp>
        <p:nvSpPr>
          <p:cNvPr id="44035" name="Rectangle 3"/>
          <p:cNvSpPr>
            <a:spLocks noGrp="1" noChangeArrowheads="1"/>
          </p:cNvSpPr>
          <p:nvPr>
            <p:ph type="body" idx="1"/>
          </p:nvPr>
        </p:nvSpPr>
        <p:spPr>
          <a:xfrm>
            <a:off x="1847851" y="1412876"/>
            <a:ext cx="8640763" cy="4525963"/>
          </a:xfrm>
        </p:spPr>
        <p:txBody>
          <a:bodyPr/>
          <a:lstStyle/>
          <a:p>
            <a:pPr marL="0" indent="0" algn="just" eaLnBrk="1" hangingPunct="1">
              <a:lnSpc>
                <a:spcPct val="90000"/>
              </a:lnSpc>
              <a:buNone/>
            </a:pPr>
            <a:r>
              <a:rPr lang="en-US" altLang="en-US" sz="2800" dirty="0"/>
              <a:t>The owner of a shoe shop recorded the sizes of the feet of all the customers who bought shoes in his shop in one morning. These sizes are listed below:</a:t>
            </a:r>
          </a:p>
          <a:p>
            <a:pPr marL="0" indent="0" algn="just" eaLnBrk="1" hangingPunct="1">
              <a:lnSpc>
                <a:spcPct val="90000"/>
              </a:lnSpc>
              <a:buNone/>
            </a:pPr>
            <a:endParaRPr lang="en-US" altLang="en-US" sz="2800" dirty="0"/>
          </a:p>
          <a:p>
            <a:pPr marL="0" indent="0" algn="ctr" eaLnBrk="1" hangingPunct="1">
              <a:lnSpc>
                <a:spcPct val="90000"/>
              </a:lnSpc>
              <a:buNone/>
            </a:pPr>
            <a:r>
              <a:rPr lang="en-US" altLang="en-US" sz="2800" dirty="0"/>
              <a:t>8, 7, 4, 5, 9, 13, 10, 8, 8, 7, 6, 5, 3, 11,10, 8, 5, 4, 8, 6</a:t>
            </a:r>
          </a:p>
          <a:p>
            <a:pPr marL="0" indent="0" algn="just" eaLnBrk="1" hangingPunct="1">
              <a:lnSpc>
                <a:spcPct val="90000"/>
              </a:lnSpc>
              <a:buNone/>
            </a:pPr>
            <a:endParaRPr lang="en-US" altLang="en-US" sz="2800" dirty="0"/>
          </a:p>
          <a:p>
            <a:pPr marL="0" indent="0" algn="just" eaLnBrk="1" hangingPunct="1">
              <a:lnSpc>
                <a:spcPct val="90000"/>
              </a:lnSpc>
              <a:buFontTx/>
              <a:buAutoNum type="alphaLcParenBoth"/>
            </a:pPr>
            <a:r>
              <a:rPr lang="en-US" altLang="en-US" sz="2800" dirty="0"/>
              <a:t>What is the mean of these values?</a:t>
            </a:r>
          </a:p>
          <a:p>
            <a:pPr marL="0" indent="0" algn="just" eaLnBrk="1" hangingPunct="1">
              <a:lnSpc>
                <a:spcPct val="90000"/>
              </a:lnSpc>
              <a:buFontTx/>
              <a:buAutoNum type="alphaLcParenBoth"/>
            </a:pPr>
            <a:r>
              <a:rPr lang="en-US" altLang="en-US" sz="2800" dirty="0"/>
              <a:t>What is the median of these values?</a:t>
            </a:r>
          </a:p>
          <a:p>
            <a:pPr marL="0" indent="0" algn="just" eaLnBrk="1" hangingPunct="1">
              <a:lnSpc>
                <a:spcPct val="90000"/>
              </a:lnSpc>
              <a:buFontTx/>
              <a:buAutoNum type="alphaLcParenBoth"/>
            </a:pPr>
            <a:r>
              <a:rPr lang="en-US" altLang="en-US" sz="2800" dirty="0"/>
              <a:t>What is the mode of these values?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6"/>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4CCC9C61-992E-4886-8C7D-81D9C07F58A3}" type="slidenum">
              <a:rPr lang="en-US" altLang="en-US" sz="1000">
                <a:solidFill>
                  <a:schemeClr val="bg1"/>
                </a:solidFill>
                <a:latin typeface="Arial" pitchFamily="34" charset="0"/>
              </a:rPr>
              <a:pPr/>
              <a:t>27</a:t>
            </a:fld>
            <a:endParaRPr lang="en-US" altLang="en-US" sz="1000">
              <a:solidFill>
                <a:schemeClr val="bg1"/>
              </a:solidFill>
              <a:latin typeface="Arial" pitchFamily="34" charset="0"/>
            </a:endParaRPr>
          </a:p>
        </p:txBody>
      </p:sp>
      <p:sp>
        <p:nvSpPr>
          <p:cNvPr id="27652" name="Rectangle 2"/>
          <p:cNvSpPr>
            <a:spLocks noGrp="1" noChangeArrowheads="1"/>
          </p:cNvSpPr>
          <p:nvPr>
            <p:ph type="title"/>
          </p:nvPr>
        </p:nvSpPr>
        <p:spPr>
          <a:xfrm>
            <a:off x="3503712" y="294928"/>
            <a:ext cx="5181600" cy="685800"/>
          </a:xfrm>
        </p:spPr>
        <p:txBody>
          <a:bodyPr/>
          <a:lstStyle/>
          <a:p>
            <a:pPr eaLnBrk="1" hangingPunct="1">
              <a:defRPr/>
            </a:pPr>
            <a:r>
              <a:rPr lang="en-US" sz="4000" b="1" dirty="0">
                <a:ea typeface="ＭＳ Ｐゴシック" charset="0"/>
                <a:cs typeface="+mj-cs"/>
              </a:rPr>
              <a:t>Exercise #2</a:t>
            </a:r>
          </a:p>
        </p:txBody>
      </p:sp>
      <p:sp>
        <p:nvSpPr>
          <p:cNvPr id="46083" name="Rectangle 3"/>
          <p:cNvSpPr>
            <a:spLocks noGrp="1" noChangeArrowheads="1"/>
          </p:cNvSpPr>
          <p:nvPr>
            <p:ph type="body" sz="half" idx="1"/>
          </p:nvPr>
        </p:nvSpPr>
        <p:spPr>
          <a:xfrm>
            <a:off x="1919289" y="980728"/>
            <a:ext cx="8497887" cy="5544616"/>
          </a:xfrm>
        </p:spPr>
        <p:txBody>
          <a:bodyPr/>
          <a:lstStyle/>
          <a:p>
            <a:pPr marL="0" indent="0" algn="just" eaLnBrk="1" hangingPunct="1">
              <a:lnSpc>
                <a:spcPct val="120000"/>
              </a:lnSpc>
              <a:buNone/>
            </a:pPr>
            <a:r>
              <a:rPr lang="en-US" altLang="en-US" sz="2800" dirty="0"/>
              <a:t>The table below gives the number of accidents each year at a particular road junction: </a:t>
            </a:r>
          </a:p>
          <a:p>
            <a:pPr marL="0" indent="0" algn="just" eaLnBrk="1" hangingPunct="1">
              <a:lnSpc>
                <a:spcPct val="120000"/>
              </a:lnSpc>
              <a:buNone/>
            </a:pPr>
            <a:endParaRPr lang="en-US" altLang="en-US" sz="2800" dirty="0"/>
          </a:p>
          <a:p>
            <a:pPr marL="0" indent="0" algn="just" eaLnBrk="1" hangingPunct="1">
              <a:lnSpc>
                <a:spcPct val="120000"/>
              </a:lnSpc>
              <a:buNone/>
            </a:pPr>
            <a:endParaRPr lang="en-US" altLang="en-US" sz="2800" dirty="0"/>
          </a:p>
          <a:p>
            <a:pPr marL="446088" indent="-446088" algn="just" eaLnBrk="1" hangingPunct="1">
              <a:lnSpc>
                <a:spcPct val="120000"/>
              </a:lnSpc>
              <a:buNone/>
            </a:pPr>
            <a:r>
              <a:rPr lang="en-US" altLang="en-US" sz="2400" dirty="0"/>
              <a:t>(a) Calculate the </a:t>
            </a:r>
            <a:r>
              <a:rPr lang="en-US" altLang="en-US" sz="2400" dirty="0">
                <a:solidFill>
                  <a:srgbClr val="0000FF"/>
                </a:solidFill>
              </a:rPr>
              <a:t>mean</a:t>
            </a:r>
            <a:r>
              <a:rPr lang="en-US" altLang="en-US" sz="2400" dirty="0"/>
              <a:t>, </a:t>
            </a:r>
            <a:r>
              <a:rPr lang="en-US" altLang="en-US" sz="2400" dirty="0">
                <a:solidFill>
                  <a:srgbClr val="0000FF"/>
                </a:solidFill>
              </a:rPr>
              <a:t>median</a:t>
            </a:r>
            <a:r>
              <a:rPr lang="en-US" altLang="en-US" sz="2400" dirty="0"/>
              <a:t> and </a:t>
            </a:r>
            <a:r>
              <a:rPr lang="en-US" altLang="en-US" sz="2400" dirty="0">
                <a:solidFill>
                  <a:srgbClr val="0000FF"/>
                </a:solidFill>
              </a:rPr>
              <a:t>mode</a:t>
            </a:r>
            <a:r>
              <a:rPr lang="en-US" altLang="en-US" sz="2400" dirty="0"/>
              <a:t> for the values above.</a:t>
            </a:r>
          </a:p>
          <a:p>
            <a:pPr marL="446088" indent="-446088" algn="just" eaLnBrk="1" hangingPunct="1">
              <a:lnSpc>
                <a:spcPct val="120000"/>
              </a:lnSpc>
              <a:buNone/>
            </a:pPr>
            <a:r>
              <a:rPr lang="en-US" altLang="en-US" sz="2400" dirty="0"/>
              <a:t>(b) A road safety group want the council to do some improvement to make this junction safer. Which measure will they use to argue for this?</a:t>
            </a:r>
          </a:p>
          <a:p>
            <a:pPr marL="446088" indent="-446088" algn="just" eaLnBrk="1" hangingPunct="1">
              <a:lnSpc>
                <a:spcPct val="120000"/>
              </a:lnSpc>
              <a:buNone/>
            </a:pPr>
            <a:r>
              <a:rPr lang="en-US" altLang="en-US" sz="2400" dirty="0"/>
              <a:t>(c) The council don't want to spend money on the road junction.</a:t>
            </a:r>
            <a:br>
              <a:rPr lang="en-US" altLang="en-US" sz="2400" dirty="0"/>
            </a:br>
            <a:r>
              <a:rPr lang="en-US" altLang="en-US" sz="2400" dirty="0"/>
              <a:t>Which measure will they use to argue that safety work is not necessary?</a:t>
            </a:r>
          </a:p>
        </p:txBody>
      </p:sp>
      <p:graphicFrame>
        <p:nvGraphicFramePr>
          <p:cNvPr id="103457" name="Group 33"/>
          <p:cNvGraphicFramePr>
            <a:graphicFrameLocks noGrp="1"/>
          </p:cNvGraphicFramePr>
          <p:nvPr>
            <p:ph sz="half" idx="2"/>
          </p:nvPr>
        </p:nvGraphicFramePr>
        <p:xfrm>
          <a:off x="2525216" y="2146176"/>
          <a:ext cx="7315200" cy="10668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tblGrid>
              <a:tr h="5334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2001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2008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5"/>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3437A03B-5153-4065-870E-4E3B25EA1BBA}" type="slidenum">
              <a:rPr lang="en-US" altLang="en-US" sz="1000" b="1">
                <a:solidFill>
                  <a:schemeClr val="bg1"/>
                </a:solidFill>
                <a:latin typeface="Arial" pitchFamily="34" charset="0"/>
              </a:rPr>
              <a:pPr algn="ctr"/>
              <a:t>28</a:t>
            </a:fld>
            <a:endParaRPr lang="en-US" altLang="en-US" sz="1000" b="1">
              <a:solidFill>
                <a:schemeClr val="bg1"/>
              </a:solidFill>
              <a:latin typeface="Arial" pitchFamily="34" charset="0"/>
            </a:endParaRPr>
          </a:p>
        </p:txBody>
      </p:sp>
      <p:sp>
        <p:nvSpPr>
          <p:cNvPr id="48130" name="Rectangle 2"/>
          <p:cNvSpPr>
            <a:spLocks noGrp="1" noChangeArrowheads="1"/>
          </p:cNvSpPr>
          <p:nvPr>
            <p:ph type="title"/>
          </p:nvPr>
        </p:nvSpPr>
        <p:spPr>
          <a:xfrm>
            <a:off x="3143673" y="258763"/>
            <a:ext cx="5926137" cy="506412"/>
          </a:xfrm>
        </p:spPr>
        <p:txBody>
          <a:bodyPr/>
          <a:lstStyle/>
          <a:p>
            <a:pPr eaLnBrk="1" hangingPunct="1"/>
            <a:r>
              <a:rPr lang="en-US" altLang="en-US" sz="4000" b="1" dirty="0"/>
              <a:t>Exercise #3</a:t>
            </a:r>
          </a:p>
        </p:txBody>
      </p:sp>
      <p:sp>
        <p:nvSpPr>
          <p:cNvPr id="48131" name="Rectangle 3"/>
          <p:cNvSpPr>
            <a:spLocks noGrp="1" noChangeArrowheads="1"/>
          </p:cNvSpPr>
          <p:nvPr>
            <p:ph type="body" idx="1"/>
          </p:nvPr>
        </p:nvSpPr>
        <p:spPr>
          <a:xfrm>
            <a:off x="1847850" y="1556792"/>
            <a:ext cx="8496622" cy="4896396"/>
          </a:xfrm>
        </p:spPr>
        <p:txBody>
          <a:bodyPr/>
          <a:lstStyle/>
          <a:p>
            <a:pPr marL="0" indent="0" algn="just" eaLnBrk="1" hangingPunct="1">
              <a:lnSpc>
                <a:spcPct val="90000"/>
              </a:lnSpc>
              <a:buNone/>
            </a:pPr>
            <a:r>
              <a:rPr lang="en-US" altLang="en-US" sz="2800" dirty="0"/>
              <a:t>You grew fifty baby carrots using special soil. You dig them up and measure their lengths (to the nearest mm) and group the results:</a:t>
            </a:r>
          </a:p>
          <a:p>
            <a:pPr marL="0" indent="0" eaLnBrk="1" hangingPunct="1">
              <a:lnSpc>
                <a:spcPct val="90000"/>
              </a:lnSpc>
              <a:buNone/>
            </a:pPr>
            <a:r>
              <a:rPr lang="en-US" altLang="en-US" sz="2800" dirty="0"/>
              <a:t>Find the</a:t>
            </a:r>
          </a:p>
          <a:p>
            <a:pPr marL="0" indent="0" eaLnBrk="1" hangingPunct="1">
              <a:lnSpc>
                <a:spcPct val="90000"/>
              </a:lnSpc>
              <a:buNone/>
            </a:pPr>
            <a:r>
              <a:rPr lang="en-US" altLang="en-US" sz="2800" dirty="0"/>
              <a:t>(a) mean</a:t>
            </a:r>
            <a:br>
              <a:rPr lang="en-US" altLang="en-US" sz="2800" dirty="0"/>
            </a:br>
            <a:r>
              <a:rPr lang="en-US" altLang="en-US" sz="2800" dirty="0"/>
              <a:t>(b) median</a:t>
            </a:r>
            <a:br>
              <a:rPr lang="en-US" altLang="en-US" sz="2800" dirty="0"/>
            </a:br>
            <a:r>
              <a:rPr lang="en-US" altLang="en-US" sz="2800" dirty="0"/>
              <a:t>(c) mode</a:t>
            </a:r>
          </a:p>
        </p:txBody>
      </p:sp>
      <p:graphicFrame>
        <p:nvGraphicFramePr>
          <p:cNvPr id="2" name="Table 1"/>
          <p:cNvGraphicFramePr>
            <a:graphicFrameLocks noGrp="1"/>
          </p:cNvGraphicFramePr>
          <p:nvPr/>
        </p:nvGraphicFramePr>
        <p:xfrm>
          <a:off x="5867401" y="2492896"/>
          <a:ext cx="3665235" cy="3657600"/>
        </p:xfrm>
        <a:graphic>
          <a:graphicData uri="http://schemas.openxmlformats.org/drawingml/2006/table">
            <a:tbl>
              <a:tblPr/>
              <a:tblGrid>
                <a:gridCol w="1874535">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itchFamily="34" charset="0"/>
                          <a:ea typeface="MS PGothic" pitchFamily="34" charset="-128"/>
                        </a:rPr>
                        <a:t>Length (mm)</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Frequency</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0"/>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149.5 – 154.5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1"/>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154.5 – 159.5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2</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2"/>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159.5 – 164.5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6</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164.5 – 169.5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8</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4"/>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169.5 – 174.5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9</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5"/>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174.5 – 179.5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11</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6"/>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179.5 – 184.5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6</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7"/>
                  </a:ext>
                </a:extLst>
              </a:tr>
              <a:tr h="406400">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184.5 – 189.5</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itchFamily="34" charset="0"/>
                          <a:ea typeface="MS PGothic" pitchFamily="34" charset="-128"/>
                        </a:rPr>
                        <a:t>3</a:t>
                      </a:r>
                    </a:p>
                  </a:txBody>
                  <a:tcPr marL="66524" marR="66524" marT="33262" marB="3326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0587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a:xfrm>
            <a:off x="2988966" y="274639"/>
            <a:ext cx="6275387" cy="561975"/>
          </a:xfrm>
        </p:spPr>
        <p:txBody>
          <a:bodyPr/>
          <a:lstStyle/>
          <a:p>
            <a:r>
              <a:rPr lang="en-US" altLang="en-US" sz="4000" b="1" dirty="0"/>
              <a:t>Exercise #4</a:t>
            </a:r>
          </a:p>
        </p:txBody>
      </p:sp>
      <p:sp>
        <p:nvSpPr>
          <p:cNvPr id="49154" name="Content Placeholder 2"/>
          <p:cNvSpPr>
            <a:spLocks noGrp="1"/>
          </p:cNvSpPr>
          <p:nvPr>
            <p:ph idx="1"/>
          </p:nvPr>
        </p:nvSpPr>
        <p:spPr>
          <a:xfrm>
            <a:off x="1847850" y="1124844"/>
            <a:ext cx="8229600" cy="2016125"/>
          </a:xfrm>
        </p:spPr>
        <p:txBody>
          <a:bodyPr/>
          <a:lstStyle/>
          <a:p>
            <a:pPr marL="0" indent="0" algn="just">
              <a:buNone/>
            </a:pPr>
            <a:r>
              <a:rPr lang="en-US" altLang="en-US" sz="2800" dirty="0"/>
              <a:t>Find the mean, median and mode corresponding to the frequency table of samples of student cars and faculty/staff cars obtained from a college.</a:t>
            </a:r>
          </a:p>
        </p:txBody>
      </p:sp>
      <p:graphicFrame>
        <p:nvGraphicFramePr>
          <p:cNvPr id="5" name="Table 4"/>
          <p:cNvGraphicFramePr>
            <a:graphicFrameLocks noGrp="1"/>
          </p:cNvGraphicFramePr>
          <p:nvPr/>
        </p:nvGraphicFramePr>
        <p:xfrm>
          <a:off x="3168352" y="2708920"/>
          <a:ext cx="6096000" cy="356599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FFFF"/>
                          </a:solidFill>
                          <a:effectLst/>
                          <a:latin typeface="Calibri" pitchFamily="34" charset="0"/>
                          <a:ea typeface="MS PGothic" pitchFamily="34" charset="-128"/>
                        </a:rPr>
                        <a:t>Age</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FFFFFF"/>
                          </a:solidFill>
                          <a:effectLst/>
                          <a:latin typeface="Calibri" pitchFamily="34" charset="0"/>
                          <a:ea typeface="MS PGothic" pitchFamily="34" charset="-128"/>
                        </a:rPr>
                        <a:t>Students</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FFFFFF"/>
                          </a:solidFill>
                          <a:effectLst/>
                          <a:latin typeface="Calibri" pitchFamily="34" charset="0"/>
                          <a:ea typeface="MS PGothic" pitchFamily="34" charset="-128"/>
                        </a:rPr>
                        <a:t>Faculty/Staff</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0.5 – 3.5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23 </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30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1"/>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3.5– 6.5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33</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itchFamily="34" charset="0"/>
                          <a:ea typeface="MS PGothic" pitchFamily="34" charset="-128"/>
                        </a:rPr>
                        <a:t>47</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2"/>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6.5 – 9.5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63</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36</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3"/>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9.5 – 12.5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68</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30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4"/>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12.5 – 15.5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19</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8</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5"/>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15.5 – 18.5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6"/>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itchFamily="34" charset="0"/>
                          <a:ea typeface="MS PGothic" pitchFamily="34" charset="-128"/>
                        </a:rPr>
                        <a:t>18.5 – 21.5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1</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7"/>
                  </a:ext>
                </a:extLst>
              </a:tr>
              <a:tr h="371475">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21.5 – 24.5</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Calibri" pitchFamily="34" charset="0"/>
                          <a:ea typeface="MS PGothic" pitchFamily="34" charset="-128"/>
                        </a:rPr>
                        <a:t>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a:spcBef>
                          <a:spcPct val="20000"/>
                        </a:spcBef>
                        <a:buFont typeface="Arial" pitchFamily="34" charset="0"/>
                        <a:defRPr sz="2800">
                          <a:solidFill>
                            <a:schemeClr val="tx1"/>
                          </a:solidFill>
                          <a:latin typeface="Calibri" pitchFamily="34" charset="0"/>
                          <a:ea typeface="MS PGothic" pitchFamily="34" charset="-128"/>
                          <a:cs typeface="MS PGothic" pitchFamily="34" charset="-128"/>
                        </a:defRPr>
                      </a:lvl1pPr>
                      <a:lvl2pPr marL="742950" indent="-285750">
                        <a:spcBef>
                          <a:spcPct val="20000"/>
                        </a:spcBef>
                        <a:buFont typeface="Arial" pitchFamily="34" charset="0"/>
                        <a:defRPr sz="2400">
                          <a:solidFill>
                            <a:schemeClr val="tx1"/>
                          </a:solidFill>
                          <a:latin typeface="Calibri" pitchFamily="34" charset="0"/>
                          <a:ea typeface="MS PGothic" pitchFamily="34" charset="-128"/>
                        </a:defRPr>
                      </a:lvl2pPr>
                      <a:lvl3pPr marL="1143000" indent="-228600">
                        <a:spcBef>
                          <a:spcPct val="20000"/>
                        </a:spcBef>
                        <a:buFont typeface="Arial" pitchFamily="34" charset="0"/>
                        <a:defRPr sz="2000">
                          <a:solidFill>
                            <a:schemeClr val="tx1"/>
                          </a:solidFill>
                          <a:latin typeface="Calibri" pitchFamily="34" charset="0"/>
                          <a:ea typeface="MS PGothic" pitchFamily="34" charset="-128"/>
                        </a:defRPr>
                      </a:lvl3pPr>
                      <a:lvl4pPr marL="1600200" indent="-228600">
                        <a:spcBef>
                          <a:spcPct val="20000"/>
                        </a:spcBef>
                        <a:buFont typeface="Arial" pitchFamily="34" charset="0"/>
                        <a:defRPr>
                          <a:solidFill>
                            <a:schemeClr val="tx1"/>
                          </a:solidFill>
                          <a:latin typeface="Calibri" pitchFamily="34" charset="0"/>
                          <a:ea typeface="MS PGothic" pitchFamily="34" charset="-128"/>
                        </a:defRPr>
                      </a:lvl4pPr>
                      <a:lvl5pPr marL="2057400" indent="-228600">
                        <a:spcBef>
                          <a:spcPct val="20000"/>
                        </a:spcBef>
                        <a:buFont typeface="Arial" pitchFamily="34" charset="0"/>
                        <a:defRPr>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MS PGothic"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alibri" pitchFamily="34" charset="0"/>
                          <a:ea typeface="MS PGothic" pitchFamily="34" charset="-128"/>
                        </a:rPr>
                        <a:t>1</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8"/>
                  </a:ext>
                </a:extLst>
              </a:tr>
            </a:tbl>
          </a:graphicData>
        </a:graphic>
      </p:graphicFrame>
      <p:sp>
        <p:nvSpPr>
          <p:cNvPr id="49197" name="Slide Number Placeholder 1"/>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5E9A887A-6803-4D74-9934-00C174B6724C}" type="slidenum">
              <a:rPr lang="en-US" altLang="en-US" sz="1000" b="1">
                <a:solidFill>
                  <a:schemeClr val="bg1"/>
                </a:solidFill>
                <a:latin typeface="Arial" pitchFamily="34" charset="0"/>
              </a:rPr>
              <a:pPr algn="ctr"/>
              <a:t>29</a:t>
            </a:fld>
            <a:endParaRPr lang="en-US" altLang="en-US" sz="1000" b="1">
              <a:solidFill>
                <a:schemeClr val="bg1"/>
              </a:solidFill>
              <a:latin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6B5BDDE1-6299-464A-9B1C-1B0403D30183}" type="slidenum">
              <a:rPr lang="en-US" altLang="en-US" sz="1000">
                <a:solidFill>
                  <a:schemeClr val="bg1"/>
                </a:solidFill>
                <a:latin typeface="Arial" pitchFamily="34" charset="0"/>
              </a:rPr>
              <a:pPr/>
              <a:t>30</a:t>
            </a:fld>
            <a:endParaRPr lang="en-US" altLang="en-US" sz="1000">
              <a:solidFill>
                <a:schemeClr val="bg1"/>
              </a:solidFill>
              <a:latin typeface="Arial" pitchFamily="34" charset="0"/>
            </a:endParaRPr>
          </a:p>
        </p:txBody>
      </p:sp>
      <p:sp>
        <p:nvSpPr>
          <p:cNvPr id="28676" name="Rectangle 2"/>
          <p:cNvSpPr>
            <a:spLocks noGrp="1" noChangeArrowheads="1"/>
          </p:cNvSpPr>
          <p:nvPr>
            <p:ph type="title"/>
          </p:nvPr>
        </p:nvSpPr>
        <p:spPr>
          <a:xfrm>
            <a:off x="3938016" y="365760"/>
            <a:ext cx="6272784" cy="777240"/>
          </a:xfrm>
          <a:ln w="28575">
            <a:solidFill>
              <a:schemeClr val="accent2"/>
            </a:solidFill>
          </a:ln>
        </p:spPr>
        <p:txBody>
          <a:bodyPr/>
          <a:lstStyle/>
          <a:p>
            <a:pPr eaLnBrk="1" hangingPunct="1">
              <a:defRPr/>
            </a:pPr>
            <a:r>
              <a:rPr lang="en-US" sz="4000" b="1" dirty="0">
                <a:ea typeface="ＭＳ Ｐゴシック" charset="0"/>
                <a:cs typeface="+mj-cs"/>
              </a:rPr>
              <a:t>Data Profiles</a:t>
            </a:r>
          </a:p>
        </p:txBody>
      </p:sp>
      <p:sp>
        <p:nvSpPr>
          <p:cNvPr id="28677" name="Rectangle 3"/>
          <p:cNvSpPr>
            <a:spLocks noGrp="1" noChangeArrowheads="1"/>
          </p:cNvSpPr>
          <p:nvPr>
            <p:ph type="body" idx="1"/>
          </p:nvPr>
        </p:nvSpPr>
        <p:spPr>
          <a:xfrm>
            <a:off x="2423592" y="1711326"/>
            <a:ext cx="7604328" cy="4525963"/>
          </a:xfrm>
        </p:spPr>
        <p:txBody>
          <a:bodyPr/>
          <a:lstStyle/>
          <a:p>
            <a:pPr eaLnBrk="1" hangingPunct="1">
              <a:buFont typeface="Arial" charset="0"/>
              <a:buChar char="•"/>
              <a:defRPr/>
            </a:pPr>
            <a:r>
              <a:rPr lang="en-US" sz="2800" dirty="0">
                <a:ea typeface="ＭＳ Ｐゴシック" charset="0"/>
                <a:cs typeface="+mn-cs"/>
              </a:rPr>
              <a:t>Percentile</a:t>
            </a:r>
          </a:p>
          <a:p>
            <a:pPr eaLnBrk="1" hangingPunct="1">
              <a:buFont typeface="Arial" charset="0"/>
              <a:buChar char="•"/>
              <a:defRPr/>
            </a:pPr>
            <a:r>
              <a:rPr lang="en-US" sz="2800" dirty="0">
                <a:ea typeface="ＭＳ Ｐゴシック" charset="0"/>
                <a:cs typeface="+mn-cs"/>
              </a:rPr>
              <a:t>Quartile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5"/>
          <p:cNvSpPr>
            <a:spLocks noGrp="1"/>
          </p:cNvSpPr>
          <p:nvPr>
            <p:ph type="sldNum" sz="quarter" idx="12"/>
          </p:nvPr>
        </p:nvSpPr>
        <p:spPr bwMode="auto">
          <a:xfrm>
            <a:off x="5951538"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F965EF76-15C6-46BB-92FA-4D34D8C74C58}" type="slidenum">
              <a:rPr lang="en-US" altLang="en-US" sz="1000">
                <a:solidFill>
                  <a:schemeClr val="bg1"/>
                </a:solidFill>
                <a:latin typeface="Arial" pitchFamily="34" charset="0"/>
              </a:rPr>
              <a:pPr/>
              <a:t>31</a:t>
            </a:fld>
            <a:endParaRPr lang="en-US" altLang="en-US" sz="1000">
              <a:solidFill>
                <a:schemeClr val="bg1"/>
              </a:solidFill>
              <a:latin typeface="Arial" pitchFamily="34" charset="0"/>
            </a:endParaRPr>
          </a:p>
        </p:txBody>
      </p:sp>
      <p:sp>
        <p:nvSpPr>
          <p:cNvPr id="29700"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Percentile </a:t>
            </a:r>
          </a:p>
        </p:txBody>
      </p:sp>
      <p:sp>
        <p:nvSpPr>
          <p:cNvPr id="29701" name="Rectangle 3"/>
          <p:cNvSpPr>
            <a:spLocks noGrp="1" noChangeArrowheads="1"/>
          </p:cNvSpPr>
          <p:nvPr>
            <p:ph type="body" idx="1"/>
          </p:nvPr>
        </p:nvSpPr>
        <p:spPr/>
        <p:txBody>
          <a:bodyPr/>
          <a:lstStyle/>
          <a:p>
            <a:pPr marL="0" indent="0" algn="just" eaLnBrk="1" hangingPunct="1">
              <a:buNone/>
              <a:defRPr/>
            </a:pPr>
            <a:r>
              <a:rPr lang="en-US" sz="2800" dirty="0">
                <a:ea typeface="ＭＳ Ｐゴシック" charset="0"/>
                <a:cs typeface="+mn-cs"/>
              </a:rPr>
              <a:t>In a population or a sample, the </a:t>
            </a:r>
            <a:r>
              <a:rPr lang="en-US" sz="2800" b="1" i="1" dirty="0">
                <a:ea typeface="ＭＳ Ｐゴシック" charset="0"/>
                <a:cs typeface="Times New Roman"/>
              </a:rPr>
              <a:t>P-</a:t>
            </a:r>
            <a:r>
              <a:rPr lang="en-US" sz="2800" b="1" dirty="0" err="1">
                <a:ea typeface="ＭＳ Ｐゴシック" charset="0"/>
                <a:cs typeface="+mn-cs"/>
              </a:rPr>
              <a:t>th</a:t>
            </a:r>
            <a:r>
              <a:rPr lang="en-US" sz="2800" b="1" dirty="0">
                <a:ea typeface="ＭＳ Ｐゴシック" charset="0"/>
                <a:cs typeface="+mn-cs"/>
              </a:rPr>
              <a:t> percentile</a:t>
            </a:r>
            <a:r>
              <a:rPr lang="en-US" sz="2800" dirty="0">
                <a:ea typeface="ＭＳ Ｐゴシック" charset="0"/>
                <a:cs typeface="+mn-cs"/>
              </a:rPr>
              <a:t> is a value such that </a:t>
            </a:r>
            <a:r>
              <a:rPr lang="en-US" sz="2800" b="1" dirty="0">
                <a:ea typeface="ＭＳ Ｐゴシック" charset="0"/>
                <a:cs typeface="+mn-cs"/>
              </a:rPr>
              <a:t>at least </a:t>
            </a:r>
            <a:r>
              <a:rPr lang="en-US" sz="2800" b="1" i="1" dirty="0">
                <a:ea typeface="ＭＳ Ｐゴシック" charset="0"/>
                <a:cs typeface="Times New Roman"/>
              </a:rPr>
              <a:t>P</a:t>
            </a:r>
            <a:r>
              <a:rPr lang="en-US" sz="2800" b="1" dirty="0">
                <a:ea typeface="ＭＳ Ｐゴシック" charset="0"/>
                <a:cs typeface="+mn-cs"/>
              </a:rPr>
              <a:t> percent </a:t>
            </a:r>
            <a:r>
              <a:rPr lang="en-US" sz="2800" dirty="0">
                <a:ea typeface="ＭＳ Ｐゴシック" charset="0"/>
                <a:cs typeface="+mn-cs"/>
              </a:rPr>
              <a:t>of the values take on this value or less and </a:t>
            </a:r>
            <a:r>
              <a:rPr lang="en-US" sz="2800" b="1" dirty="0">
                <a:ea typeface="ＭＳ Ｐゴシック" charset="0"/>
                <a:cs typeface="+mn-cs"/>
              </a:rPr>
              <a:t>at least (100-</a:t>
            </a:r>
            <a:r>
              <a:rPr lang="en-US" sz="2800" b="1" i="1" dirty="0">
                <a:ea typeface="ＭＳ Ｐゴシック" charset="0"/>
                <a:cs typeface="Times New Roman"/>
              </a:rPr>
              <a:t>P</a:t>
            </a:r>
            <a:r>
              <a:rPr lang="en-US" sz="2800" b="1" dirty="0">
                <a:ea typeface="ＭＳ Ｐゴシック" charset="0"/>
                <a:cs typeface="+mn-cs"/>
              </a:rPr>
              <a:t>) percent</a:t>
            </a:r>
            <a:r>
              <a:rPr lang="en-US" sz="2800" dirty="0">
                <a:ea typeface="ＭＳ Ｐゴシック" charset="0"/>
                <a:cs typeface="+mn-cs"/>
              </a:rPr>
              <a:t> of the values take on this value or more.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5"/>
          <p:cNvSpPr>
            <a:spLocks noGrp="1"/>
          </p:cNvSpPr>
          <p:nvPr>
            <p:ph type="sldNum" sz="quarter" idx="12"/>
          </p:nvPr>
        </p:nvSpPr>
        <p:spPr bwMode="auto">
          <a:xfrm>
            <a:off x="5735638" y="6519864"/>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BD7DA4D6-9D0B-4A26-8F7F-3446602A4921}" type="slidenum">
              <a:rPr lang="en-US" altLang="en-US" sz="1000">
                <a:solidFill>
                  <a:schemeClr val="bg1"/>
                </a:solidFill>
                <a:latin typeface="Arial" pitchFamily="34" charset="0"/>
              </a:rPr>
              <a:pPr/>
              <a:t>32</a:t>
            </a:fld>
            <a:endParaRPr lang="en-US" altLang="en-US" sz="1000">
              <a:solidFill>
                <a:schemeClr val="bg1"/>
              </a:solidFill>
              <a:latin typeface="Arial" pitchFamily="34" charset="0"/>
            </a:endParaRPr>
          </a:p>
        </p:txBody>
      </p:sp>
      <p:sp>
        <p:nvSpPr>
          <p:cNvPr id="30724" name="Rectangle 6"/>
          <p:cNvSpPr>
            <a:spLocks noGrp="1" noChangeArrowheads="1"/>
          </p:cNvSpPr>
          <p:nvPr>
            <p:ph type="title"/>
          </p:nvPr>
        </p:nvSpPr>
        <p:spPr>
          <a:xfrm>
            <a:off x="2927649" y="274639"/>
            <a:ext cx="6275387" cy="777875"/>
          </a:xfrm>
        </p:spPr>
        <p:txBody>
          <a:bodyPr/>
          <a:lstStyle/>
          <a:p>
            <a:pPr eaLnBrk="1" hangingPunct="1">
              <a:defRPr/>
            </a:pPr>
            <a:r>
              <a:rPr lang="en-US" sz="4000" b="1" dirty="0">
                <a:ea typeface="ＭＳ Ｐゴシック" charset="0"/>
                <a:cs typeface="+mj-cs"/>
              </a:rPr>
              <a:t>Example</a:t>
            </a:r>
          </a:p>
        </p:txBody>
      </p:sp>
      <p:pic>
        <p:nvPicPr>
          <p:cNvPr id="52227" name="Picture 5" descr="summaries3fig5"/>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503" t="13888" r="6412" b="15868"/>
          <a:stretch/>
        </p:blipFill>
        <p:spPr>
          <a:xfrm>
            <a:off x="2495600" y="1305156"/>
            <a:ext cx="7362446" cy="5004164"/>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9706886-195A-4064-BA66-93E892E0160F}"/>
                  </a:ext>
                </a:extLst>
              </p14:cNvPr>
              <p14:cNvContentPartPr/>
              <p14:nvPr/>
            </p14:nvContentPartPr>
            <p14:xfrm>
              <a:off x="2670677" y="3604688"/>
              <a:ext cx="2037240" cy="109440"/>
            </p14:xfrm>
          </p:contentPart>
        </mc:Choice>
        <mc:Fallback xmlns="">
          <p:pic>
            <p:nvPicPr>
              <p:cNvPr id="2" name="Ink 1">
                <a:extLst>
                  <a:ext uri="{FF2B5EF4-FFF2-40B4-BE49-F238E27FC236}">
                    <a16:creationId xmlns:a16="http://schemas.microsoft.com/office/drawing/2014/main" id="{59706886-195A-4064-BA66-93E892E0160F}"/>
                  </a:ext>
                </a:extLst>
              </p:cNvPr>
              <p:cNvPicPr/>
              <p:nvPr/>
            </p:nvPicPr>
            <p:blipFill>
              <a:blip r:embed="rId4"/>
              <a:stretch>
                <a:fillRect/>
              </a:stretch>
            </p:blipFill>
            <p:spPr>
              <a:xfrm>
                <a:off x="2616677" y="3496688"/>
                <a:ext cx="21448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10BF78F-E4AE-2518-2D04-E68078E9B49D}"/>
                  </a:ext>
                </a:extLst>
              </p14:cNvPr>
              <p14:cNvContentPartPr/>
              <p14:nvPr/>
            </p14:nvContentPartPr>
            <p14:xfrm>
              <a:off x="5921477" y="3723488"/>
              <a:ext cx="2283120" cy="30960"/>
            </p14:xfrm>
          </p:contentPart>
        </mc:Choice>
        <mc:Fallback xmlns="">
          <p:pic>
            <p:nvPicPr>
              <p:cNvPr id="3" name="Ink 2">
                <a:extLst>
                  <a:ext uri="{FF2B5EF4-FFF2-40B4-BE49-F238E27FC236}">
                    <a16:creationId xmlns:a16="http://schemas.microsoft.com/office/drawing/2014/main" id="{810BF78F-E4AE-2518-2D04-E68078E9B49D}"/>
                  </a:ext>
                </a:extLst>
              </p:cNvPr>
              <p:cNvPicPr/>
              <p:nvPr/>
            </p:nvPicPr>
            <p:blipFill>
              <a:blip r:embed="rId6"/>
              <a:stretch>
                <a:fillRect/>
              </a:stretch>
            </p:blipFill>
            <p:spPr>
              <a:xfrm>
                <a:off x="5867477" y="3615488"/>
                <a:ext cx="2390760" cy="246600"/>
              </a:xfrm>
              <a:prstGeom prst="rect">
                <a:avLst/>
              </a:prstGeom>
            </p:spPr>
          </p:pic>
        </mc:Fallback>
      </mc:AlternateContent>
      <p:sp>
        <p:nvSpPr>
          <p:cNvPr id="4" name="TextBox 3">
            <a:extLst>
              <a:ext uri="{FF2B5EF4-FFF2-40B4-BE49-F238E27FC236}">
                <a16:creationId xmlns:a16="http://schemas.microsoft.com/office/drawing/2014/main" id="{6B5A12D5-F18A-ED62-42B2-F8A63F597B6B}"/>
              </a:ext>
            </a:extLst>
          </p:cNvPr>
          <p:cNvSpPr txBox="1"/>
          <p:nvPr/>
        </p:nvSpPr>
        <p:spPr>
          <a:xfrm>
            <a:off x="7696200" y="3048000"/>
            <a:ext cx="1354858" cy="369332"/>
          </a:xfrm>
          <a:prstGeom prst="rect">
            <a:avLst/>
          </a:prstGeom>
          <a:noFill/>
        </p:spPr>
        <p:txBody>
          <a:bodyPr wrap="none" rtlCol="0">
            <a:spAutoFit/>
          </a:bodyPr>
          <a:lstStyle/>
          <a:p>
            <a:r>
              <a:rPr lang="en-US" dirty="0"/>
              <a:t>100-20=80%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6"/>
          <p:cNvSpPr>
            <a:spLocks noGrp="1"/>
          </p:cNvSpPr>
          <p:nvPr>
            <p:ph type="sldNum" sz="quarter" idx="12"/>
          </p:nvPr>
        </p:nvSpPr>
        <p:spPr bwMode="auto">
          <a:xfrm>
            <a:off x="5664200" y="6519864"/>
            <a:ext cx="7191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FC04D993-971E-4B32-86C4-F2B5C48E35C2}" type="slidenum">
              <a:rPr lang="en-US" altLang="en-US" sz="1000">
                <a:solidFill>
                  <a:schemeClr val="bg1"/>
                </a:solidFill>
                <a:latin typeface="Arial" pitchFamily="34" charset="0"/>
              </a:rPr>
              <a:pPr/>
              <a:t>33</a:t>
            </a:fld>
            <a:endParaRPr lang="en-US" altLang="en-US" sz="1000">
              <a:solidFill>
                <a:schemeClr val="bg1"/>
              </a:solidFill>
              <a:latin typeface="Arial" pitchFamily="34" charset="0"/>
            </a:endParaRPr>
          </a:p>
        </p:txBody>
      </p:sp>
      <p:sp>
        <p:nvSpPr>
          <p:cNvPr id="53250" name="Rectangle 3"/>
          <p:cNvSpPr>
            <a:spLocks noGrp="1" noChangeArrowheads="1"/>
          </p:cNvSpPr>
          <p:nvPr>
            <p:ph type="body" sz="half" idx="1"/>
          </p:nvPr>
        </p:nvSpPr>
        <p:spPr>
          <a:xfrm>
            <a:off x="1847851" y="1125538"/>
            <a:ext cx="8424863" cy="5255790"/>
          </a:xfrm>
        </p:spPr>
        <p:txBody>
          <a:bodyPr/>
          <a:lstStyle/>
          <a:p>
            <a:pPr algn="just" eaLnBrk="1" hangingPunct="1"/>
            <a:r>
              <a:rPr lang="en-US" altLang="en-US" sz="2800" dirty="0"/>
              <a:t>Sort the data set so measurements are in order from lowest to highest,</a:t>
            </a:r>
          </a:p>
          <a:p>
            <a:pPr algn="just" eaLnBrk="1" hangingPunct="1">
              <a:buFontTx/>
              <a:buNone/>
            </a:pPr>
            <a:r>
              <a:rPr lang="en-US" altLang="en-US" sz="2800" dirty="0"/>
              <a:t>		Y[1], Y[2], …. , Y[N]</a:t>
            </a:r>
          </a:p>
          <a:p>
            <a:pPr algn="just" eaLnBrk="1" hangingPunct="1"/>
            <a:r>
              <a:rPr lang="en-US" altLang="en-US" sz="2800" dirty="0"/>
              <a:t>Calculate,</a:t>
            </a:r>
          </a:p>
          <a:p>
            <a:pPr algn="just" eaLnBrk="1" hangingPunct="1"/>
            <a:endParaRPr lang="en-US" altLang="en-US" sz="2800" dirty="0"/>
          </a:p>
          <a:p>
            <a:pPr algn="just" eaLnBrk="1" hangingPunct="1">
              <a:buFontTx/>
              <a:buNone/>
            </a:pPr>
            <a:endParaRPr lang="en-US" altLang="en-US" sz="2800" dirty="0"/>
          </a:p>
          <a:p>
            <a:pPr algn="just" eaLnBrk="1" hangingPunct="1"/>
            <a:r>
              <a:rPr lang="en-US" altLang="en-US" sz="2800" dirty="0"/>
              <a:t>If </a:t>
            </a:r>
            <a:r>
              <a:rPr lang="en-US" altLang="en-US" sz="2800" b="1" i="1" dirty="0" err="1"/>
              <a:t>i</a:t>
            </a:r>
            <a:r>
              <a:rPr lang="en-US" altLang="en-US" sz="2800" b="1" dirty="0"/>
              <a:t> is not an integer</a:t>
            </a:r>
            <a:r>
              <a:rPr lang="en-US" altLang="en-US" sz="2800" dirty="0"/>
              <a:t>, </a:t>
            </a:r>
            <a:r>
              <a:rPr lang="en-US" altLang="en-US" sz="2800" b="1" dirty="0"/>
              <a:t>round up</a:t>
            </a:r>
            <a:r>
              <a:rPr lang="en-US" altLang="en-US" sz="2800" dirty="0"/>
              <a:t> to the next highest integer </a:t>
            </a:r>
            <a:r>
              <a:rPr lang="en-US" altLang="en-US" sz="2800" i="1" dirty="0"/>
              <a:t>k</a:t>
            </a:r>
            <a:r>
              <a:rPr lang="en-US" altLang="en-US" sz="2800" dirty="0"/>
              <a:t> and use </a:t>
            </a:r>
            <a:r>
              <a:rPr lang="en-US" altLang="en-US" sz="2800" b="1" dirty="0"/>
              <a:t>Y[</a:t>
            </a:r>
            <a:r>
              <a:rPr lang="en-US" altLang="en-US" sz="2800" b="1" i="1" dirty="0"/>
              <a:t>k</a:t>
            </a:r>
            <a:r>
              <a:rPr lang="en-US" altLang="en-US" sz="2800" b="1" dirty="0"/>
              <a:t>]</a:t>
            </a:r>
            <a:r>
              <a:rPr lang="en-US" altLang="en-US" sz="2800" dirty="0"/>
              <a:t> as the percentile estimate. </a:t>
            </a:r>
          </a:p>
          <a:p>
            <a:pPr algn="just" eaLnBrk="1" hangingPunct="1"/>
            <a:r>
              <a:rPr lang="en-US" altLang="en-US" sz="2800" dirty="0"/>
              <a:t>If </a:t>
            </a:r>
            <a:r>
              <a:rPr lang="en-US" altLang="en-US" sz="2800" b="1" i="1" dirty="0" err="1"/>
              <a:t>i</a:t>
            </a:r>
            <a:r>
              <a:rPr lang="en-US" altLang="en-US" sz="2800" b="1" dirty="0"/>
              <a:t> is an integer</a:t>
            </a:r>
            <a:r>
              <a:rPr lang="en-US" altLang="en-US" sz="2800" dirty="0"/>
              <a:t>, use </a:t>
            </a:r>
            <a:r>
              <a:rPr lang="en-US" altLang="en-US" sz="2800" b="1" dirty="0"/>
              <a:t>(Y[</a:t>
            </a:r>
            <a:r>
              <a:rPr lang="en-US" altLang="en-US" sz="2800" b="1" dirty="0" err="1"/>
              <a:t>i</a:t>
            </a:r>
            <a:r>
              <a:rPr lang="en-US" altLang="en-US" sz="2800" b="1" dirty="0"/>
              <a:t>] + Y[</a:t>
            </a:r>
            <a:r>
              <a:rPr lang="en-US" altLang="en-US" sz="2800" b="1" i="1" dirty="0"/>
              <a:t>i</a:t>
            </a:r>
            <a:r>
              <a:rPr lang="en-US" altLang="en-US" sz="2800" b="1" dirty="0"/>
              <a:t>+1]) ÷ 2</a:t>
            </a:r>
            <a:r>
              <a:rPr lang="en-US" altLang="en-US" sz="2800" dirty="0"/>
              <a:t> as the percentile estimate. </a:t>
            </a:r>
          </a:p>
        </p:txBody>
      </p:sp>
      <p:graphicFrame>
        <p:nvGraphicFramePr>
          <p:cNvPr id="53251" name="Object 4"/>
          <p:cNvGraphicFramePr>
            <a:graphicFrameLocks noGrp="1" noChangeAspect="1"/>
          </p:cNvGraphicFramePr>
          <p:nvPr>
            <p:ph sz="half" idx="2"/>
          </p:nvPr>
        </p:nvGraphicFramePr>
        <p:xfrm>
          <a:off x="3935761" y="2852936"/>
          <a:ext cx="1728787" cy="939800"/>
        </p:xfrm>
        <a:graphic>
          <a:graphicData uri="http://schemas.openxmlformats.org/presentationml/2006/ole">
            <mc:AlternateContent xmlns:mc="http://schemas.openxmlformats.org/markup-compatibility/2006">
              <mc:Choice xmlns:v="urn:schemas-microsoft-com:vml" Requires="v">
                <p:oleObj name="Equation" r:id="rId2" imgW="723586" imgH="393529" progId="Equation.3">
                  <p:embed/>
                </p:oleObj>
              </mc:Choice>
              <mc:Fallback>
                <p:oleObj name="Equation" r:id="rId2" imgW="723586" imgH="393529" progId="Equation.3">
                  <p:embed/>
                  <p:pic>
                    <p:nvPicPr>
                      <p:cNvPr id="53251"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761" y="2852936"/>
                        <a:ext cx="1728787"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D6A8BF28-BF35-4156-9D34-8173F9CF1C76}" type="slidenum">
              <a:rPr lang="en-US" altLang="en-US" sz="1000">
                <a:solidFill>
                  <a:schemeClr val="bg1"/>
                </a:solidFill>
                <a:latin typeface="Arial" pitchFamily="34" charset="0"/>
              </a:rPr>
              <a:pPr/>
              <a:t>34</a:t>
            </a:fld>
            <a:endParaRPr lang="en-US" altLang="en-US" sz="1000">
              <a:solidFill>
                <a:schemeClr val="bg1"/>
              </a:solidFill>
              <a:latin typeface="Arial" pitchFamily="34" charset="0"/>
            </a:endParaRPr>
          </a:p>
        </p:txBody>
      </p:sp>
      <p:sp>
        <p:nvSpPr>
          <p:cNvPr id="32772" name="Rectangle 2"/>
          <p:cNvSpPr>
            <a:spLocks noGrp="1" noChangeArrowheads="1"/>
          </p:cNvSpPr>
          <p:nvPr>
            <p:ph type="title"/>
          </p:nvPr>
        </p:nvSpPr>
        <p:spPr>
          <a:xfrm>
            <a:off x="3143673" y="274292"/>
            <a:ext cx="5843587" cy="706437"/>
          </a:xfrm>
        </p:spPr>
        <p:txBody>
          <a:bodyPr/>
          <a:lstStyle/>
          <a:p>
            <a:pPr eaLnBrk="1" hangingPunct="1">
              <a:defRPr/>
            </a:pPr>
            <a:r>
              <a:rPr lang="en-US" sz="4000" b="1" dirty="0">
                <a:ea typeface="ＭＳ Ｐゴシック" charset="0"/>
                <a:cs typeface="+mj-cs"/>
              </a:rPr>
              <a:t>Example</a:t>
            </a:r>
          </a:p>
        </p:txBody>
      </p:sp>
      <p:sp>
        <p:nvSpPr>
          <p:cNvPr id="54275" name="Rectangle 3"/>
          <p:cNvSpPr>
            <a:spLocks noGrp="1" noChangeArrowheads="1"/>
          </p:cNvSpPr>
          <p:nvPr>
            <p:ph type="body" idx="1"/>
          </p:nvPr>
        </p:nvSpPr>
        <p:spPr>
          <a:xfrm>
            <a:off x="1873250" y="1052514"/>
            <a:ext cx="8686800" cy="5184775"/>
          </a:xfrm>
        </p:spPr>
        <p:txBody>
          <a:bodyPr/>
          <a:lstStyle/>
          <a:p>
            <a:pPr marL="0" indent="0" algn="just" eaLnBrk="1" hangingPunct="1">
              <a:lnSpc>
                <a:spcPct val="90000"/>
              </a:lnSpc>
              <a:buNone/>
            </a:pPr>
            <a:r>
              <a:rPr lang="en-US" altLang="en-US" sz="2800" dirty="0"/>
              <a:t>Given set of data: </a:t>
            </a:r>
          </a:p>
          <a:p>
            <a:pPr marL="0" indent="0" algn="ctr" eaLnBrk="1" hangingPunct="1">
              <a:lnSpc>
                <a:spcPct val="90000"/>
              </a:lnSpc>
              <a:buNone/>
            </a:pPr>
            <a:r>
              <a:rPr lang="en-US" altLang="en-US" sz="2800" dirty="0"/>
              <a:t>12, 4, 6, 11, 9,15, 20, 18, 25, 30      </a:t>
            </a:r>
          </a:p>
          <a:p>
            <a:pPr marL="354013" indent="-354013" algn="just" eaLnBrk="1" hangingPunct="1">
              <a:lnSpc>
                <a:spcPct val="90000"/>
              </a:lnSpc>
              <a:buFontTx/>
              <a:buAutoNum type="romanLcParenR"/>
            </a:pPr>
            <a:r>
              <a:rPr lang="en-US" altLang="en-US" sz="2800" dirty="0"/>
              <a:t>Calculate 80</a:t>
            </a:r>
            <a:r>
              <a:rPr lang="en-US" altLang="en-US" sz="2800" baseline="30000" dirty="0"/>
              <a:t>th</a:t>
            </a:r>
            <a:r>
              <a:rPr lang="en-US" altLang="en-US" sz="2800" dirty="0"/>
              <a:t> percentile. </a:t>
            </a:r>
          </a:p>
          <a:p>
            <a:pPr marL="354013" indent="-354013" algn="just" eaLnBrk="1" hangingPunct="1">
              <a:lnSpc>
                <a:spcPct val="90000"/>
              </a:lnSpc>
              <a:buFontTx/>
              <a:buAutoNum type="romanLcParenR"/>
            </a:pPr>
            <a:r>
              <a:rPr lang="en-US" altLang="en-US" sz="2800" dirty="0"/>
              <a:t>Calculate 68</a:t>
            </a:r>
            <a:r>
              <a:rPr lang="en-US" altLang="en-US" sz="2800" baseline="30000" dirty="0"/>
              <a:t>th</a:t>
            </a:r>
            <a:r>
              <a:rPr lang="en-US" altLang="en-US" sz="2800" dirty="0"/>
              <a:t> percentile.   </a:t>
            </a:r>
          </a:p>
          <a:p>
            <a:pPr marL="0" indent="0" algn="just" eaLnBrk="1" hangingPunct="1">
              <a:lnSpc>
                <a:spcPct val="90000"/>
              </a:lnSpc>
              <a:buNone/>
            </a:pPr>
            <a:endParaRPr lang="en-US" altLang="en-US" sz="2400" u="sng" dirty="0">
              <a:solidFill>
                <a:srgbClr val="008000"/>
              </a:solidFill>
            </a:endParaRPr>
          </a:p>
          <a:p>
            <a:pPr marL="0" indent="0" algn="just" eaLnBrk="1" hangingPunct="1">
              <a:lnSpc>
                <a:spcPct val="90000"/>
              </a:lnSpc>
              <a:buNone/>
            </a:pPr>
            <a:r>
              <a:rPr lang="en-US" altLang="en-US" sz="2400" u="sng" dirty="0">
                <a:solidFill>
                  <a:srgbClr val="008000"/>
                </a:solidFill>
              </a:rPr>
              <a:t>Solution (</a:t>
            </a:r>
            <a:r>
              <a:rPr lang="en-US" altLang="en-US" sz="2400" u="sng" dirty="0" err="1">
                <a:solidFill>
                  <a:srgbClr val="008000"/>
                </a:solidFill>
              </a:rPr>
              <a:t>i</a:t>
            </a:r>
            <a:r>
              <a:rPr lang="en-US" altLang="en-US" sz="2400" u="sng" dirty="0">
                <a:solidFill>
                  <a:srgbClr val="008000"/>
                </a:solidFill>
              </a:rPr>
              <a:t>):</a:t>
            </a:r>
          </a:p>
          <a:p>
            <a:pPr marL="0" indent="0" algn="just" eaLnBrk="1" hangingPunct="1">
              <a:lnSpc>
                <a:spcPct val="90000"/>
              </a:lnSpc>
            </a:pPr>
            <a:r>
              <a:rPr lang="en-US" altLang="en-US" sz="2400" dirty="0"/>
              <a:t>Arrange in order:</a:t>
            </a:r>
            <a:r>
              <a:rPr lang="en-US" altLang="en-US" sz="2400" b="1" dirty="0">
                <a:solidFill>
                  <a:schemeClr val="accent2"/>
                </a:solidFill>
              </a:rPr>
              <a:t> </a:t>
            </a:r>
          </a:p>
          <a:p>
            <a:pPr marL="0" indent="0" algn="ctr" eaLnBrk="1" hangingPunct="1">
              <a:lnSpc>
                <a:spcPct val="90000"/>
              </a:lnSpc>
              <a:buNone/>
            </a:pPr>
            <a:r>
              <a:rPr lang="en-US" altLang="en-US" sz="2400" b="1" dirty="0">
                <a:solidFill>
                  <a:schemeClr val="accent2"/>
                </a:solidFill>
              </a:rPr>
              <a:t>   4     6     9    11    12    15    18     20     25     30</a:t>
            </a:r>
          </a:p>
          <a:p>
            <a:pPr marL="0" indent="0" algn="just" eaLnBrk="1" hangingPunct="1">
              <a:lnSpc>
                <a:spcPct val="90000"/>
              </a:lnSpc>
              <a:buNone/>
            </a:pPr>
            <a:endParaRPr lang="en-US" altLang="en-US" sz="2400" b="1" dirty="0">
              <a:solidFill>
                <a:schemeClr val="accent2"/>
              </a:solidFill>
            </a:endParaRPr>
          </a:p>
          <a:p>
            <a:pPr marL="0" indent="0" algn="just" eaLnBrk="1" hangingPunct="1">
              <a:lnSpc>
                <a:spcPct val="90000"/>
              </a:lnSpc>
            </a:pPr>
            <a:r>
              <a:rPr lang="en-US" altLang="en-US" sz="2400" i="1" dirty="0"/>
              <a:t>N </a:t>
            </a:r>
            <a:r>
              <a:rPr lang="en-US" altLang="en-US" sz="2400" dirty="0"/>
              <a:t>= 10,  </a:t>
            </a:r>
            <a:r>
              <a:rPr lang="en-US" altLang="en-US" sz="2400" i="1" dirty="0"/>
              <a:t>P </a:t>
            </a:r>
            <a:r>
              <a:rPr lang="en-US" altLang="en-US" sz="2400" dirty="0"/>
              <a:t>= 80 ;  </a:t>
            </a:r>
            <a:r>
              <a:rPr lang="en-US" altLang="en-US" sz="2400" i="1" dirty="0" err="1"/>
              <a:t>i</a:t>
            </a:r>
            <a:r>
              <a:rPr lang="en-US" altLang="en-US" sz="2400" dirty="0"/>
              <a:t> = 80 x 10 </a:t>
            </a:r>
            <a:r>
              <a:rPr lang="en-US" altLang="en-US" sz="2400" dirty="0">
                <a:sym typeface="Symbol" pitchFamily="18" charset="2"/>
              </a:rPr>
              <a:t> 100 = 8</a:t>
            </a:r>
          </a:p>
          <a:p>
            <a:pPr marL="0" indent="0" algn="just" eaLnBrk="1" hangingPunct="1">
              <a:lnSpc>
                <a:spcPct val="90000"/>
              </a:lnSpc>
              <a:buNone/>
            </a:pPr>
            <a:endParaRPr lang="en-US" altLang="en-US" sz="2400" dirty="0">
              <a:sym typeface="Symbol" pitchFamily="18" charset="2"/>
            </a:endParaRPr>
          </a:p>
          <a:p>
            <a:pPr marL="0" indent="0" algn="just" eaLnBrk="1" hangingPunct="1">
              <a:lnSpc>
                <a:spcPct val="90000"/>
              </a:lnSpc>
              <a:buNone/>
            </a:pPr>
            <a:r>
              <a:rPr lang="en-US" altLang="en-US" sz="2400" dirty="0">
                <a:sym typeface="Symbol" pitchFamily="18" charset="2"/>
              </a:rPr>
              <a:t> Y[8] = 20, Y[9] = 25,   P</a:t>
            </a:r>
            <a:r>
              <a:rPr lang="en-US" altLang="en-US" sz="2400" baseline="-25000" dirty="0">
                <a:sym typeface="Symbol" pitchFamily="18" charset="2"/>
              </a:rPr>
              <a:t>80 </a:t>
            </a:r>
            <a:r>
              <a:rPr lang="en-US" altLang="en-US" sz="2400" dirty="0">
                <a:sym typeface="Symbol" pitchFamily="18" charset="2"/>
              </a:rPr>
              <a:t>= (20 + 25)  2 = 22.5</a:t>
            </a:r>
          </a:p>
          <a:p>
            <a:pPr marL="0" indent="0" algn="just" eaLnBrk="1" hangingPunct="1">
              <a:lnSpc>
                <a:spcPct val="90000"/>
              </a:lnSpc>
              <a:buNone/>
            </a:pPr>
            <a:endParaRPr lang="en-US" altLang="en-US" sz="2800" dirty="0"/>
          </a:p>
        </p:txBody>
      </p:sp>
      <p:sp>
        <p:nvSpPr>
          <p:cNvPr id="2" name="TextBox 1">
            <a:extLst>
              <a:ext uri="{FF2B5EF4-FFF2-40B4-BE49-F238E27FC236}">
                <a16:creationId xmlns:a16="http://schemas.microsoft.com/office/drawing/2014/main" id="{9E999C8D-6691-B882-9927-9CA3884DC36C}"/>
              </a:ext>
            </a:extLst>
          </p:cNvPr>
          <p:cNvSpPr txBox="1"/>
          <p:nvPr/>
        </p:nvSpPr>
        <p:spPr>
          <a:xfrm>
            <a:off x="6629401" y="4953000"/>
            <a:ext cx="990849" cy="369332"/>
          </a:xfrm>
          <a:prstGeom prst="rect">
            <a:avLst/>
          </a:prstGeom>
          <a:noFill/>
        </p:spPr>
        <p:txBody>
          <a:bodyPr wrap="none" rtlCol="0">
            <a:spAutoFit/>
          </a:bodyPr>
          <a:lstStyle/>
          <a:p>
            <a:r>
              <a:rPr lang="en-US" dirty="0"/>
              <a:t>(integer)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427B0F9-9153-7FDF-680E-99ABB3643BC4}"/>
                  </a:ext>
                </a:extLst>
              </p14:cNvPr>
              <p14:cNvContentPartPr/>
              <p14:nvPr/>
            </p14:nvContentPartPr>
            <p14:xfrm>
              <a:off x="7455913" y="4291762"/>
              <a:ext cx="235440" cy="15840"/>
            </p14:xfrm>
          </p:contentPart>
        </mc:Choice>
        <mc:Fallback xmlns="">
          <p:pic>
            <p:nvPicPr>
              <p:cNvPr id="3" name="Ink 2">
                <a:extLst>
                  <a:ext uri="{FF2B5EF4-FFF2-40B4-BE49-F238E27FC236}">
                    <a16:creationId xmlns:a16="http://schemas.microsoft.com/office/drawing/2014/main" id="{8427B0F9-9153-7FDF-680E-99ABB3643BC4}"/>
                  </a:ext>
                </a:extLst>
              </p:cNvPr>
              <p:cNvPicPr/>
              <p:nvPr/>
            </p:nvPicPr>
            <p:blipFill>
              <a:blip r:embed="rId3"/>
              <a:stretch>
                <a:fillRect/>
              </a:stretch>
            </p:blipFill>
            <p:spPr>
              <a:xfrm>
                <a:off x="7401913" y="4183762"/>
                <a:ext cx="3430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B2D6BC8-5C25-A3BB-D811-BBFC07CDB5D8}"/>
                  </a:ext>
                </a:extLst>
              </p14:cNvPr>
              <p14:cNvContentPartPr/>
              <p14:nvPr/>
            </p14:nvContentPartPr>
            <p14:xfrm>
              <a:off x="8128033" y="4286002"/>
              <a:ext cx="219960" cy="9720"/>
            </p14:xfrm>
          </p:contentPart>
        </mc:Choice>
        <mc:Fallback xmlns="">
          <p:pic>
            <p:nvPicPr>
              <p:cNvPr id="4" name="Ink 3">
                <a:extLst>
                  <a:ext uri="{FF2B5EF4-FFF2-40B4-BE49-F238E27FC236}">
                    <a16:creationId xmlns:a16="http://schemas.microsoft.com/office/drawing/2014/main" id="{EB2D6BC8-5C25-A3BB-D811-BBFC07CDB5D8}"/>
                  </a:ext>
                </a:extLst>
              </p:cNvPr>
              <p:cNvPicPr/>
              <p:nvPr/>
            </p:nvPicPr>
            <p:blipFill>
              <a:blip r:embed="rId5"/>
              <a:stretch>
                <a:fillRect/>
              </a:stretch>
            </p:blipFill>
            <p:spPr>
              <a:xfrm>
                <a:off x="8074033" y="4178002"/>
                <a:ext cx="327600" cy="22536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72BB4ED7-FDDD-4679-B3FC-9BCEF3F37024}" type="slidenum">
              <a:rPr lang="en-US" altLang="en-US" sz="1000">
                <a:solidFill>
                  <a:schemeClr val="bg1"/>
                </a:solidFill>
                <a:latin typeface="Arial" pitchFamily="34" charset="0"/>
              </a:rPr>
              <a:pPr/>
              <a:t>35</a:t>
            </a:fld>
            <a:endParaRPr lang="en-US" altLang="en-US" sz="1000">
              <a:solidFill>
                <a:schemeClr val="bg1"/>
              </a:solidFill>
              <a:latin typeface="Arial" pitchFamily="34" charset="0"/>
            </a:endParaRPr>
          </a:p>
        </p:txBody>
      </p:sp>
      <p:sp>
        <p:nvSpPr>
          <p:cNvPr id="33796" name="Rectangle 2"/>
          <p:cNvSpPr>
            <a:spLocks noGrp="1" noChangeArrowheads="1"/>
          </p:cNvSpPr>
          <p:nvPr>
            <p:ph type="title"/>
          </p:nvPr>
        </p:nvSpPr>
        <p:spPr>
          <a:xfrm>
            <a:off x="2855641" y="274638"/>
            <a:ext cx="6491287" cy="633412"/>
          </a:xfrm>
        </p:spPr>
        <p:txBody>
          <a:bodyPr/>
          <a:lstStyle/>
          <a:p>
            <a:pPr eaLnBrk="1" hangingPunct="1">
              <a:defRPr/>
            </a:pPr>
            <a:r>
              <a:rPr lang="en-US" sz="4000" b="1" dirty="0">
                <a:ea typeface="ＭＳ Ｐゴシック" charset="0"/>
                <a:cs typeface="+mj-cs"/>
              </a:rPr>
              <a:t>Example</a:t>
            </a:r>
          </a:p>
        </p:txBody>
      </p:sp>
      <p:sp>
        <p:nvSpPr>
          <p:cNvPr id="55299" name="Rectangle 3"/>
          <p:cNvSpPr>
            <a:spLocks noGrp="1" noChangeArrowheads="1"/>
          </p:cNvSpPr>
          <p:nvPr>
            <p:ph type="body" idx="1"/>
          </p:nvPr>
        </p:nvSpPr>
        <p:spPr>
          <a:xfrm>
            <a:off x="1774825" y="1196976"/>
            <a:ext cx="8642350" cy="4525963"/>
          </a:xfrm>
        </p:spPr>
        <p:txBody>
          <a:bodyPr/>
          <a:lstStyle/>
          <a:p>
            <a:pPr marL="457200" indent="-457200" eaLnBrk="1" hangingPunct="1">
              <a:buNone/>
            </a:pPr>
            <a:r>
              <a:rPr lang="en-US" altLang="en-US" sz="2800" u="sng" dirty="0">
                <a:solidFill>
                  <a:srgbClr val="008000"/>
                </a:solidFill>
              </a:rPr>
              <a:t>Solution (ii):</a:t>
            </a:r>
            <a:r>
              <a:rPr lang="en-US" altLang="en-US" sz="2800" dirty="0"/>
              <a:t> Calculate 68</a:t>
            </a:r>
            <a:r>
              <a:rPr lang="en-US" altLang="en-US" sz="2800" baseline="30000" dirty="0"/>
              <a:t>th</a:t>
            </a:r>
            <a:r>
              <a:rPr lang="en-US" altLang="en-US" sz="2800" dirty="0"/>
              <a:t> percentile</a:t>
            </a:r>
          </a:p>
          <a:p>
            <a:pPr marL="457200" indent="-457200" eaLnBrk="1" hangingPunct="1">
              <a:buNone/>
            </a:pPr>
            <a:r>
              <a:rPr lang="en-US" altLang="en-US" sz="2800" i="1" dirty="0"/>
              <a:t>N </a:t>
            </a:r>
            <a:r>
              <a:rPr lang="en-US" altLang="en-US" sz="2800" dirty="0"/>
              <a:t>= 10,  </a:t>
            </a:r>
            <a:r>
              <a:rPr lang="en-US" altLang="en-US" sz="2800" i="1" dirty="0"/>
              <a:t>P </a:t>
            </a:r>
            <a:r>
              <a:rPr lang="en-US" altLang="en-US" sz="2800" dirty="0"/>
              <a:t>= 68</a:t>
            </a:r>
          </a:p>
          <a:p>
            <a:pPr marL="457200" indent="-457200" eaLnBrk="1" hangingPunct="1">
              <a:buNone/>
            </a:pPr>
            <a:endParaRPr lang="en-US" altLang="en-US" sz="2800" dirty="0"/>
          </a:p>
          <a:p>
            <a:pPr marL="457200" indent="-457200" algn="ctr" eaLnBrk="1" hangingPunct="1">
              <a:buNone/>
            </a:pPr>
            <a:r>
              <a:rPr lang="en-US" altLang="en-US" sz="2800" b="1" dirty="0">
                <a:solidFill>
                  <a:schemeClr val="accent2"/>
                </a:solidFill>
              </a:rPr>
              <a:t>4     6     9    11    12    15    18     20     25     30</a:t>
            </a:r>
          </a:p>
          <a:p>
            <a:pPr marL="457200" indent="-457200" eaLnBrk="1" hangingPunct="1">
              <a:buNone/>
            </a:pPr>
            <a:endParaRPr lang="en-US" altLang="en-US" sz="2800" b="1" dirty="0">
              <a:solidFill>
                <a:schemeClr val="accent2"/>
              </a:solidFill>
            </a:endParaRPr>
          </a:p>
          <a:p>
            <a:pPr marL="457200" indent="-457200" eaLnBrk="1" hangingPunct="1">
              <a:buNone/>
            </a:pPr>
            <a:r>
              <a:rPr lang="en-US" altLang="en-US" sz="2800" i="1" dirty="0" err="1"/>
              <a:t>i</a:t>
            </a:r>
            <a:r>
              <a:rPr lang="en-US" altLang="en-US" sz="2800" i="1" dirty="0"/>
              <a:t> </a:t>
            </a:r>
            <a:r>
              <a:rPr lang="en-US" altLang="en-US" sz="2800" dirty="0"/>
              <a:t>= 68 x 10 </a:t>
            </a:r>
            <a:r>
              <a:rPr lang="en-US" altLang="en-US" sz="2800" dirty="0">
                <a:sym typeface="Symbol" pitchFamily="18" charset="2"/>
              </a:rPr>
              <a:t> 100 = 6.8,   </a:t>
            </a:r>
            <a:r>
              <a:rPr lang="en-US" altLang="en-US" sz="2800" i="1" dirty="0">
                <a:sym typeface="Symbol" pitchFamily="18" charset="2"/>
              </a:rPr>
              <a:t>k</a:t>
            </a:r>
            <a:r>
              <a:rPr lang="en-US" altLang="en-US" sz="2800" dirty="0">
                <a:sym typeface="Symbol" pitchFamily="18" charset="2"/>
              </a:rPr>
              <a:t> = 7</a:t>
            </a:r>
          </a:p>
          <a:p>
            <a:pPr marL="457200" indent="-457200" eaLnBrk="1" hangingPunct="1">
              <a:buNone/>
            </a:pPr>
            <a:endParaRPr lang="en-US" altLang="en-US" sz="2800" dirty="0">
              <a:sym typeface="Symbol" pitchFamily="18" charset="2"/>
            </a:endParaRPr>
          </a:p>
          <a:p>
            <a:pPr marL="457200" indent="-457200" eaLnBrk="1" hangingPunct="1">
              <a:buNone/>
            </a:pPr>
            <a:r>
              <a:rPr lang="en-US" altLang="en-US" sz="2800" dirty="0">
                <a:sym typeface="Symbol" pitchFamily="18" charset="2"/>
              </a:rPr>
              <a:t>Y[7] = 18,    P</a:t>
            </a:r>
            <a:r>
              <a:rPr lang="en-US" altLang="en-US" sz="2800" baseline="-25000" dirty="0">
                <a:sym typeface="Symbol" pitchFamily="18" charset="2"/>
              </a:rPr>
              <a:t>68 </a:t>
            </a:r>
            <a:r>
              <a:rPr lang="en-US" altLang="en-US" sz="2800" dirty="0">
                <a:sym typeface="Symbol" pitchFamily="18" charset="2"/>
              </a:rPr>
              <a:t>= 18</a:t>
            </a:r>
          </a:p>
          <a:p>
            <a:pPr marL="457200" indent="-457200" eaLnBrk="1" hangingPunct="1">
              <a:buNone/>
            </a:pPr>
            <a:endParaRPr lang="en-US" altLang="en-US" sz="2800" dirty="0"/>
          </a:p>
        </p:txBody>
      </p:sp>
      <p:sp>
        <p:nvSpPr>
          <p:cNvPr id="2" name="TextBox 1">
            <a:extLst>
              <a:ext uri="{FF2B5EF4-FFF2-40B4-BE49-F238E27FC236}">
                <a16:creationId xmlns:a16="http://schemas.microsoft.com/office/drawing/2014/main" id="{F7C76564-9C3E-FB2E-DD90-BB8767245975}"/>
              </a:ext>
            </a:extLst>
          </p:cNvPr>
          <p:cNvSpPr txBox="1"/>
          <p:nvPr/>
        </p:nvSpPr>
        <p:spPr>
          <a:xfrm>
            <a:off x="4114800" y="4191000"/>
            <a:ext cx="1364348" cy="369332"/>
          </a:xfrm>
          <a:prstGeom prst="rect">
            <a:avLst/>
          </a:prstGeom>
          <a:noFill/>
        </p:spPr>
        <p:txBody>
          <a:bodyPr wrap="none" rtlCol="0">
            <a:spAutoFit/>
          </a:bodyPr>
          <a:lstStyle/>
          <a:p>
            <a:r>
              <a:rPr lang="en-US" dirty="0"/>
              <a:t>(not integer)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73F0696-B1EE-2C95-D137-BC47E22D3CD9}"/>
                  </a:ext>
                </a:extLst>
              </p14:cNvPr>
              <p14:cNvContentPartPr/>
              <p14:nvPr/>
            </p14:nvContentPartPr>
            <p14:xfrm>
              <a:off x="6628273" y="2874802"/>
              <a:ext cx="410400" cy="177120"/>
            </p14:xfrm>
          </p:contentPart>
        </mc:Choice>
        <mc:Fallback xmlns="">
          <p:pic>
            <p:nvPicPr>
              <p:cNvPr id="3" name="Ink 2">
                <a:extLst>
                  <a:ext uri="{FF2B5EF4-FFF2-40B4-BE49-F238E27FC236}">
                    <a16:creationId xmlns:a16="http://schemas.microsoft.com/office/drawing/2014/main" id="{073F0696-B1EE-2C95-D137-BC47E22D3CD9}"/>
                  </a:ext>
                </a:extLst>
              </p:cNvPr>
              <p:cNvPicPr/>
              <p:nvPr/>
            </p:nvPicPr>
            <p:blipFill>
              <a:blip r:embed="rId3"/>
              <a:stretch>
                <a:fillRect/>
              </a:stretch>
            </p:blipFill>
            <p:spPr>
              <a:xfrm>
                <a:off x="6574273" y="2766582"/>
                <a:ext cx="518040" cy="393199"/>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6"/>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CC029FE0-43D6-4ED8-8A0E-290CC24C7314}" type="slidenum">
              <a:rPr lang="en-US" altLang="en-US" sz="1000" b="1">
                <a:solidFill>
                  <a:schemeClr val="bg1"/>
                </a:solidFill>
                <a:latin typeface="Arial" pitchFamily="34" charset="0"/>
              </a:rPr>
              <a:pPr algn="ctr"/>
              <a:t>36</a:t>
            </a:fld>
            <a:endParaRPr lang="en-US" altLang="en-US" sz="1000" b="1">
              <a:solidFill>
                <a:schemeClr val="bg1"/>
              </a:solidFill>
              <a:latin typeface="Arial" pitchFamily="34" charset="0"/>
            </a:endParaRPr>
          </a:p>
        </p:txBody>
      </p:sp>
      <p:sp>
        <p:nvSpPr>
          <p:cNvPr id="56322" name="Rectangle 3"/>
          <p:cNvSpPr>
            <a:spLocks noGrp="1" noChangeArrowheads="1"/>
          </p:cNvSpPr>
          <p:nvPr>
            <p:ph type="body" sz="half" idx="1"/>
          </p:nvPr>
        </p:nvSpPr>
        <p:spPr>
          <a:xfrm>
            <a:off x="1963738" y="1146175"/>
            <a:ext cx="8077200" cy="4191000"/>
          </a:xfrm>
        </p:spPr>
        <p:txBody>
          <a:bodyPr/>
          <a:lstStyle/>
          <a:p>
            <a:pPr algn="just" eaLnBrk="1" hangingPunct="1"/>
            <a:r>
              <a:rPr lang="en-US" altLang="en-US" sz="2800" dirty="0"/>
              <a:t>The process of finding the percentile that corresponds to a particular value </a:t>
            </a:r>
            <a:r>
              <a:rPr lang="en-US" altLang="en-US" sz="2800" i="1" dirty="0"/>
              <a:t>x</a:t>
            </a:r>
            <a:r>
              <a:rPr lang="en-US" altLang="en-US" sz="2800" dirty="0"/>
              <a:t> is:</a:t>
            </a:r>
          </a:p>
        </p:txBody>
      </p:sp>
      <p:graphicFrame>
        <p:nvGraphicFramePr>
          <p:cNvPr id="56323" name="Object 4"/>
          <p:cNvGraphicFramePr>
            <a:graphicFrameLocks noGrp="1" noChangeAspect="1"/>
          </p:cNvGraphicFramePr>
          <p:nvPr>
            <p:ph sz="half" idx="2"/>
          </p:nvPr>
        </p:nvGraphicFramePr>
        <p:xfrm>
          <a:off x="2279576" y="2780929"/>
          <a:ext cx="7272338" cy="815975"/>
        </p:xfrm>
        <a:graphic>
          <a:graphicData uri="http://schemas.openxmlformats.org/presentationml/2006/ole">
            <mc:AlternateContent xmlns:mc="http://schemas.openxmlformats.org/markup-compatibility/2006">
              <mc:Choice xmlns:v="urn:schemas-microsoft-com:vml" Requires="v">
                <p:oleObj name="Equation" r:id="rId2" imgW="3517900" imgH="393700" progId="Equation.3">
                  <p:embed/>
                </p:oleObj>
              </mc:Choice>
              <mc:Fallback>
                <p:oleObj name="Equation" r:id="rId2" imgW="3517900" imgH="393700" progId="Equation.3">
                  <p:embed/>
                  <p:pic>
                    <p:nvPicPr>
                      <p:cNvPr id="56323"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576" y="2780929"/>
                        <a:ext cx="7272338"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5"/>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B037D6CA-50B7-4182-89AD-79BE95937AF8}" type="slidenum">
              <a:rPr lang="en-US" altLang="en-US" sz="1000" b="1">
                <a:solidFill>
                  <a:schemeClr val="bg1"/>
                </a:solidFill>
                <a:latin typeface="Arial" pitchFamily="34" charset="0"/>
              </a:rPr>
              <a:pPr algn="ctr"/>
              <a:t>37</a:t>
            </a:fld>
            <a:endParaRPr lang="en-US" altLang="en-US" sz="1000" b="1">
              <a:solidFill>
                <a:schemeClr val="bg1"/>
              </a:solidFill>
              <a:latin typeface="Arial" pitchFamily="34" charset="0"/>
            </a:endParaRPr>
          </a:p>
        </p:txBody>
      </p:sp>
      <p:sp>
        <p:nvSpPr>
          <p:cNvPr id="57346" name="Rectangle 2"/>
          <p:cNvSpPr>
            <a:spLocks noGrp="1" noChangeArrowheads="1"/>
          </p:cNvSpPr>
          <p:nvPr>
            <p:ph type="title"/>
          </p:nvPr>
        </p:nvSpPr>
        <p:spPr>
          <a:xfrm>
            <a:off x="2855641" y="274639"/>
            <a:ext cx="6491287" cy="561975"/>
          </a:xfrm>
        </p:spPr>
        <p:txBody>
          <a:bodyPr/>
          <a:lstStyle/>
          <a:p>
            <a:pPr eaLnBrk="1" hangingPunct="1"/>
            <a:r>
              <a:rPr lang="en-US" altLang="en-US" sz="4000" b="1" dirty="0"/>
              <a:t>Example</a:t>
            </a:r>
          </a:p>
        </p:txBody>
      </p:sp>
      <p:sp>
        <p:nvSpPr>
          <p:cNvPr id="57347" name="Rectangle 3"/>
          <p:cNvSpPr>
            <a:spLocks noGrp="1" noChangeArrowheads="1"/>
          </p:cNvSpPr>
          <p:nvPr>
            <p:ph type="body" idx="1"/>
          </p:nvPr>
        </p:nvSpPr>
        <p:spPr>
          <a:xfrm>
            <a:off x="1889126" y="908051"/>
            <a:ext cx="8455025" cy="2449513"/>
          </a:xfrm>
        </p:spPr>
        <p:txBody>
          <a:bodyPr/>
          <a:lstStyle/>
          <a:p>
            <a:pPr marL="0" indent="0" eaLnBrk="1" hangingPunct="1">
              <a:buNone/>
            </a:pPr>
            <a:r>
              <a:rPr lang="en-US" altLang="en-US" sz="2800" dirty="0"/>
              <a:t>Given a set of data as follows:</a:t>
            </a:r>
          </a:p>
          <a:p>
            <a:pPr marL="0" indent="0" algn="ctr" eaLnBrk="1" hangingPunct="1">
              <a:buNone/>
            </a:pPr>
            <a:r>
              <a:rPr lang="en-US" altLang="en-US" sz="2800" dirty="0"/>
              <a:t>12     4     6    11    9     15     20    18     25     30      </a:t>
            </a:r>
          </a:p>
          <a:p>
            <a:pPr marL="0" indent="0" algn="just" eaLnBrk="1" hangingPunct="1">
              <a:buNone/>
            </a:pPr>
            <a:r>
              <a:rPr lang="en-US" altLang="en-US" sz="2800" dirty="0"/>
              <a:t>Find the percentile corresponding to the value, </a:t>
            </a:r>
          </a:p>
          <a:p>
            <a:pPr marL="0" indent="0" algn="ctr" eaLnBrk="1" hangingPunct="1">
              <a:buNone/>
            </a:pPr>
            <a:r>
              <a:rPr lang="en-US" altLang="en-US" sz="2800" dirty="0"/>
              <a:t>Y[</a:t>
            </a:r>
            <a:r>
              <a:rPr lang="en-US" altLang="en-US" sz="2800" i="1" dirty="0">
                <a:cs typeface="Times New Roman" pitchFamily="18" charset="0"/>
              </a:rPr>
              <a:t>k</a:t>
            </a:r>
            <a:r>
              <a:rPr lang="en-US" altLang="en-US" sz="2800" dirty="0"/>
              <a:t>] = 15</a:t>
            </a:r>
          </a:p>
          <a:p>
            <a:pPr marL="0" indent="0" eaLnBrk="1" hangingPunct="1">
              <a:buNone/>
            </a:pPr>
            <a:endParaRPr lang="en-US" altLang="en-US" sz="2800" b="1" dirty="0">
              <a:solidFill>
                <a:schemeClr val="accent2"/>
              </a:solidFill>
            </a:endParaRPr>
          </a:p>
        </p:txBody>
      </p:sp>
      <p:graphicFrame>
        <p:nvGraphicFramePr>
          <p:cNvPr id="9218" name="Object 1"/>
          <p:cNvGraphicFramePr>
            <a:graphicFrameLocks noChangeAspect="1"/>
          </p:cNvGraphicFramePr>
          <p:nvPr/>
        </p:nvGraphicFramePr>
        <p:xfrm>
          <a:off x="2229048" y="4437112"/>
          <a:ext cx="7899400" cy="679450"/>
        </p:xfrm>
        <a:graphic>
          <a:graphicData uri="http://schemas.openxmlformats.org/presentationml/2006/ole">
            <mc:AlternateContent xmlns:mc="http://schemas.openxmlformats.org/markup-compatibility/2006">
              <mc:Choice xmlns:v="urn:schemas-microsoft-com:vml" Requires="v">
                <p:oleObj name="Equation" r:id="rId2" imgW="4584700" imgH="393700" progId="Equation.3">
                  <p:embed/>
                </p:oleObj>
              </mc:Choice>
              <mc:Fallback>
                <p:oleObj name="Equation" r:id="rId2" imgW="4584700" imgH="393700" progId="Equation.3">
                  <p:embed/>
                  <p:pic>
                    <p:nvPicPr>
                      <p:cNvPr id="9218"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048" y="4437112"/>
                        <a:ext cx="7899400"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p:cNvSpPr>
            <a:spLocks noChangeArrowheads="1"/>
          </p:cNvSpPr>
          <p:nvPr/>
        </p:nvSpPr>
        <p:spPr bwMode="auto">
          <a:xfrm>
            <a:off x="2028826" y="3356992"/>
            <a:ext cx="84550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b="1" dirty="0">
                <a:solidFill>
                  <a:srgbClr val="2F32FF"/>
                </a:solidFill>
                <a:latin typeface="+mn-lt"/>
              </a:rPr>
              <a:t>Solution: </a:t>
            </a:r>
            <a:r>
              <a:rPr lang="en-US" altLang="en-US" sz="2800" dirty="0">
                <a:latin typeface="+mn-lt"/>
              </a:rPr>
              <a:t>Arrange the data in order,</a:t>
            </a:r>
          </a:p>
          <a:p>
            <a:pPr algn="ctr" eaLnBrk="1" hangingPunct="1"/>
            <a:r>
              <a:rPr lang="en-US" altLang="en-US" sz="2800" b="1" dirty="0">
                <a:solidFill>
                  <a:schemeClr val="accent2"/>
                </a:solidFill>
                <a:latin typeface="+mn-lt"/>
              </a:rPr>
              <a:t>4     6     9    11    12    15    18     20     25     30</a:t>
            </a:r>
          </a:p>
          <a:p>
            <a:pPr eaLnBrk="1" hangingPunct="1"/>
            <a:endParaRPr lang="en-US" altLang="en-US" sz="2800" b="1" dirty="0">
              <a:solidFill>
                <a:schemeClr val="accent2"/>
              </a:solidFill>
              <a:latin typeface="+mn-lt"/>
            </a:endParaRPr>
          </a:p>
          <a:p>
            <a:pPr eaLnBrk="1" hangingPunct="1"/>
            <a:endParaRPr lang="en-US" altLang="en-US" sz="2800" dirty="0">
              <a:solidFill>
                <a:schemeClr val="accent2"/>
              </a:solidFill>
              <a:latin typeface="+mn-lt"/>
            </a:endParaRPr>
          </a:p>
          <a:p>
            <a:pPr eaLnBrk="1" hangingPunct="1"/>
            <a:endParaRPr lang="en-US" altLang="en-US" sz="2800" dirty="0">
              <a:latin typeface="+mn-lt"/>
            </a:endParaRPr>
          </a:p>
          <a:p>
            <a:pPr eaLnBrk="1" hangingPunct="1"/>
            <a:r>
              <a:rPr lang="en-US" altLang="en-US" sz="2800" dirty="0">
                <a:latin typeface="+mn-lt"/>
              </a:rPr>
              <a:t>The value 15 is the 50</a:t>
            </a:r>
            <a:r>
              <a:rPr lang="en-US" altLang="en-US" sz="2800" baseline="30000" dirty="0">
                <a:latin typeface="+mn-lt"/>
              </a:rPr>
              <a:t>th</a:t>
            </a:r>
            <a:r>
              <a:rPr lang="en-US" altLang="en-US" sz="2800" dirty="0">
                <a:latin typeface="+mn-lt"/>
              </a:rPr>
              <a:t> percentile.</a:t>
            </a:r>
            <a:endParaRPr lang="en-US" altLang="en-US" sz="2800" b="1" dirty="0">
              <a:solidFill>
                <a:schemeClr val="accent2"/>
              </a:solidFill>
              <a:latin typeface="+mn-lt"/>
            </a:endParaRP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8CB70A2-6167-7503-FC46-E0C8E43053BE}"/>
                  </a:ext>
                </a:extLst>
              </p14:cNvPr>
              <p14:cNvContentPartPr/>
              <p14:nvPr/>
            </p14:nvContentPartPr>
            <p14:xfrm>
              <a:off x="3067153" y="4045162"/>
              <a:ext cx="167040" cy="360"/>
            </p14:xfrm>
          </p:contentPart>
        </mc:Choice>
        <mc:Fallback xmlns="">
          <p:pic>
            <p:nvPicPr>
              <p:cNvPr id="7" name="Ink 6">
                <a:extLst>
                  <a:ext uri="{FF2B5EF4-FFF2-40B4-BE49-F238E27FC236}">
                    <a16:creationId xmlns:a16="http://schemas.microsoft.com/office/drawing/2014/main" id="{B8CB70A2-6167-7503-FC46-E0C8E43053BE}"/>
                  </a:ext>
                </a:extLst>
              </p:cNvPr>
              <p:cNvPicPr/>
              <p:nvPr/>
            </p:nvPicPr>
            <p:blipFill>
              <a:blip r:embed="rId5"/>
              <a:stretch>
                <a:fillRect/>
              </a:stretch>
            </p:blipFill>
            <p:spPr>
              <a:xfrm>
                <a:off x="3013036" y="3937162"/>
                <a:ext cx="274912"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9F7C47C-13C9-59A3-195D-450538999FDE}"/>
                  </a:ext>
                </a:extLst>
              </p14:cNvPr>
              <p14:cNvContentPartPr/>
              <p14:nvPr/>
            </p14:nvContentPartPr>
            <p14:xfrm>
              <a:off x="3634153" y="4048402"/>
              <a:ext cx="255240" cy="3600"/>
            </p14:xfrm>
          </p:contentPart>
        </mc:Choice>
        <mc:Fallback xmlns="">
          <p:pic>
            <p:nvPicPr>
              <p:cNvPr id="8" name="Ink 7">
                <a:extLst>
                  <a:ext uri="{FF2B5EF4-FFF2-40B4-BE49-F238E27FC236}">
                    <a16:creationId xmlns:a16="http://schemas.microsoft.com/office/drawing/2014/main" id="{79F7C47C-13C9-59A3-195D-450538999FDE}"/>
                  </a:ext>
                </a:extLst>
              </p:cNvPr>
              <p:cNvPicPr/>
              <p:nvPr/>
            </p:nvPicPr>
            <p:blipFill>
              <a:blip r:embed="rId7"/>
              <a:stretch>
                <a:fillRect/>
              </a:stretch>
            </p:blipFill>
            <p:spPr>
              <a:xfrm>
                <a:off x="3580229" y="3928402"/>
                <a:ext cx="362728" cy="24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1AE02A73-7C8F-43F7-C4BB-D424A59C1C89}"/>
                  </a:ext>
                </a:extLst>
              </p14:cNvPr>
              <p14:cNvContentPartPr/>
              <p14:nvPr/>
            </p14:nvContentPartPr>
            <p14:xfrm>
              <a:off x="4263073" y="4021762"/>
              <a:ext cx="148680" cy="360"/>
            </p14:xfrm>
          </p:contentPart>
        </mc:Choice>
        <mc:Fallback xmlns="">
          <p:pic>
            <p:nvPicPr>
              <p:cNvPr id="9" name="Ink 8">
                <a:extLst>
                  <a:ext uri="{FF2B5EF4-FFF2-40B4-BE49-F238E27FC236}">
                    <a16:creationId xmlns:a16="http://schemas.microsoft.com/office/drawing/2014/main" id="{1AE02A73-7C8F-43F7-C4BB-D424A59C1C89}"/>
                  </a:ext>
                </a:extLst>
              </p:cNvPr>
              <p:cNvPicPr/>
              <p:nvPr/>
            </p:nvPicPr>
            <p:blipFill>
              <a:blip r:embed="rId9"/>
              <a:stretch>
                <a:fillRect/>
              </a:stretch>
            </p:blipFill>
            <p:spPr>
              <a:xfrm>
                <a:off x="4209073" y="3913762"/>
                <a:ext cx="2563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10AA26C-D6AD-4ADD-3F98-A9B6E40A1D97}"/>
                  </a:ext>
                </a:extLst>
              </p14:cNvPr>
              <p14:cNvContentPartPr/>
              <p14:nvPr/>
            </p14:nvContentPartPr>
            <p14:xfrm>
              <a:off x="4811353" y="4035442"/>
              <a:ext cx="268200" cy="5760"/>
            </p14:xfrm>
          </p:contentPart>
        </mc:Choice>
        <mc:Fallback xmlns="">
          <p:pic>
            <p:nvPicPr>
              <p:cNvPr id="10" name="Ink 9">
                <a:extLst>
                  <a:ext uri="{FF2B5EF4-FFF2-40B4-BE49-F238E27FC236}">
                    <a16:creationId xmlns:a16="http://schemas.microsoft.com/office/drawing/2014/main" id="{D10AA26C-D6AD-4ADD-3F98-A9B6E40A1D97}"/>
                  </a:ext>
                </a:extLst>
              </p:cNvPr>
              <p:cNvPicPr/>
              <p:nvPr/>
            </p:nvPicPr>
            <p:blipFill>
              <a:blip r:embed="rId11"/>
              <a:stretch>
                <a:fillRect/>
              </a:stretch>
            </p:blipFill>
            <p:spPr>
              <a:xfrm>
                <a:off x="4757280" y="3927442"/>
                <a:ext cx="375985"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3D052B2B-E7E2-4ED5-D2A3-FA1A0B4FC56C}"/>
                  </a:ext>
                </a:extLst>
              </p14:cNvPr>
              <p14:cNvContentPartPr/>
              <p14:nvPr/>
            </p14:nvContentPartPr>
            <p14:xfrm>
              <a:off x="5455033" y="4050562"/>
              <a:ext cx="309240" cy="4320"/>
            </p14:xfrm>
          </p:contentPart>
        </mc:Choice>
        <mc:Fallback xmlns="">
          <p:pic>
            <p:nvPicPr>
              <p:cNvPr id="11" name="Ink 10">
                <a:extLst>
                  <a:ext uri="{FF2B5EF4-FFF2-40B4-BE49-F238E27FC236}">
                    <a16:creationId xmlns:a16="http://schemas.microsoft.com/office/drawing/2014/main" id="{3D052B2B-E7E2-4ED5-D2A3-FA1A0B4FC56C}"/>
                  </a:ext>
                </a:extLst>
              </p:cNvPr>
              <p:cNvPicPr/>
              <p:nvPr/>
            </p:nvPicPr>
            <p:blipFill>
              <a:blip r:embed="rId13"/>
              <a:stretch>
                <a:fillRect/>
              </a:stretch>
            </p:blipFill>
            <p:spPr>
              <a:xfrm>
                <a:off x="5401033" y="3942562"/>
                <a:ext cx="4168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B534A141-E416-99FA-272D-D250E33595FE}"/>
                  </a:ext>
                </a:extLst>
              </p14:cNvPr>
              <p14:cNvContentPartPr/>
              <p14:nvPr/>
            </p14:nvContentPartPr>
            <p14:xfrm>
              <a:off x="8748673" y="4527202"/>
              <a:ext cx="177120" cy="57240"/>
            </p14:xfrm>
          </p:contentPart>
        </mc:Choice>
        <mc:Fallback xmlns="">
          <p:pic>
            <p:nvPicPr>
              <p:cNvPr id="12" name="Ink 11">
                <a:extLst>
                  <a:ext uri="{FF2B5EF4-FFF2-40B4-BE49-F238E27FC236}">
                    <a16:creationId xmlns:a16="http://schemas.microsoft.com/office/drawing/2014/main" id="{B534A141-E416-99FA-272D-D250E33595FE}"/>
                  </a:ext>
                </a:extLst>
              </p:cNvPr>
              <p:cNvPicPr/>
              <p:nvPr/>
            </p:nvPicPr>
            <p:blipFill>
              <a:blip r:embed="rId15"/>
              <a:stretch>
                <a:fillRect/>
              </a:stretch>
            </p:blipFill>
            <p:spPr>
              <a:xfrm>
                <a:off x="8694673" y="4419202"/>
                <a:ext cx="2847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D08A5B0F-C167-1A8C-2E41-4EBBAE6FBA32}"/>
                  </a:ext>
                </a:extLst>
              </p14:cNvPr>
              <p14:cNvContentPartPr/>
              <p14:nvPr/>
            </p14:nvContentPartPr>
            <p14:xfrm>
              <a:off x="8789713" y="4583722"/>
              <a:ext cx="136080" cy="25920"/>
            </p14:xfrm>
          </p:contentPart>
        </mc:Choice>
        <mc:Fallback xmlns="">
          <p:pic>
            <p:nvPicPr>
              <p:cNvPr id="13" name="Ink 12">
                <a:extLst>
                  <a:ext uri="{FF2B5EF4-FFF2-40B4-BE49-F238E27FC236}">
                    <a16:creationId xmlns:a16="http://schemas.microsoft.com/office/drawing/2014/main" id="{D08A5B0F-C167-1A8C-2E41-4EBBAE6FBA32}"/>
                  </a:ext>
                </a:extLst>
              </p:cNvPr>
              <p:cNvPicPr/>
              <p:nvPr/>
            </p:nvPicPr>
            <p:blipFill>
              <a:blip r:embed="rId17"/>
              <a:stretch>
                <a:fillRect/>
              </a:stretch>
            </p:blipFill>
            <p:spPr>
              <a:xfrm>
                <a:off x="8735713" y="4475722"/>
                <a:ext cx="243720" cy="241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5"/>
          <p:cNvSpPr>
            <a:spLocks noGrp="1"/>
          </p:cNvSpPr>
          <p:nvPr>
            <p:ph type="sldNum" sz="quarter" idx="12"/>
          </p:nvPr>
        </p:nvSpPr>
        <p:spPr bwMode="auto">
          <a:xfrm>
            <a:off x="5808663" y="6524626"/>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E3B19ECF-86E7-463A-A89F-49803394B6A0}" type="slidenum">
              <a:rPr lang="en-US" altLang="en-US" sz="1000">
                <a:solidFill>
                  <a:schemeClr val="bg1"/>
                </a:solidFill>
                <a:latin typeface="Arial" pitchFamily="34" charset="0"/>
              </a:rPr>
              <a:pPr/>
              <a:t>38</a:t>
            </a:fld>
            <a:endParaRPr lang="en-US" altLang="en-US" sz="1000">
              <a:solidFill>
                <a:schemeClr val="bg1"/>
              </a:solidFill>
              <a:latin typeface="Arial" pitchFamily="34" charset="0"/>
            </a:endParaRPr>
          </a:p>
        </p:txBody>
      </p:sp>
      <p:sp>
        <p:nvSpPr>
          <p:cNvPr id="34820"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Quartile</a:t>
            </a:r>
          </a:p>
        </p:txBody>
      </p:sp>
      <p:sp>
        <p:nvSpPr>
          <p:cNvPr id="58371" name="Rectangle 3"/>
          <p:cNvSpPr>
            <a:spLocks noGrp="1" noChangeArrowheads="1"/>
          </p:cNvSpPr>
          <p:nvPr>
            <p:ph type="body" idx="1"/>
          </p:nvPr>
        </p:nvSpPr>
        <p:spPr/>
        <p:txBody>
          <a:bodyPr/>
          <a:lstStyle/>
          <a:p>
            <a:pPr marL="0" indent="0" algn="just" eaLnBrk="1" hangingPunct="1">
              <a:lnSpc>
                <a:spcPct val="150000"/>
              </a:lnSpc>
              <a:buNone/>
            </a:pPr>
            <a:r>
              <a:rPr lang="en-US" altLang="en-US" sz="2800" dirty="0"/>
              <a:t>The 1st, 2nd, and 3d quartiles are the 25th, 50th, and 75th percentiles, respectively. </a:t>
            </a:r>
          </a:p>
          <a:p>
            <a:pPr marL="0" indent="0" algn="just" eaLnBrk="1" hangingPunct="1">
              <a:lnSpc>
                <a:spcPct val="150000"/>
              </a:lnSpc>
              <a:buNone/>
            </a:pPr>
            <a:endParaRPr lang="en-US" alt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5"/>
          <p:cNvSpPr>
            <a:spLocks noGrp="1"/>
          </p:cNvSpPr>
          <p:nvPr>
            <p:ph type="sldNum" sz="quarter" idx="12"/>
          </p:nvPr>
        </p:nvSpPr>
        <p:spPr bwMode="auto">
          <a:xfrm>
            <a:off x="5735638" y="6519864"/>
            <a:ext cx="5762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69457774-9DC2-4207-A8C3-B6D718A603FC}" type="slidenum">
              <a:rPr lang="en-US" altLang="en-US" sz="1000">
                <a:solidFill>
                  <a:schemeClr val="bg1"/>
                </a:solidFill>
                <a:latin typeface="Arial" pitchFamily="34" charset="0"/>
              </a:rPr>
              <a:pPr/>
              <a:t>39</a:t>
            </a:fld>
            <a:endParaRPr lang="en-US" altLang="en-US" sz="1000">
              <a:solidFill>
                <a:schemeClr val="bg1"/>
              </a:solidFill>
              <a:latin typeface="Arial" pitchFamily="34" charset="0"/>
            </a:endParaRPr>
          </a:p>
        </p:txBody>
      </p:sp>
      <p:sp>
        <p:nvSpPr>
          <p:cNvPr id="35844" name="Rectangle 6"/>
          <p:cNvSpPr>
            <a:spLocks noGrp="1" noChangeArrowheads="1"/>
          </p:cNvSpPr>
          <p:nvPr>
            <p:ph type="title"/>
          </p:nvPr>
        </p:nvSpPr>
        <p:spPr/>
        <p:txBody>
          <a:bodyPr/>
          <a:lstStyle/>
          <a:p>
            <a:pPr eaLnBrk="1" hangingPunct="1">
              <a:defRPr/>
            </a:pPr>
            <a:r>
              <a:rPr lang="en-US" sz="4000" b="1" dirty="0">
                <a:ea typeface="ＭＳ Ｐゴシック" charset="0"/>
                <a:cs typeface="+mj-cs"/>
              </a:rPr>
              <a:t>Example</a:t>
            </a:r>
          </a:p>
        </p:txBody>
      </p:sp>
      <p:pic>
        <p:nvPicPr>
          <p:cNvPr id="59395" name="Picture 5" descr="summaries3fig6"/>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533" t="16529" r="6824" b="16182"/>
          <a:stretch/>
        </p:blipFill>
        <p:spPr>
          <a:xfrm>
            <a:off x="4439816" y="2411730"/>
            <a:ext cx="5629380" cy="4041606"/>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396" name="Text Box 8"/>
          <p:cNvSpPr txBox="1">
            <a:spLocks noChangeArrowheads="1"/>
          </p:cNvSpPr>
          <p:nvPr/>
        </p:nvSpPr>
        <p:spPr bwMode="auto">
          <a:xfrm>
            <a:off x="1992313" y="1484314"/>
            <a:ext cx="446571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dirty="0">
                <a:latin typeface="+mn-lt"/>
              </a:rPr>
              <a:t>Q1 – 25</a:t>
            </a:r>
            <a:r>
              <a:rPr lang="en-US" altLang="en-US" sz="2800" baseline="30000" dirty="0">
                <a:latin typeface="+mn-lt"/>
              </a:rPr>
              <a:t>th</a:t>
            </a:r>
            <a:r>
              <a:rPr lang="en-US" altLang="en-US" sz="2800" dirty="0">
                <a:latin typeface="+mn-lt"/>
              </a:rPr>
              <a:t> percentile</a:t>
            </a:r>
          </a:p>
          <a:p>
            <a:pPr eaLnBrk="1" hangingPunct="1"/>
            <a:r>
              <a:rPr lang="en-US" altLang="en-US" sz="2800" dirty="0">
                <a:latin typeface="+mn-lt"/>
              </a:rPr>
              <a:t>Q2 – 50</a:t>
            </a:r>
            <a:r>
              <a:rPr lang="en-US" altLang="en-US" sz="2800" baseline="30000" dirty="0">
                <a:latin typeface="+mn-lt"/>
              </a:rPr>
              <a:t>th</a:t>
            </a:r>
            <a:r>
              <a:rPr lang="en-US" altLang="en-US" sz="2800" dirty="0">
                <a:latin typeface="+mn-lt"/>
              </a:rPr>
              <a:t> percentile (median)</a:t>
            </a:r>
          </a:p>
          <a:p>
            <a:pPr eaLnBrk="1" hangingPunct="1"/>
            <a:r>
              <a:rPr lang="en-US" altLang="en-US" sz="2800" dirty="0">
                <a:latin typeface="+mn-lt"/>
              </a:rPr>
              <a:t>Q3 – 75</a:t>
            </a:r>
            <a:r>
              <a:rPr lang="en-US" altLang="en-US" sz="2800" baseline="30000" dirty="0">
                <a:latin typeface="+mn-lt"/>
              </a:rPr>
              <a:t>th</a:t>
            </a:r>
            <a:r>
              <a:rPr lang="en-US" altLang="en-US" sz="2800" dirty="0">
                <a:latin typeface="+mn-lt"/>
              </a:rPr>
              <a:t> percentile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671E82F8-4295-4AC0-AC57-EFB3F603CDC9}" type="slidenum">
              <a:rPr lang="en-US" altLang="en-US" sz="1000">
                <a:solidFill>
                  <a:schemeClr val="bg1"/>
                </a:solidFill>
                <a:latin typeface="Arial" pitchFamily="34" charset="0"/>
              </a:rPr>
              <a:pPr/>
              <a:t>40</a:t>
            </a:fld>
            <a:endParaRPr lang="en-US" altLang="en-US" sz="1000">
              <a:solidFill>
                <a:schemeClr val="bg1"/>
              </a:solidFill>
              <a:latin typeface="Arial" pitchFamily="34" charset="0"/>
            </a:endParaRPr>
          </a:p>
        </p:txBody>
      </p:sp>
      <p:sp>
        <p:nvSpPr>
          <p:cNvPr id="36868" name="Rectangle 6"/>
          <p:cNvSpPr>
            <a:spLocks noGrp="1" noChangeArrowheads="1"/>
          </p:cNvSpPr>
          <p:nvPr>
            <p:ph type="title"/>
          </p:nvPr>
        </p:nvSpPr>
        <p:spPr/>
        <p:txBody>
          <a:bodyPr/>
          <a:lstStyle/>
          <a:p>
            <a:pPr eaLnBrk="1" hangingPunct="1">
              <a:defRPr/>
            </a:pPr>
            <a:r>
              <a:rPr lang="en-US" sz="4000" b="1" dirty="0">
                <a:ea typeface="ＭＳ Ｐゴシック" charset="0"/>
                <a:cs typeface="+mj-cs"/>
              </a:rPr>
              <a:t>Example</a:t>
            </a:r>
          </a:p>
        </p:txBody>
      </p:sp>
      <p:pic>
        <p:nvPicPr>
          <p:cNvPr id="60419" name="Picture 5" descr="quartil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8946" y="1600200"/>
            <a:ext cx="8861550" cy="36867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0" name="Text Box 8"/>
          <p:cNvSpPr txBox="1">
            <a:spLocks noChangeArrowheads="1"/>
          </p:cNvSpPr>
          <p:nvPr/>
        </p:nvSpPr>
        <p:spPr bwMode="auto">
          <a:xfrm>
            <a:off x="4295800" y="1295400"/>
            <a:ext cx="609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dirty="0">
                <a:latin typeface="+mn-lt"/>
              </a:rPr>
              <a:t>Q1</a:t>
            </a:r>
          </a:p>
        </p:txBody>
      </p:sp>
      <p:sp>
        <p:nvSpPr>
          <p:cNvPr id="60421" name="Text Box 9"/>
          <p:cNvSpPr txBox="1">
            <a:spLocks noChangeArrowheads="1"/>
          </p:cNvSpPr>
          <p:nvPr/>
        </p:nvSpPr>
        <p:spPr bwMode="auto">
          <a:xfrm>
            <a:off x="6600056" y="1295400"/>
            <a:ext cx="609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800" dirty="0">
                <a:latin typeface="+mn-lt"/>
              </a:rPr>
              <a:t>Q3</a:t>
            </a:r>
          </a:p>
        </p:txBody>
      </p:sp>
      <p:sp>
        <p:nvSpPr>
          <p:cNvPr id="2" name="TextBox 1">
            <a:extLst>
              <a:ext uri="{FF2B5EF4-FFF2-40B4-BE49-F238E27FC236}">
                <a16:creationId xmlns:a16="http://schemas.microsoft.com/office/drawing/2014/main" id="{3F5AE7D8-5101-1DDB-09F5-5ACE938A62A3}"/>
              </a:ext>
            </a:extLst>
          </p:cNvPr>
          <p:cNvSpPr txBox="1"/>
          <p:nvPr/>
        </p:nvSpPr>
        <p:spPr>
          <a:xfrm>
            <a:off x="2250689" y="5399782"/>
            <a:ext cx="3138360" cy="1077218"/>
          </a:xfrm>
          <a:prstGeom prst="rect">
            <a:avLst/>
          </a:prstGeom>
          <a:noFill/>
        </p:spPr>
        <p:txBody>
          <a:bodyPr wrap="none" rtlCol="0">
            <a:spAutoFit/>
          </a:bodyPr>
          <a:lstStyle/>
          <a:p>
            <a:r>
              <a:rPr lang="en-US" sz="1600" dirty="0"/>
              <a:t>Note: </a:t>
            </a:r>
          </a:p>
          <a:p>
            <a:r>
              <a:rPr lang="en-US" sz="1600" dirty="0"/>
              <a:t>Interquartile Range (IQR) = Q3 – Q1</a:t>
            </a:r>
          </a:p>
          <a:p>
            <a:r>
              <a:rPr lang="en-US" sz="1600" dirty="0"/>
              <a:t>Lower Limit: Q1 – 1.5✕IQR</a:t>
            </a:r>
          </a:p>
          <a:p>
            <a:r>
              <a:rPr lang="en-US" sz="1600" dirty="0"/>
              <a:t>Higher Limit: Q3 + 1.5✕IQR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5"/>
          <p:cNvSpPr>
            <a:spLocks noGrp="1"/>
          </p:cNvSpPr>
          <p:nvPr>
            <p:ph type="sldNum" sz="quarter" idx="12"/>
          </p:nvPr>
        </p:nvSpPr>
        <p:spPr bwMode="auto">
          <a:xfrm>
            <a:off x="5951538" y="6524626"/>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AD000380-9C0C-4DE1-9912-9ADFA7B8DB64}" type="slidenum">
              <a:rPr lang="en-US" altLang="en-US" sz="1000">
                <a:solidFill>
                  <a:schemeClr val="bg1"/>
                </a:solidFill>
                <a:latin typeface="Arial" pitchFamily="34" charset="0"/>
              </a:rPr>
              <a:pPr/>
              <a:t>41</a:t>
            </a:fld>
            <a:endParaRPr lang="en-US" altLang="en-US" sz="1000">
              <a:solidFill>
                <a:schemeClr val="bg1"/>
              </a:solidFill>
              <a:latin typeface="Arial" pitchFamily="34" charset="0"/>
            </a:endParaRPr>
          </a:p>
        </p:txBody>
      </p:sp>
      <p:sp>
        <p:nvSpPr>
          <p:cNvPr id="37892" name="Rectangle 6"/>
          <p:cNvSpPr>
            <a:spLocks noGrp="1" noChangeArrowheads="1"/>
          </p:cNvSpPr>
          <p:nvPr>
            <p:ph type="title"/>
          </p:nvPr>
        </p:nvSpPr>
        <p:spPr>
          <a:xfrm>
            <a:off x="1991544" y="269776"/>
            <a:ext cx="8229600" cy="1143000"/>
          </a:xfrm>
        </p:spPr>
        <p:txBody>
          <a:bodyPr/>
          <a:lstStyle/>
          <a:p>
            <a:pPr eaLnBrk="1" hangingPunct="1">
              <a:defRPr/>
            </a:pPr>
            <a:r>
              <a:rPr lang="en-US" sz="4000" b="1" dirty="0">
                <a:ea typeface="ＭＳ Ｐゴシック" charset="0"/>
                <a:cs typeface="+mj-cs"/>
              </a:rPr>
              <a:t>Example</a:t>
            </a:r>
          </a:p>
        </p:txBody>
      </p:sp>
      <p:pic>
        <p:nvPicPr>
          <p:cNvPr id="61443" name="Picture 5" descr="percentile_clip_image00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878380"/>
            <a:ext cx="6978911" cy="570984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5"/>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9C67EBFC-A24D-49F6-8E01-15435332CBE3}" type="slidenum">
              <a:rPr lang="en-US" altLang="en-US" sz="1000" b="1">
                <a:solidFill>
                  <a:schemeClr val="bg1"/>
                </a:solidFill>
                <a:latin typeface="Arial" pitchFamily="34" charset="0"/>
              </a:rPr>
              <a:pPr algn="ctr"/>
              <a:t>42</a:t>
            </a:fld>
            <a:endParaRPr lang="en-US" altLang="en-US" sz="1000" b="1">
              <a:solidFill>
                <a:schemeClr val="bg1"/>
              </a:solidFill>
              <a:latin typeface="Arial" pitchFamily="34" charset="0"/>
            </a:endParaRPr>
          </a:p>
        </p:txBody>
      </p:sp>
      <p:sp>
        <p:nvSpPr>
          <p:cNvPr id="62466" name="Rectangle 2"/>
          <p:cNvSpPr>
            <a:spLocks noGrp="1" noChangeArrowheads="1"/>
          </p:cNvSpPr>
          <p:nvPr>
            <p:ph type="title"/>
          </p:nvPr>
        </p:nvSpPr>
        <p:spPr>
          <a:xfrm>
            <a:off x="2639617" y="274639"/>
            <a:ext cx="6923087" cy="490537"/>
          </a:xfrm>
        </p:spPr>
        <p:txBody>
          <a:bodyPr/>
          <a:lstStyle/>
          <a:p>
            <a:pPr eaLnBrk="1" hangingPunct="1"/>
            <a:r>
              <a:rPr lang="en-US" altLang="en-US" sz="4000" b="1" dirty="0"/>
              <a:t>Exercise #5</a:t>
            </a:r>
          </a:p>
        </p:txBody>
      </p:sp>
      <p:sp>
        <p:nvSpPr>
          <p:cNvPr id="62467" name="Rectangle 3"/>
          <p:cNvSpPr>
            <a:spLocks noGrp="1" noChangeArrowheads="1"/>
          </p:cNvSpPr>
          <p:nvPr>
            <p:ph type="body" idx="1"/>
          </p:nvPr>
        </p:nvSpPr>
        <p:spPr>
          <a:xfrm>
            <a:off x="1836739" y="2589214"/>
            <a:ext cx="8435975" cy="3863975"/>
          </a:xfrm>
        </p:spPr>
        <p:txBody>
          <a:bodyPr/>
          <a:lstStyle/>
          <a:p>
            <a:pPr marL="457200" indent="-457200" algn="just" eaLnBrk="1" hangingPunct="1">
              <a:buFontTx/>
              <a:buAutoNum type="alphaLcParenBoth"/>
              <a:tabLst>
                <a:tab pos="446088" algn="l"/>
              </a:tabLst>
            </a:pPr>
            <a:r>
              <a:rPr lang="en-US" altLang="en-US" sz="2400" dirty="0"/>
              <a:t>Use the 18 sorted (left to right) weights of regular can drinks to find the percentile corresponding to the given value.</a:t>
            </a:r>
          </a:p>
          <a:p>
            <a:pPr marL="914400" lvl="1" indent="-514350" algn="just" eaLnBrk="1" hangingPunct="1">
              <a:buFontTx/>
              <a:buAutoNum type="romanLcPeriod"/>
              <a:tabLst>
                <a:tab pos="446088" algn="l"/>
              </a:tabLst>
            </a:pPr>
            <a:r>
              <a:rPr lang="en-US" altLang="en-US" sz="2400" dirty="0"/>
              <a:t>0.8143</a:t>
            </a:r>
          </a:p>
          <a:p>
            <a:pPr marL="914400" lvl="1" indent="-514350" algn="just" eaLnBrk="1" hangingPunct="1">
              <a:buFontTx/>
              <a:buAutoNum type="romanLcPeriod"/>
              <a:tabLst>
                <a:tab pos="446088" algn="l"/>
              </a:tabLst>
            </a:pPr>
            <a:r>
              <a:rPr lang="en-US" altLang="en-US" sz="2400" dirty="0"/>
              <a:t>0.8062</a:t>
            </a:r>
          </a:p>
          <a:p>
            <a:pPr marL="457200" indent="-457200" algn="just" eaLnBrk="1" hangingPunct="1">
              <a:buFontTx/>
              <a:buAutoNum type="alphaLcParenBoth"/>
              <a:tabLst>
                <a:tab pos="446088" algn="l"/>
              </a:tabLst>
            </a:pPr>
            <a:r>
              <a:rPr lang="en-US" altLang="en-US" sz="2400" dirty="0"/>
              <a:t>Find the indicated percentile and quartile.</a:t>
            </a:r>
          </a:p>
          <a:p>
            <a:pPr marL="914400" lvl="1" indent="-514350" algn="just" eaLnBrk="1" hangingPunct="1">
              <a:buFontTx/>
              <a:buAutoNum type="romanLcPeriod"/>
              <a:tabLst>
                <a:tab pos="446088" algn="l"/>
              </a:tabLst>
            </a:pPr>
            <a:r>
              <a:rPr lang="en-US" altLang="en-US" sz="2400" dirty="0"/>
              <a:t>P</a:t>
            </a:r>
            <a:r>
              <a:rPr lang="en-US" altLang="en-US" sz="2400" baseline="-25000" dirty="0"/>
              <a:t>80</a:t>
            </a:r>
          </a:p>
          <a:p>
            <a:pPr marL="914400" lvl="1" indent="-514350" algn="just" eaLnBrk="1" hangingPunct="1">
              <a:buFontTx/>
              <a:buAutoNum type="romanLcPeriod"/>
              <a:tabLst>
                <a:tab pos="446088" algn="l"/>
              </a:tabLst>
            </a:pPr>
            <a:r>
              <a:rPr lang="en-US" altLang="en-US" sz="2400" dirty="0"/>
              <a:t>Q</a:t>
            </a:r>
            <a:r>
              <a:rPr lang="en-US" altLang="en-US" sz="2400" baseline="-25000" dirty="0"/>
              <a:t>3</a:t>
            </a:r>
          </a:p>
          <a:p>
            <a:pPr marL="914400" lvl="1" indent="-514350" algn="just" eaLnBrk="1" hangingPunct="1">
              <a:buFontTx/>
              <a:buAutoNum type="romanLcPeriod"/>
              <a:tabLst>
                <a:tab pos="446088" algn="l"/>
              </a:tabLst>
            </a:pPr>
            <a:r>
              <a:rPr lang="en-US" altLang="en-US" sz="2400" dirty="0"/>
              <a:t>P</a:t>
            </a:r>
            <a:r>
              <a:rPr lang="en-US" altLang="en-US" sz="2400" baseline="-25000" dirty="0"/>
              <a:t>33</a:t>
            </a:r>
          </a:p>
          <a:p>
            <a:pPr marL="914400" lvl="1" indent="-514350" algn="just" eaLnBrk="1" hangingPunct="1">
              <a:buFontTx/>
              <a:buAutoNum type="romanLcPeriod"/>
              <a:tabLst>
                <a:tab pos="446088" algn="l"/>
              </a:tabLst>
            </a:pPr>
            <a:r>
              <a:rPr lang="en-US" altLang="en-US" sz="2400" dirty="0"/>
              <a:t>Q</a:t>
            </a:r>
            <a:r>
              <a:rPr lang="en-US" altLang="en-US" sz="2400" baseline="-25000" dirty="0"/>
              <a:t>1</a:t>
            </a:r>
            <a:endParaRPr lang="en-US" altLang="en-US" sz="2400" dirty="0"/>
          </a:p>
        </p:txBody>
      </p:sp>
      <p:graphicFrame>
        <p:nvGraphicFramePr>
          <p:cNvPr id="2" name="Table 1"/>
          <p:cNvGraphicFramePr>
            <a:graphicFrameLocks noGrp="1"/>
          </p:cNvGraphicFramePr>
          <p:nvPr/>
        </p:nvGraphicFramePr>
        <p:xfrm>
          <a:off x="2759598" y="1052736"/>
          <a:ext cx="7008810" cy="1371648"/>
        </p:xfrm>
        <a:graphic>
          <a:graphicData uri="http://schemas.openxmlformats.org/drawingml/2006/table">
            <a:tbl>
              <a:tblPr firstRow="1" bandRow="1">
                <a:tableStyleId>{5940675A-B579-460E-94D1-54222C63F5DA}</a:tableStyleId>
              </a:tblPr>
              <a:tblGrid>
                <a:gridCol w="1168135">
                  <a:extLst>
                    <a:ext uri="{9D8B030D-6E8A-4147-A177-3AD203B41FA5}">
                      <a16:colId xmlns:a16="http://schemas.microsoft.com/office/drawing/2014/main" val="20000"/>
                    </a:ext>
                  </a:extLst>
                </a:gridCol>
                <a:gridCol w="1168135">
                  <a:extLst>
                    <a:ext uri="{9D8B030D-6E8A-4147-A177-3AD203B41FA5}">
                      <a16:colId xmlns:a16="http://schemas.microsoft.com/office/drawing/2014/main" val="20001"/>
                    </a:ext>
                  </a:extLst>
                </a:gridCol>
                <a:gridCol w="1168135">
                  <a:extLst>
                    <a:ext uri="{9D8B030D-6E8A-4147-A177-3AD203B41FA5}">
                      <a16:colId xmlns:a16="http://schemas.microsoft.com/office/drawing/2014/main" val="20002"/>
                    </a:ext>
                  </a:extLst>
                </a:gridCol>
                <a:gridCol w="1168135">
                  <a:extLst>
                    <a:ext uri="{9D8B030D-6E8A-4147-A177-3AD203B41FA5}">
                      <a16:colId xmlns:a16="http://schemas.microsoft.com/office/drawing/2014/main" val="20003"/>
                    </a:ext>
                  </a:extLst>
                </a:gridCol>
                <a:gridCol w="1168135">
                  <a:extLst>
                    <a:ext uri="{9D8B030D-6E8A-4147-A177-3AD203B41FA5}">
                      <a16:colId xmlns:a16="http://schemas.microsoft.com/office/drawing/2014/main" val="20004"/>
                    </a:ext>
                  </a:extLst>
                </a:gridCol>
                <a:gridCol w="1168135">
                  <a:extLst>
                    <a:ext uri="{9D8B030D-6E8A-4147-A177-3AD203B41FA5}">
                      <a16:colId xmlns:a16="http://schemas.microsoft.com/office/drawing/2014/main" val="20005"/>
                    </a:ext>
                  </a:extLst>
                </a:gridCol>
              </a:tblGrid>
              <a:tr h="457200">
                <a:tc>
                  <a:txBody>
                    <a:bodyPr/>
                    <a:lstStyle/>
                    <a:p>
                      <a:pPr algn="ctr"/>
                      <a:r>
                        <a:rPr lang="en-MY" sz="2400" dirty="0"/>
                        <a:t>0.7901</a:t>
                      </a:r>
                      <a:endParaRPr lang="en-MY" sz="2400" b="0" dirty="0"/>
                    </a:p>
                  </a:txBody>
                  <a:tcPr marL="91445" marR="91445" marT="45728" marB="45728"/>
                </a:tc>
                <a:tc>
                  <a:txBody>
                    <a:bodyPr/>
                    <a:lstStyle/>
                    <a:p>
                      <a:pPr algn="ctr"/>
                      <a:r>
                        <a:rPr lang="en-MY" sz="2400" dirty="0"/>
                        <a:t>0.8044</a:t>
                      </a:r>
                      <a:endParaRPr lang="en-MY" sz="2400" b="0" dirty="0"/>
                    </a:p>
                  </a:txBody>
                  <a:tcPr marL="91445" marR="91445" marT="45728" marB="45728"/>
                </a:tc>
                <a:tc>
                  <a:txBody>
                    <a:bodyPr/>
                    <a:lstStyle/>
                    <a:p>
                      <a:pPr algn="ctr"/>
                      <a:r>
                        <a:rPr lang="en-MY" sz="2400" dirty="0"/>
                        <a:t>0.8062</a:t>
                      </a:r>
                      <a:endParaRPr lang="en-MY" sz="2400" b="0" dirty="0"/>
                    </a:p>
                  </a:txBody>
                  <a:tcPr marL="91445" marR="91445" marT="45728" marB="45728"/>
                </a:tc>
                <a:tc>
                  <a:txBody>
                    <a:bodyPr/>
                    <a:lstStyle/>
                    <a:p>
                      <a:pPr algn="ctr"/>
                      <a:r>
                        <a:rPr lang="en-MY" sz="2400" dirty="0"/>
                        <a:t>0.8073</a:t>
                      </a:r>
                      <a:endParaRPr lang="en-MY" sz="2400" b="0" dirty="0"/>
                    </a:p>
                  </a:txBody>
                  <a:tcPr marL="91445" marR="91445" marT="45728" marB="45728"/>
                </a:tc>
                <a:tc>
                  <a:txBody>
                    <a:bodyPr/>
                    <a:lstStyle/>
                    <a:p>
                      <a:pPr algn="ctr"/>
                      <a:r>
                        <a:rPr lang="en-MY" sz="2400" dirty="0"/>
                        <a:t>0.8079</a:t>
                      </a:r>
                      <a:endParaRPr lang="en-MY" sz="2400" b="0" dirty="0"/>
                    </a:p>
                  </a:txBody>
                  <a:tcPr marL="91445" marR="91445" marT="45728" marB="45728"/>
                </a:tc>
                <a:tc>
                  <a:txBody>
                    <a:bodyPr/>
                    <a:lstStyle/>
                    <a:p>
                      <a:pPr algn="ctr"/>
                      <a:r>
                        <a:rPr lang="en-MY" sz="2400" dirty="0"/>
                        <a:t>0.8110</a:t>
                      </a:r>
                      <a:endParaRPr lang="en-MY" sz="2400" b="0" dirty="0"/>
                    </a:p>
                  </a:txBody>
                  <a:tcPr marL="91445" marR="91445" marT="45728" marB="45728"/>
                </a:tc>
                <a:extLst>
                  <a:ext uri="{0D108BD9-81ED-4DB2-BD59-A6C34878D82A}">
                    <a16:rowId xmlns:a16="http://schemas.microsoft.com/office/drawing/2014/main" val="10000"/>
                  </a:ext>
                </a:extLst>
              </a:tr>
              <a:tr h="457200">
                <a:tc>
                  <a:txBody>
                    <a:bodyPr/>
                    <a:lstStyle/>
                    <a:p>
                      <a:pPr algn="ctr"/>
                      <a:r>
                        <a:rPr lang="en-MY" sz="2400" dirty="0"/>
                        <a:t>0.8126</a:t>
                      </a:r>
                    </a:p>
                  </a:txBody>
                  <a:tcPr marL="91445" marR="91445" marT="45728" marB="45728"/>
                </a:tc>
                <a:tc>
                  <a:txBody>
                    <a:bodyPr/>
                    <a:lstStyle/>
                    <a:p>
                      <a:pPr algn="ctr"/>
                      <a:r>
                        <a:rPr lang="en-MY" sz="2400" dirty="0"/>
                        <a:t>0.8128</a:t>
                      </a:r>
                    </a:p>
                  </a:txBody>
                  <a:tcPr marL="91445" marR="91445" marT="45728" marB="45728"/>
                </a:tc>
                <a:tc>
                  <a:txBody>
                    <a:bodyPr/>
                    <a:lstStyle/>
                    <a:p>
                      <a:pPr algn="ctr"/>
                      <a:r>
                        <a:rPr lang="en-MY" sz="2400" dirty="0"/>
                        <a:t>0.8143</a:t>
                      </a:r>
                    </a:p>
                  </a:txBody>
                  <a:tcPr marL="91445" marR="91445" marT="45728" marB="45728"/>
                </a:tc>
                <a:tc>
                  <a:txBody>
                    <a:bodyPr/>
                    <a:lstStyle/>
                    <a:p>
                      <a:pPr algn="ctr"/>
                      <a:r>
                        <a:rPr lang="en-MY" sz="2400" dirty="0"/>
                        <a:t>0.8150</a:t>
                      </a:r>
                    </a:p>
                  </a:txBody>
                  <a:tcPr marL="91445" marR="91445" marT="45728" marB="45728"/>
                </a:tc>
                <a:tc>
                  <a:txBody>
                    <a:bodyPr/>
                    <a:lstStyle/>
                    <a:p>
                      <a:pPr algn="ctr"/>
                      <a:r>
                        <a:rPr lang="en-MY" sz="2400" dirty="0"/>
                        <a:t>0.8150</a:t>
                      </a:r>
                    </a:p>
                  </a:txBody>
                  <a:tcPr marL="91445" marR="91445" marT="45728" marB="45728"/>
                </a:tc>
                <a:tc>
                  <a:txBody>
                    <a:bodyPr/>
                    <a:lstStyle/>
                    <a:p>
                      <a:pPr algn="ctr"/>
                      <a:r>
                        <a:rPr lang="en-MY" sz="2400" dirty="0"/>
                        <a:t>0.8152</a:t>
                      </a:r>
                    </a:p>
                  </a:txBody>
                  <a:tcPr marL="91445" marR="91445" marT="45728" marB="45728"/>
                </a:tc>
                <a:extLst>
                  <a:ext uri="{0D108BD9-81ED-4DB2-BD59-A6C34878D82A}">
                    <a16:rowId xmlns:a16="http://schemas.microsoft.com/office/drawing/2014/main" val="10001"/>
                  </a:ext>
                </a:extLst>
              </a:tr>
              <a:tr h="457200">
                <a:tc>
                  <a:txBody>
                    <a:bodyPr/>
                    <a:lstStyle/>
                    <a:p>
                      <a:pPr algn="ctr"/>
                      <a:r>
                        <a:rPr lang="en-MY" sz="2400" dirty="0"/>
                        <a:t>0.8152</a:t>
                      </a:r>
                    </a:p>
                  </a:txBody>
                  <a:tcPr marL="91445" marR="91445" marT="45728" marB="45728"/>
                </a:tc>
                <a:tc>
                  <a:txBody>
                    <a:bodyPr/>
                    <a:lstStyle/>
                    <a:p>
                      <a:pPr algn="ctr"/>
                      <a:r>
                        <a:rPr lang="en-MY" sz="2400" dirty="0"/>
                        <a:t>0.8161</a:t>
                      </a:r>
                    </a:p>
                  </a:txBody>
                  <a:tcPr marL="91445" marR="91445" marT="45728" marB="45728"/>
                </a:tc>
                <a:tc>
                  <a:txBody>
                    <a:bodyPr/>
                    <a:lstStyle/>
                    <a:p>
                      <a:pPr algn="ctr"/>
                      <a:r>
                        <a:rPr lang="en-MY" sz="2400" dirty="0"/>
                        <a:t>0.8161</a:t>
                      </a:r>
                    </a:p>
                  </a:txBody>
                  <a:tcPr marL="91445" marR="91445" marT="45728" marB="45728"/>
                </a:tc>
                <a:tc>
                  <a:txBody>
                    <a:bodyPr/>
                    <a:lstStyle/>
                    <a:p>
                      <a:pPr algn="ctr"/>
                      <a:r>
                        <a:rPr lang="en-MY" sz="2400" dirty="0"/>
                        <a:t>0.8163</a:t>
                      </a:r>
                    </a:p>
                  </a:txBody>
                  <a:tcPr marL="91445" marR="91445" marT="45728" marB="45728"/>
                </a:tc>
                <a:tc>
                  <a:txBody>
                    <a:bodyPr/>
                    <a:lstStyle/>
                    <a:p>
                      <a:pPr algn="ctr"/>
                      <a:r>
                        <a:rPr lang="en-MY" sz="2400" dirty="0"/>
                        <a:t>0.8165</a:t>
                      </a:r>
                    </a:p>
                  </a:txBody>
                  <a:tcPr marL="91445" marR="91445" marT="45728" marB="45728"/>
                </a:tc>
                <a:tc>
                  <a:txBody>
                    <a:bodyPr/>
                    <a:lstStyle/>
                    <a:p>
                      <a:pPr algn="ctr"/>
                      <a:r>
                        <a:rPr lang="en-MY" sz="2400" dirty="0"/>
                        <a:t>0.8170</a:t>
                      </a:r>
                    </a:p>
                  </a:txBody>
                  <a:tcPr marL="91445" marR="91445" marT="45728" marB="45728"/>
                </a:tc>
                <a:extLst>
                  <a:ext uri="{0D108BD9-81ED-4DB2-BD59-A6C34878D82A}">
                    <a16:rowId xmlns:a16="http://schemas.microsoft.com/office/drawing/2014/main" val="1000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76600" y="1981201"/>
            <a:ext cx="5890908" cy="2585323"/>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Measures </a:t>
            </a:r>
          </a:p>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of </a:t>
            </a:r>
          </a:p>
          <a:p>
            <a:pPr algn="ctr" eaLnBrk="1" hangingPunct="1">
              <a:defRPr/>
            </a:pP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alibri" charset="0"/>
                <a:ea typeface="ＭＳ Ｐゴシック" charset="0"/>
                <a:cs typeface="ＭＳ Ｐゴシック" charset="0"/>
              </a:rPr>
              <a:t>Dispersion &amp; Shape</a:t>
            </a:r>
          </a:p>
        </p:txBody>
      </p:sp>
      <p:sp>
        <p:nvSpPr>
          <p:cNvPr id="64514" name="Slide Number Placeholder 1"/>
          <p:cNvSpPr>
            <a:spLocks noGrp="1"/>
          </p:cNvSpPr>
          <p:nvPr>
            <p:ph type="sldNum" sz="quarter" idx="12"/>
          </p:nvPr>
        </p:nvSpPr>
        <p:spPr bwMode="auto">
          <a:xfrm>
            <a:off x="5808664" y="6519864"/>
            <a:ext cx="4667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06DF5460-3B6E-4230-A442-2D951AF2E8C1}" type="slidenum">
              <a:rPr lang="en-US" altLang="en-US" sz="1200">
                <a:solidFill>
                  <a:srgbClr val="FFFFFF"/>
                </a:solidFill>
              </a:rPr>
              <a:pPr/>
              <a:t>43</a:t>
            </a:fld>
            <a:endParaRPr lang="en-US" altLang="en-US" sz="1200">
              <a:solidFill>
                <a:srgbClr val="FFFF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Number Placeholder 5"/>
          <p:cNvSpPr>
            <a:spLocks noGrp="1"/>
          </p:cNvSpPr>
          <p:nvPr>
            <p:ph type="sldNum" sz="quarter" idx="12"/>
          </p:nvPr>
        </p:nvSpPr>
        <p:spPr bwMode="auto">
          <a:xfrm>
            <a:off x="5951538" y="6519864"/>
            <a:ext cx="3603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92FE6D28-9888-4CB1-BB36-FCC6BBF570CD}" type="slidenum">
              <a:rPr lang="en-US" altLang="en-US" sz="1000">
                <a:solidFill>
                  <a:schemeClr val="bg1"/>
                </a:solidFill>
                <a:latin typeface="Arial" pitchFamily="34" charset="0"/>
              </a:rPr>
              <a:pPr/>
              <a:t>44</a:t>
            </a:fld>
            <a:endParaRPr lang="en-US" altLang="en-US" sz="1000">
              <a:solidFill>
                <a:schemeClr val="bg1"/>
              </a:solidFill>
              <a:latin typeface="Arial" pitchFamily="34" charset="0"/>
            </a:endParaRPr>
          </a:p>
        </p:txBody>
      </p:sp>
      <p:sp>
        <p:nvSpPr>
          <p:cNvPr id="43012"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Measures of Dispersion</a:t>
            </a:r>
          </a:p>
        </p:txBody>
      </p:sp>
      <p:sp>
        <p:nvSpPr>
          <p:cNvPr id="65539" name="Rectangle 3"/>
          <p:cNvSpPr>
            <a:spLocks noGrp="1" noChangeArrowheads="1"/>
          </p:cNvSpPr>
          <p:nvPr>
            <p:ph type="body" idx="1"/>
          </p:nvPr>
        </p:nvSpPr>
        <p:spPr>
          <a:xfrm>
            <a:off x="1981200" y="2060848"/>
            <a:ext cx="8229600" cy="4176440"/>
          </a:xfrm>
        </p:spPr>
        <p:txBody>
          <a:bodyPr/>
          <a:lstStyle/>
          <a:p>
            <a:pPr algn="just" eaLnBrk="1" hangingPunct="1"/>
            <a:r>
              <a:rPr lang="en-US" altLang="en-US" sz="2800" dirty="0"/>
              <a:t>Measures of dispersion measure how spread out a set of data is.</a:t>
            </a:r>
          </a:p>
          <a:p>
            <a:pPr algn="just" eaLnBrk="1" hangingPunct="1">
              <a:buFontTx/>
              <a:buNone/>
            </a:pPr>
            <a:endParaRPr lang="en-US" altLang="en-US" sz="2800" b="1" dirty="0"/>
          </a:p>
          <a:p>
            <a:pPr algn="just" eaLnBrk="1" hangingPunct="1"/>
            <a:r>
              <a:rPr lang="en-US" altLang="en-US" sz="2800" b="1" dirty="0"/>
              <a:t>Range, variance, standard deviation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5"/>
          <p:cNvSpPr>
            <a:spLocks noGrp="1"/>
          </p:cNvSpPr>
          <p:nvPr>
            <p:ph type="sldNum" sz="quarter" idx="12"/>
          </p:nvPr>
        </p:nvSpPr>
        <p:spPr bwMode="auto">
          <a:xfrm>
            <a:off x="5880100" y="6524626"/>
            <a:ext cx="5032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65B571E0-715E-4715-A258-6BF68F000380}" type="slidenum">
              <a:rPr lang="en-US" altLang="en-US" sz="1000">
                <a:solidFill>
                  <a:schemeClr val="bg1"/>
                </a:solidFill>
                <a:latin typeface="Arial" pitchFamily="34" charset="0"/>
              </a:rPr>
              <a:pPr/>
              <a:t>45</a:t>
            </a:fld>
            <a:endParaRPr lang="en-US" altLang="en-US" sz="1000">
              <a:solidFill>
                <a:schemeClr val="bg1"/>
              </a:solidFill>
              <a:latin typeface="Arial" pitchFamily="34" charset="0"/>
            </a:endParaRPr>
          </a:p>
        </p:txBody>
      </p:sp>
      <p:sp>
        <p:nvSpPr>
          <p:cNvPr id="44036"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Range</a:t>
            </a:r>
          </a:p>
        </p:txBody>
      </p:sp>
      <p:sp>
        <p:nvSpPr>
          <p:cNvPr id="66563" name="Rectangle 3"/>
          <p:cNvSpPr>
            <a:spLocks noGrp="1" noChangeArrowheads="1"/>
          </p:cNvSpPr>
          <p:nvPr>
            <p:ph type="body" idx="1"/>
          </p:nvPr>
        </p:nvSpPr>
        <p:spPr/>
        <p:txBody>
          <a:bodyPr/>
          <a:lstStyle/>
          <a:p>
            <a:pPr algn="just" eaLnBrk="1" hangingPunct="1"/>
            <a:r>
              <a:rPr lang="en-US" altLang="en-US" sz="2800" dirty="0"/>
              <a:t>The </a:t>
            </a:r>
            <a:r>
              <a:rPr lang="en-US" altLang="en-US" sz="2800" b="1" dirty="0"/>
              <a:t>range</a:t>
            </a:r>
            <a:r>
              <a:rPr lang="en-US" altLang="en-US" sz="2800" dirty="0"/>
              <a:t> is the </a:t>
            </a:r>
            <a:r>
              <a:rPr lang="en-US" altLang="en-US" sz="2800" b="1" dirty="0"/>
              <a:t>largest number</a:t>
            </a:r>
            <a:r>
              <a:rPr lang="en-US" altLang="en-US" sz="2800" dirty="0"/>
              <a:t> in a set </a:t>
            </a:r>
            <a:r>
              <a:rPr lang="en-US" altLang="en-US" sz="2800" b="1" dirty="0"/>
              <a:t>minus</a:t>
            </a:r>
            <a:r>
              <a:rPr lang="en-US" altLang="en-US" sz="2800" dirty="0"/>
              <a:t> the </a:t>
            </a:r>
            <a:r>
              <a:rPr lang="en-US" altLang="en-US" sz="2800" b="1" dirty="0"/>
              <a:t>smallest number</a:t>
            </a:r>
            <a:r>
              <a:rPr lang="en-US" altLang="en-US" sz="2800" dirty="0"/>
              <a:t>. </a:t>
            </a:r>
          </a:p>
          <a:p>
            <a:pPr algn="just" eaLnBrk="1" hangingPunct="1">
              <a:buFontTx/>
              <a:buNone/>
            </a:pPr>
            <a:endParaRPr lang="en-US" altLang="en-US" sz="2800" dirty="0"/>
          </a:p>
          <a:p>
            <a:pPr algn="just" eaLnBrk="1" hangingPunct="1"/>
            <a:r>
              <a:rPr lang="en-US" altLang="en-US" sz="2800" dirty="0"/>
              <a:t>Example: </a:t>
            </a:r>
            <a:r>
              <a:rPr lang="en-US" altLang="en-US" sz="2800" b="1" dirty="0"/>
              <a:t>13, 18, 13, 14, 13, 16, 14, 21, 13</a:t>
            </a:r>
          </a:p>
          <a:p>
            <a:pPr algn="just" eaLnBrk="1" hangingPunct="1">
              <a:buFontTx/>
              <a:buNone/>
            </a:pPr>
            <a:endParaRPr lang="en-US" altLang="en-US" sz="2800" dirty="0"/>
          </a:p>
          <a:p>
            <a:pPr algn="just" eaLnBrk="1" hangingPunct="1">
              <a:buFontTx/>
              <a:buNone/>
            </a:pPr>
            <a:r>
              <a:rPr lang="en-US" altLang="en-US" sz="2800" dirty="0"/>
              <a:t>	The largest value in the list is 21, </a:t>
            </a:r>
          </a:p>
          <a:p>
            <a:pPr algn="just" eaLnBrk="1" hangingPunct="1">
              <a:buFontTx/>
              <a:buNone/>
            </a:pPr>
            <a:r>
              <a:rPr lang="en-US" altLang="en-US" sz="2800" dirty="0"/>
              <a:t>    and the smallest is 13, </a:t>
            </a:r>
          </a:p>
          <a:p>
            <a:pPr algn="just" eaLnBrk="1" hangingPunct="1">
              <a:buFontTx/>
              <a:buNone/>
            </a:pPr>
            <a:r>
              <a:rPr lang="en-US" altLang="en-US" sz="2800" dirty="0"/>
              <a:t>	so, the </a:t>
            </a:r>
            <a:r>
              <a:rPr lang="en-US" altLang="en-US" sz="2800" b="1" dirty="0"/>
              <a:t>range</a:t>
            </a:r>
            <a:r>
              <a:rPr lang="en-US" altLang="en-US" sz="2800" dirty="0"/>
              <a:t> is </a:t>
            </a:r>
            <a:r>
              <a:rPr lang="en-US" altLang="en-US" sz="2800" b="1" dirty="0"/>
              <a:t>21 – 13 = 8</a:t>
            </a:r>
            <a:r>
              <a:rPr lang="en-US" altLang="en-US" sz="2800" dirty="0"/>
              <a:t>. </a:t>
            </a:r>
          </a:p>
          <a:p>
            <a:pPr algn="just" eaLnBrk="1" hangingPunct="1">
              <a:buFont typeface="Arial" pitchFamily="34" charset="0"/>
              <a:buNone/>
            </a:pPr>
            <a:endParaRPr lang="en-US" alt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Number Placeholder 5"/>
          <p:cNvSpPr>
            <a:spLocks noGrp="1"/>
          </p:cNvSpPr>
          <p:nvPr>
            <p:ph type="sldNum" sz="quarter" idx="12"/>
          </p:nvPr>
        </p:nvSpPr>
        <p:spPr bwMode="auto">
          <a:xfrm>
            <a:off x="5880100" y="6519864"/>
            <a:ext cx="5032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71D7018D-FDE7-4F5B-A1DB-58B055AD616B}" type="slidenum">
              <a:rPr lang="en-US" altLang="en-US" sz="1000">
                <a:solidFill>
                  <a:schemeClr val="bg1"/>
                </a:solidFill>
                <a:latin typeface="Arial" pitchFamily="34" charset="0"/>
              </a:rPr>
              <a:pPr/>
              <a:t>46</a:t>
            </a:fld>
            <a:endParaRPr lang="en-US" altLang="en-US" sz="1000">
              <a:solidFill>
                <a:schemeClr val="bg1"/>
              </a:solidFill>
              <a:latin typeface="Arial" pitchFamily="34" charset="0"/>
            </a:endParaRPr>
          </a:p>
        </p:txBody>
      </p:sp>
      <p:sp>
        <p:nvSpPr>
          <p:cNvPr id="45060"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Variance</a:t>
            </a:r>
          </a:p>
        </p:txBody>
      </p:sp>
      <p:sp>
        <p:nvSpPr>
          <p:cNvPr id="67587" name="Rectangle 3"/>
          <p:cNvSpPr>
            <a:spLocks noGrp="1" noChangeArrowheads="1"/>
          </p:cNvSpPr>
          <p:nvPr>
            <p:ph type="body" idx="1"/>
          </p:nvPr>
        </p:nvSpPr>
        <p:spPr/>
        <p:txBody>
          <a:bodyPr/>
          <a:lstStyle/>
          <a:p>
            <a:pPr algn="just" eaLnBrk="1" hangingPunct="1"/>
            <a:r>
              <a:rPr lang="en-US" altLang="en-US" sz="2800" dirty="0"/>
              <a:t>A measure of the </a:t>
            </a:r>
            <a:r>
              <a:rPr lang="en-US" altLang="en-US" sz="2800" b="1" dirty="0"/>
              <a:t>dispersion of a set of data points around their mean value</a:t>
            </a:r>
            <a:r>
              <a:rPr lang="en-US" altLang="en-US" sz="2800" dirty="0"/>
              <a:t>. </a:t>
            </a:r>
          </a:p>
          <a:p>
            <a:pPr algn="just" eaLnBrk="1" hangingPunct="1">
              <a:buFont typeface="Arial" pitchFamily="34" charset="0"/>
              <a:buNone/>
            </a:pPr>
            <a:endParaRPr lang="en-US" altLang="en-US" sz="2800" dirty="0"/>
          </a:p>
          <a:p>
            <a:pPr algn="just" eaLnBrk="1" hangingPunct="1"/>
            <a:r>
              <a:rPr lang="en-US" altLang="en-US" sz="2800" dirty="0"/>
              <a:t>It is a mathematical expectation of the average squared deviations from the mean.</a:t>
            </a:r>
          </a:p>
          <a:p>
            <a:pPr algn="just" eaLnBrk="1" hangingPunct="1"/>
            <a:endParaRPr lang="en-US" altLang="en-US" sz="2800" dirty="0"/>
          </a:p>
          <a:p>
            <a:pPr algn="just" eaLnBrk="1" hangingPunct="1"/>
            <a:r>
              <a:rPr lang="en-US" altLang="en-US" sz="2800" dirty="0"/>
              <a:t>low variance: data points are close to mean (consistent)</a:t>
            </a:r>
          </a:p>
          <a:p>
            <a:pPr algn="just" eaLnBrk="1" hangingPunct="1"/>
            <a:r>
              <a:rPr lang="en-US" altLang="en-US" sz="2800" dirty="0"/>
              <a:t>high variance: data points are far from mean and each other (inconsistent)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5"/>
          <p:cNvSpPr>
            <a:spLocks noGrp="1"/>
          </p:cNvSpPr>
          <p:nvPr>
            <p:ph type="sldNum" sz="quarter" idx="12"/>
          </p:nvPr>
        </p:nvSpPr>
        <p:spPr bwMode="auto">
          <a:xfrm>
            <a:off x="5591176" y="6524626"/>
            <a:ext cx="7207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2F553F70-CB31-4E1A-A059-BD326723EC00}" type="slidenum">
              <a:rPr lang="en-US" altLang="en-US" sz="1000">
                <a:solidFill>
                  <a:schemeClr val="bg1"/>
                </a:solidFill>
                <a:latin typeface="Arial" pitchFamily="34" charset="0"/>
              </a:rPr>
              <a:pPr/>
              <a:t>47</a:t>
            </a:fld>
            <a:endParaRPr lang="en-US" altLang="en-US" sz="1000">
              <a:solidFill>
                <a:schemeClr val="bg1"/>
              </a:solidFill>
              <a:latin typeface="Arial" pitchFamily="34" charset="0"/>
            </a:endParaRPr>
          </a:p>
        </p:txBody>
      </p:sp>
      <p:sp>
        <p:nvSpPr>
          <p:cNvPr id="68610" name="Rectangle 3"/>
          <p:cNvSpPr>
            <a:spLocks noGrp="1" noChangeArrowheads="1"/>
          </p:cNvSpPr>
          <p:nvPr>
            <p:ph type="body" idx="1"/>
          </p:nvPr>
        </p:nvSpPr>
        <p:spPr>
          <a:xfrm>
            <a:off x="2114872" y="2143126"/>
            <a:ext cx="8229600" cy="4525963"/>
          </a:xfrm>
        </p:spPr>
        <p:txBody>
          <a:bodyPr/>
          <a:lstStyle/>
          <a:p>
            <a:pPr eaLnBrk="1" hangingPunct="1"/>
            <a:r>
              <a:rPr lang="en-US" altLang="en-US" sz="2800" dirty="0"/>
              <a:t>Sample variance:</a:t>
            </a:r>
          </a:p>
          <a:p>
            <a:pPr eaLnBrk="1" hangingPunct="1"/>
            <a:endParaRPr lang="en-US" altLang="en-US" sz="2800" dirty="0"/>
          </a:p>
          <a:p>
            <a:pPr eaLnBrk="1" hangingPunct="1"/>
            <a:endParaRPr lang="en-US" altLang="en-US" sz="2800" dirty="0"/>
          </a:p>
          <a:p>
            <a:pPr eaLnBrk="1" hangingPunct="1"/>
            <a:endParaRPr lang="en-US" altLang="en-US" sz="2800" dirty="0"/>
          </a:p>
          <a:p>
            <a:pPr eaLnBrk="1" hangingPunct="1"/>
            <a:r>
              <a:rPr lang="en-US" altLang="en-US" sz="2800" dirty="0"/>
              <a:t>Population variance:</a:t>
            </a:r>
          </a:p>
        </p:txBody>
      </p:sp>
      <p:graphicFrame>
        <p:nvGraphicFramePr>
          <p:cNvPr id="68611" name="Object 4"/>
          <p:cNvGraphicFramePr>
            <a:graphicFrameLocks noChangeAspect="1"/>
          </p:cNvGraphicFramePr>
          <p:nvPr/>
        </p:nvGraphicFramePr>
        <p:xfrm>
          <a:off x="5568950" y="1557338"/>
          <a:ext cx="2736850" cy="1643062"/>
        </p:xfrm>
        <a:graphic>
          <a:graphicData uri="http://schemas.openxmlformats.org/presentationml/2006/ole">
            <mc:AlternateContent xmlns:mc="http://schemas.openxmlformats.org/markup-compatibility/2006">
              <mc:Choice xmlns:v="urn:schemas-microsoft-com:vml" Requires="v">
                <p:oleObj name="Equation" r:id="rId2" imgW="1016000" imgH="609600" progId="Equation.3">
                  <p:embed/>
                </p:oleObj>
              </mc:Choice>
              <mc:Fallback>
                <p:oleObj name="Equation" r:id="rId2" imgW="1016000" imgH="609600" progId="Equation.3">
                  <p:embed/>
                  <p:pic>
                    <p:nvPicPr>
                      <p:cNvPr id="6861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8950" y="1557338"/>
                        <a:ext cx="2736850" cy="1643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2" name="Object 5"/>
          <p:cNvGraphicFramePr>
            <a:graphicFrameLocks noChangeAspect="1"/>
          </p:cNvGraphicFramePr>
          <p:nvPr/>
        </p:nvGraphicFramePr>
        <p:xfrm>
          <a:off x="5708651" y="3956050"/>
          <a:ext cx="2536825" cy="1417638"/>
        </p:xfrm>
        <a:graphic>
          <a:graphicData uri="http://schemas.openxmlformats.org/presentationml/2006/ole">
            <mc:AlternateContent xmlns:mc="http://schemas.openxmlformats.org/markup-compatibility/2006">
              <mc:Choice xmlns:v="urn:schemas-microsoft-com:vml" Requires="v">
                <p:oleObj name="Equation" r:id="rId4" imgW="1091726" imgH="609336" progId="Equation.3">
                  <p:embed/>
                </p:oleObj>
              </mc:Choice>
              <mc:Fallback>
                <p:oleObj name="Equation" r:id="rId4" imgW="1091726" imgH="609336" progId="Equation.3">
                  <p:embed/>
                  <p:pic>
                    <p:nvPicPr>
                      <p:cNvPr id="6861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8651" y="3956050"/>
                        <a:ext cx="2536825" cy="1417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Number Placeholder 5"/>
          <p:cNvSpPr>
            <a:spLocks noGrp="1"/>
          </p:cNvSpPr>
          <p:nvPr>
            <p:ph type="sldNum" sz="quarter" idx="12"/>
          </p:nvPr>
        </p:nvSpPr>
        <p:spPr bwMode="auto">
          <a:xfrm>
            <a:off x="5664200" y="6519864"/>
            <a:ext cx="6477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9D683A67-A455-4960-BA73-A843C0B4DABE}" type="slidenum">
              <a:rPr lang="en-US" altLang="en-US" sz="1000">
                <a:solidFill>
                  <a:schemeClr val="bg1"/>
                </a:solidFill>
                <a:latin typeface="Arial" pitchFamily="34" charset="0"/>
              </a:rPr>
              <a:pPr/>
              <a:t>48</a:t>
            </a:fld>
            <a:endParaRPr lang="en-US" altLang="en-US" sz="1000">
              <a:solidFill>
                <a:schemeClr val="bg1"/>
              </a:solidFill>
              <a:latin typeface="Arial" pitchFamily="34" charset="0"/>
            </a:endParaRPr>
          </a:p>
        </p:txBody>
      </p:sp>
      <p:sp>
        <p:nvSpPr>
          <p:cNvPr id="47108"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Standard Deviation</a:t>
            </a:r>
          </a:p>
        </p:txBody>
      </p:sp>
      <p:sp>
        <p:nvSpPr>
          <p:cNvPr id="69635" name="Rectangle 3"/>
          <p:cNvSpPr>
            <a:spLocks noGrp="1" noChangeArrowheads="1"/>
          </p:cNvSpPr>
          <p:nvPr>
            <p:ph type="body" idx="1"/>
          </p:nvPr>
        </p:nvSpPr>
        <p:spPr/>
        <p:txBody>
          <a:bodyPr/>
          <a:lstStyle/>
          <a:p>
            <a:pPr algn="just" eaLnBrk="1" hangingPunct="1"/>
            <a:r>
              <a:rPr lang="en-US" altLang="en-US" sz="2800" dirty="0"/>
              <a:t>A statistic is used as a measure of the dispersion or variation in a distribution, equal to the square root of the arithmetic mean of the squares of the deviations from the arithmetic mean.</a:t>
            </a:r>
          </a:p>
          <a:p>
            <a:pPr algn="just" eaLnBrk="1" hangingPunct="1">
              <a:buFont typeface="Arial" pitchFamily="34" charset="0"/>
              <a:buNone/>
            </a:pPr>
            <a:endParaRPr lang="en-US" altLang="en-US" sz="2800" dirty="0"/>
          </a:p>
          <a:p>
            <a:pPr algn="just" eaLnBrk="1" hangingPunct="1"/>
            <a:r>
              <a:rPr lang="en-US" altLang="en-US" sz="2800" dirty="0"/>
              <a:t>It is the </a:t>
            </a:r>
            <a:r>
              <a:rPr lang="en-US" altLang="en-US" sz="2800" b="1" dirty="0"/>
              <a:t>square root of the variance</a:t>
            </a:r>
            <a:r>
              <a:rPr lang="en-US" altLang="en-US" sz="2800" dirty="0"/>
              <a:t>. </a:t>
            </a:r>
          </a:p>
          <a:p>
            <a:pPr algn="just" eaLnBrk="1" hangingPunct="1"/>
            <a:endParaRPr lang="en-US" alt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2773190" y="274639"/>
            <a:ext cx="6707187" cy="706437"/>
          </a:xfrm>
        </p:spPr>
        <p:txBody>
          <a:bodyPr/>
          <a:lstStyle/>
          <a:p>
            <a:r>
              <a:rPr lang="en-US" altLang="en-US" sz="4000" b="1" dirty="0"/>
              <a:t>Exercise #6</a:t>
            </a:r>
          </a:p>
        </p:txBody>
      </p:sp>
      <p:sp>
        <p:nvSpPr>
          <p:cNvPr id="70658" name="Content Placeholder 2"/>
          <p:cNvSpPr>
            <a:spLocks noGrp="1"/>
          </p:cNvSpPr>
          <p:nvPr>
            <p:ph idx="1"/>
          </p:nvPr>
        </p:nvSpPr>
        <p:spPr>
          <a:xfrm>
            <a:off x="1774825" y="1268413"/>
            <a:ext cx="8642350" cy="5040312"/>
          </a:xfrm>
        </p:spPr>
        <p:txBody>
          <a:bodyPr/>
          <a:lstStyle/>
          <a:p>
            <a:pPr marL="0" indent="0" algn="just">
              <a:buNone/>
            </a:pPr>
            <a:r>
              <a:rPr lang="en-US" altLang="en-US" sz="2800" dirty="0"/>
              <a:t>Bailey has been playing golf on the weekends for the past three years. Recently, she started keeping track of her recorded scores. Her scores for June and July at her favorites 9-hole (par 36) golf course are provided below:</a:t>
            </a:r>
          </a:p>
          <a:p>
            <a:pPr marL="0" indent="0" algn="just">
              <a:buNone/>
            </a:pPr>
            <a:endParaRPr lang="en-US" altLang="en-US" b="1" dirty="0"/>
          </a:p>
          <a:p>
            <a:pPr marL="0" indent="0" algn="ctr">
              <a:buNone/>
            </a:pPr>
            <a:r>
              <a:rPr lang="en-US" altLang="en-US" b="1" dirty="0"/>
              <a:t>45 49  42  56  41  36  34  38  41   45  40   42  41  39  38  40  39  36  41</a:t>
            </a:r>
          </a:p>
          <a:p>
            <a:pPr marL="0" indent="0" algn="just">
              <a:buNone/>
            </a:pPr>
            <a:endParaRPr lang="en-US" altLang="en-US" sz="2800" dirty="0"/>
          </a:p>
          <a:p>
            <a:pPr marL="0" indent="0" algn="just">
              <a:buNone/>
            </a:pPr>
            <a:r>
              <a:rPr lang="en-US" altLang="en-US" sz="2800" dirty="0"/>
              <a:t>Find the Range, Variance, and Standard Deviation for the above data.</a:t>
            </a:r>
          </a:p>
        </p:txBody>
      </p:sp>
      <p:sp>
        <p:nvSpPr>
          <p:cNvPr id="70659" name="Slide Number Placeholder 4"/>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FC0E6805-757D-49A4-BAAA-EBCF43E8ED9E}" type="slidenum">
              <a:rPr lang="en-US" altLang="en-US" sz="1000" b="1">
                <a:solidFill>
                  <a:schemeClr val="bg1"/>
                </a:solidFill>
                <a:latin typeface="Arial" pitchFamily="34" charset="0"/>
              </a:rPr>
              <a:pPr algn="ctr"/>
              <a:t>49</a:t>
            </a:fld>
            <a:endParaRPr lang="en-US" altLang="en-US" sz="1000" b="1">
              <a:solidFill>
                <a:schemeClr val="bg1"/>
              </a:solidFill>
              <a:latin typeface="Arial"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Number Placeholder 5"/>
          <p:cNvSpPr>
            <a:spLocks noGrp="1"/>
          </p:cNvSpPr>
          <p:nvPr>
            <p:ph type="sldNum" sz="quarter" idx="12"/>
          </p:nvPr>
        </p:nvSpPr>
        <p:spPr bwMode="auto">
          <a:xfrm>
            <a:off x="5951539" y="6519864"/>
            <a:ext cx="504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A6C88561-A94D-458A-A73E-DC630F2627ED}" type="slidenum">
              <a:rPr lang="en-US" altLang="en-US" sz="1000">
                <a:solidFill>
                  <a:schemeClr val="bg1"/>
                </a:solidFill>
                <a:latin typeface="Arial" pitchFamily="34" charset="0"/>
              </a:rPr>
              <a:pPr/>
              <a:t>50</a:t>
            </a:fld>
            <a:endParaRPr lang="en-US" altLang="en-US" sz="1000">
              <a:solidFill>
                <a:schemeClr val="bg1"/>
              </a:solidFill>
              <a:latin typeface="Arial" pitchFamily="34" charset="0"/>
            </a:endParaRPr>
          </a:p>
        </p:txBody>
      </p:sp>
      <p:sp>
        <p:nvSpPr>
          <p:cNvPr id="48132" name="Rectangle 2"/>
          <p:cNvSpPr>
            <a:spLocks noGrp="1" noChangeArrowheads="1"/>
          </p:cNvSpPr>
          <p:nvPr>
            <p:ph type="title"/>
          </p:nvPr>
        </p:nvSpPr>
        <p:spPr>
          <a:xfrm>
            <a:off x="3861816" y="365760"/>
            <a:ext cx="6272784" cy="777240"/>
          </a:xfrm>
          <a:ln w="28575">
            <a:solidFill>
              <a:schemeClr val="accent2"/>
            </a:solidFill>
          </a:ln>
        </p:spPr>
        <p:txBody>
          <a:bodyPr/>
          <a:lstStyle/>
          <a:p>
            <a:pPr eaLnBrk="1" hangingPunct="1">
              <a:defRPr/>
            </a:pPr>
            <a:r>
              <a:rPr lang="en-US" sz="4000" b="1" dirty="0">
                <a:ea typeface="ＭＳ Ｐゴシック" charset="0"/>
                <a:cs typeface="+mj-cs"/>
              </a:rPr>
              <a:t>Measures of Shape</a:t>
            </a:r>
          </a:p>
        </p:txBody>
      </p:sp>
      <p:sp>
        <p:nvSpPr>
          <p:cNvPr id="48133" name="Rectangle 3"/>
          <p:cNvSpPr>
            <a:spLocks noGrp="1" noChangeArrowheads="1"/>
          </p:cNvSpPr>
          <p:nvPr>
            <p:ph type="body" idx="1"/>
          </p:nvPr>
        </p:nvSpPr>
        <p:spPr/>
        <p:txBody>
          <a:bodyPr/>
          <a:lstStyle/>
          <a:p>
            <a:pPr>
              <a:spcAft>
                <a:spcPts val="300"/>
              </a:spcAft>
            </a:pPr>
            <a:r>
              <a:rPr lang="en-US" sz="2400" b="1" dirty="0">
                <a:solidFill>
                  <a:srgbClr val="404040"/>
                </a:solidFill>
                <a:latin typeface="DeepSeek-CJK-patch"/>
              </a:rPr>
              <a:t>Skewness</a:t>
            </a:r>
            <a:r>
              <a:rPr lang="en-US" sz="2400" dirty="0">
                <a:solidFill>
                  <a:srgbClr val="404040"/>
                </a:solidFill>
                <a:latin typeface="DeepSeek-CJK-patch"/>
              </a:rPr>
              <a:t>:</a:t>
            </a:r>
          </a:p>
          <a:p>
            <a:pPr lvl="1">
              <a:spcBef>
                <a:spcPts val="300"/>
              </a:spcBef>
              <a:buFont typeface="Arial" panose="020B0604020202020204" pitchFamily="34" charset="0"/>
              <a:buChar char="•"/>
            </a:pPr>
            <a:r>
              <a:rPr lang="en-US" sz="2400" b="1" dirty="0">
                <a:solidFill>
                  <a:srgbClr val="404040"/>
                </a:solidFill>
                <a:latin typeface="DeepSeek-CJK-patch"/>
              </a:rPr>
              <a:t>Positive skew</a:t>
            </a:r>
            <a:r>
              <a:rPr lang="en-US" sz="2400" dirty="0">
                <a:solidFill>
                  <a:srgbClr val="404040"/>
                </a:solidFill>
                <a:latin typeface="DeepSeek-CJK-patch"/>
              </a:rPr>
              <a:t>: Income distribution (few high earners drag mean &gt; median).</a:t>
            </a:r>
          </a:p>
          <a:p>
            <a:pPr lvl="1">
              <a:spcBef>
                <a:spcPts val="300"/>
              </a:spcBef>
              <a:buFont typeface="Arial" panose="020B0604020202020204" pitchFamily="34" charset="0"/>
              <a:buChar char="•"/>
            </a:pPr>
            <a:r>
              <a:rPr lang="en-US" sz="2400" b="1" dirty="0">
                <a:solidFill>
                  <a:srgbClr val="404040"/>
                </a:solidFill>
                <a:latin typeface="DeepSeek-CJK-patch"/>
              </a:rPr>
              <a:t>Negative skew</a:t>
            </a:r>
            <a:r>
              <a:rPr lang="en-US" sz="2400" dirty="0">
                <a:solidFill>
                  <a:srgbClr val="404040"/>
                </a:solidFill>
                <a:latin typeface="DeepSeek-CJK-patch"/>
              </a:rPr>
              <a:t>: Age at retirement (most retire early, few very late).</a:t>
            </a:r>
          </a:p>
          <a:p>
            <a:pPr>
              <a:spcBef>
                <a:spcPts val="300"/>
              </a:spcBef>
              <a:spcAft>
                <a:spcPts val="300"/>
              </a:spcAft>
            </a:pPr>
            <a:r>
              <a:rPr lang="en-US" sz="2400" b="1" dirty="0">
                <a:solidFill>
                  <a:srgbClr val="404040"/>
                </a:solidFill>
                <a:latin typeface="DeepSeek-CJK-patch"/>
              </a:rPr>
              <a:t>Kurtosis</a:t>
            </a:r>
            <a:r>
              <a:rPr lang="en-US" sz="2400" dirty="0">
                <a:solidFill>
                  <a:srgbClr val="404040"/>
                </a:solidFill>
                <a:latin typeface="DeepSeek-CJK-patch"/>
              </a:rPr>
              <a:t>:</a:t>
            </a:r>
          </a:p>
          <a:p>
            <a:pPr lvl="1">
              <a:spcBef>
                <a:spcPts val="300"/>
              </a:spcBef>
              <a:buFont typeface="Arial" panose="020B0604020202020204" pitchFamily="34" charset="0"/>
              <a:buChar char="•"/>
            </a:pPr>
            <a:r>
              <a:rPr lang="en-US" sz="2400" b="1" dirty="0">
                <a:solidFill>
                  <a:srgbClr val="404040"/>
                </a:solidFill>
                <a:latin typeface="DeepSeek-CJK-patch"/>
              </a:rPr>
              <a:t>High kurtosis (Leptokurtic)</a:t>
            </a:r>
            <a:r>
              <a:rPr lang="en-US" sz="2400" dirty="0">
                <a:solidFill>
                  <a:srgbClr val="404040"/>
                </a:solidFill>
                <a:latin typeface="DeepSeek-CJK-patch"/>
              </a:rPr>
              <a:t>: Stock market crashes (extreme outliers).</a:t>
            </a:r>
          </a:p>
          <a:p>
            <a:pPr lvl="1">
              <a:spcBef>
                <a:spcPts val="300"/>
              </a:spcBef>
              <a:buFont typeface="Arial" panose="020B0604020202020204" pitchFamily="34" charset="0"/>
              <a:buChar char="•"/>
            </a:pPr>
            <a:r>
              <a:rPr lang="en-US" sz="2400" b="1" dirty="0">
                <a:solidFill>
                  <a:srgbClr val="404040"/>
                </a:solidFill>
                <a:latin typeface="DeepSeek-CJK-patch"/>
              </a:rPr>
              <a:t>Low kurtosis (Platykurtic)</a:t>
            </a:r>
            <a:r>
              <a:rPr lang="en-US" sz="2400" dirty="0">
                <a:solidFill>
                  <a:srgbClr val="404040"/>
                </a:solidFill>
                <a:latin typeface="DeepSeek-CJK-patch"/>
              </a:rPr>
              <a:t>: Height of adults (most clustered around average).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056B-0484-1965-88C1-9EBA02576C39}"/>
              </a:ext>
            </a:extLst>
          </p:cNvPr>
          <p:cNvSpPr>
            <a:spLocks noGrp="1"/>
          </p:cNvSpPr>
          <p:nvPr>
            <p:ph type="title"/>
          </p:nvPr>
        </p:nvSpPr>
        <p:spPr/>
        <p:txBody>
          <a:bodyPr/>
          <a:lstStyle/>
          <a:p>
            <a:r>
              <a:rPr lang="en-US" b="1" i="0" u="none" strike="noStrike" dirty="0">
                <a:solidFill>
                  <a:srgbClr val="404040"/>
                </a:solidFill>
                <a:effectLst/>
                <a:latin typeface="DeepSeek-CJK-patch"/>
              </a:rPr>
              <a:t>Skewness</a:t>
            </a:r>
            <a:endParaRPr lang="en-US" dirty="0"/>
          </a:p>
        </p:txBody>
      </p:sp>
      <p:sp>
        <p:nvSpPr>
          <p:cNvPr id="3" name="Content Placeholder 2">
            <a:extLst>
              <a:ext uri="{FF2B5EF4-FFF2-40B4-BE49-F238E27FC236}">
                <a16:creationId xmlns:a16="http://schemas.microsoft.com/office/drawing/2014/main" id="{5BCFE2D9-7517-D1FD-4D00-29EB59833423}"/>
              </a:ext>
            </a:extLst>
          </p:cNvPr>
          <p:cNvSpPr>
            <a:spLocks noGrp="1"/>
          </p:cNvSpPr>
          <p:nvPr>
            <p:ph idx="1"/>
          </p:nvPr>
        </p:nvSpPr>
        <p:spPr/>
        <p:txBody>
          <a:bodyPr/>
          <a:lstStyle/>
          <a:p>
            <a:pPr algn="l">
              <a:buNone/>
            </a:pPr>
            <a:r>
              <a:rPr lang="en-US" sz="1800" b="1" dirty="0">
                <a:solidFill>
                  <a:srgbClr val="404040"/>
                </a:solidFill>
                <a:latin typeface="DeepSeek-CJK-patch"/>
              </a:rPr>
              <a:t>Purpose</a:t>
            </a:r>
            <a:r>
              <a:rPr lang="en-US" sz="1800" dirty="0">
                <a:solidFill>
                  <a:srgbClr val="404040"/>
                </a:solidFill>
                <a:latin typeface="DeepSeek-CJK-patch"/>
              </a:rPr>
              <a:t>: Measures </a:t>
            </a:r>
            <a:r>
              <a:rPr lang="en-US" sz="1800" b="1" dirty="0">
                <a:solidFill>
                  <a:srgbClr val="404040"/>
                </a:solidFill>
                <a:latin typeface="DeepSeek-CJK-patch"/>
              </a:rPr>
              <a:t>asymmetry</a:t>
            </a:r>
            <a:r>
              <a:rPr lang="en-US" sz="1800" dirty="0">
                <a:solidFill>
                  <a:srgbClr val="404040"/>
                </a:solidFill>
                <a:latin typeface="DeepSeek-CJK-patch"/>
              </a:rPr>
              <a:t> in data.</a:t>
            </a:r>
            <a:br>
              <a:rPr lang="en-US" sz="1800" dirty="0">
                <a:solidFill>
                  <a:srgbClr val="404040"/>
                </a:solidFill>
                <a:latin typeface="DeepSeek-CJK-patch"/>
              </a:rPr>
            </a:br>
            <a:r>
              <a:rPr lang="en-US" sz="1800" b="1" dirty="0">
                <a:solidFill>
                  <a:srgbClr val="404040"/>
                </a:solidFill>
                <a:latin typeface="DeepSeek-CJK-patch"/>
              </a:rPr>
              <a:t>Key Uses</a:t>
            </a:r>
            <a:r>
              <a:rPr lang="en-US" sz="1800" dirty="0">
                <a:solidFill>
                  <a:srgbClr val="404040"/>
                </a:solidFill>
                <a:latin typeface="DeepSeek-CJK-patch"/>
              </a:rPr>
              <a:t>:</a:t>
            </a:r>
          </a:p>
          <a:p>
            <a:pPr>
              <a:spcAft>
                <a:spcPts val="300"/>
              </a:spcAft>
            </a:pPr>
            <a:r>
              <a:rPr lang="en-US" sz="1800" b="1" dirty="0">
                <a:solidFill>
                  <a:srgbClr val="404040"/>
                </a:solidFill>
                <a:latin typeface="DeepSeek-CJK-patch"/>
              </a:rPr>
              <a:t>Identify Data Bias</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Example: Income data is often </a:t>
            </a:r>
            <a:r>
              <a:rPr lang="en-US" sz="1800" b="1" dirty="0">
                <a:solidFill>
                  <a:srgbClr val="404040"/>
                </a:solidFill>
                <a:latin typeface="DeepSeek-CJK-patch"/>
              </a:rPr>
              <a:t>right-skewed</a:t>
            </a:r>
            <a:r>
              <a:rPr lang="en-US" sz="1800" dirty="0">
                <a:solidFill>
                  <a:srgbClr val="404040"/>
                </a:solidFill>
                <a:latin typeface="DeepSeek-CJK-patch"/>
              </a:rPr>
              <a:t> (mean &gt; median). Knowing this helps avoid misinterpreting averages.</a:t>
            </a:r>
          </a:p>
          <a:p>
            <a:pPr lvl="1">
              <a:spcBef>
                <a:spcPts val="300"/>
              </a:spcBef>
              <a:buFont typeface="Arial" panose="020B0604020202020204" pitchFamily="34" charset="0"/>
              <a:buChar char="•"/>
            </a:pPr>
            <a:r>
              <a:rPr lang="en-US" sz="1800" i="1" dirty="0">
                <a:solidFill>
                  <a:srgbClr val="404040"/>
                </a:solidFill>
                <a:latin typeface="DeepSeek-CJK-patch"/>
              </a:rPr>
              <a:t>Action</a:t>
            </a:r>
            <a:r>
              <a:rPr lang="en-US" sz="1800" dirty="0">
                <a:solidFill>
                  <a:srgbClr val="404040"/>
                </a:solidFill>
                <a:latin typeface="DeepSeek-CJK-patch"/>
              </a:rPr>
              <a:t>: Use median instead of mean for skewed data.</a:t>
            </a:r>
          </a:p>
          <a:p>
            <a:pPr>
              <a:spcBef>
                <a:spcPts val="300"/>
              </a:spcBef>
              <a:spcAft>
                <a:spcPts val="300"/>
              </a:spcAft>
            </a:pPr>
            <a:r>
              <a:rPr lang="en-US" sz="1800" b="1" dirty="0">
                <a:solidFill>
                  <a:srgbClr val="404040"/>
                </a:solidFill>
                <a:latin typeface="DeepSeek-CJK-patch"/>
              </a:rPr>
              <a:t>Improve Model Accuracy</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Machine learning algorithms (e.g., linear regression) assume symmetric data. Skewed data can bias results.</a:t>
            </a:r>
          </a:p>
          <a:p>
            <a:pPr lvl="1">
              <a:spcBef>
                <a:spcPts val="300"/>
              </a:spcBef>
              <a:buFont typeface="Arial" panose="020B0604020202020204" pitchFamily="34" charset="0"/>
              <a:buChar char="•"/>
            </a:pPr>
            <a:r>
              <a:rPr lang="en-US" sz="1800" i="1" dirty="0">
                <a:solidFill>
                  <a:srgbClr val="404040"/>
                </a:solidFill>
                <a:latin typeface="DeepSeek-CJK-patch"/>
              </a:rPr>
              <a:t>Action</a:t>
            </a:r>
            <a:r>
              <a:rPr lang="en-US" sz="1800" dirty="0">
                <a:solidFill>
                  <a:srgbClr val="404040"/>
                </a:solidFill>
                <a:latin typeface="DeepSeek-CJK-patch"/>
              </a:rPr>
              <a:t>: Apply log transformations to right-skewed data.</a:t>
            </a:r>
          </a:p>
          <a:p>
            <a:pPr>
              <a:spcBef>
                <a:spcPts val="300"/>
              </a:spcBef>
              <a:spcAft>
                <a:spcPts val="300"/>
              </a:spcAft>
            </a:pPr>
            <a:r>
              <a:rPr lang="en-US" sz="1800" b="1" dirty="0">
                <a:solidFill>
                  <a:srgbClr val="404040"/>
                </a:solidFill>
                <a:latin typeface="DeepSeek-CJK-patch"/>
              </a:rPr>
              <a:t>Risk Assessment</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In finance, negative skewness indicates higher risk of extreme losses.</a:t>
            </a:r>
          </a:p>
          <a:p>
            <a:pPr algn="l">
              <a:buNone/>
            </a:pPr>
            <a:r>
              <a:rPr lang="en-US" sz="1800" b="1" dirty="0">
                <a:solidFill>
                  <a:srgbClr val="404040"/>
                </a:solidFill>
                <a:latin typeface="DeepSeek-CJK-patch"/>
              </a:rPr>
              <a:t>Real-World Example</a:t>
            </a:r>
            <a:r>
              <a:rPr lang="en-US" sz="1800" dirty="0">
                <a:solidFill>
                  <a:srgbClr val="404040"/>
                </a:solidFill>
                <a:latin typeface="DeepSeek-CJK-patch"/>
              </a:rPr>
              <a:t>:</a:t>
            </a:r>
          </a:p>
          <a:p>
            <a:pPr algn="l">
              <a:buFont typeface="Arial" panose="020B0604020202020204" pitchFamily="34" charset="0"/>
              <a:buChar char="•"/>
            </a:pPr>
            <a:r>
              <a:rPr lang="en-US" sz="1800" b="1" dirty="0">
                <a:solidFill>
                  <a:srgbClr val="404040"/>
                </a:solidFill>
                <a:latin typeface="DeepSeek-CJK-patch"/>
              </a:rPr>
              <a:t>Insurance Claims</a:t>
            </a:r>
            <a:r>
              <a:rPr lang="en-US" sz="1800" dirty="0">
                <a:solidFill>
                  <a:srgbClr val="404040"/>
                </a:solidFill>
                <a:latin typeface="DeepSeek-CJK-patch"/>
              </a:rPr>
              <a:t>: Most claims are small (left-skewed), but a few are huge. Skewness helps price policies correctly.</a:t>
            </a:r>
          </a:p>
        </p:txBody>
      </p:sp>
      <p:sp>
        <p:nvSpPr>
          <p:cNvPr id="4" name="Slide Number Placeholder 3">
            <a:extLst>
              <a:ext uri="{FF2B5EF4-FFF2-40B4-BE49-F238E27FC236}">
                <a16:creationId xmlns:a16="http://schemas.microsoft.com/office/drawing/2014/main" id="{81B03927-066D-2BFD-2924-021AADE0822D}"/>
              </a:ext>
            </a:extLst>
          </p:cNvPr>
          <p:cNvSpPr>
            <a:spLocks noGrp="1"/>
          </p:cNvSpPr>
          <p:nvPr>
            <p:ph type="sldNum" sz="quarter" idx="12"/>
          </p:nvPr>
        </p:nvSpPr>
        <p:spPr/>
        <p:txBody>
          <a:bodyPr/>
          <a:lstStyle/>
          <a:p>
            <a:fld id="{F8E128F6-45E3-4C3D-B268-66550AD96B0A}" type="slidenum">
              <a:rPr lang="en-US" altLang="en-US" smtClean="0"/>
              <a:pPr/>
              <a:t>51</a:t>
            </a:fld>
            <a:endParaRPr lang="en-US" altLang="en-US"/>
          </a:p>
        </p:txBody>
      </p:sp>
    </p:spTree>
    <p:extLst>
      <p:ext uri="{BB962C8B-B14F-4D97-AF65-F5344CB8AC3E}">
        <p14:creationId xmlns:p14="http://schemas.microsoft.com/office/powerpoint/2010/main" val="16041663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E899C-26E9-5C93-5D36-FD1581CF8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B357C-14C7-CD4D-9EC2-9B87CDAB2901}"/>
              </a:ext>
            </a:extLst>
          </p:cNvPr>
          <p:cNvSpPr>
            <a:spLocks noGrp="1"/>
          </p:cNvSpPr>
          <p:nvPr>
            <p:ph type="title"/>
          </p:nvPr>
        </p:nvSpPr>
        <p:spPr/>
        <p:txBody>
          <a:bodyPr/>
          <a:lstStyle/>
          <a:p>
            <a:r>
              <a:rPr lang="en-US" b="1" i="0" u="none" strike="noStrike" dirty="0">
                <a:solidFill>
                  <a:srgbClr val="404040"/>
                </a:solidFill>
                <a:effectLst/>
                <a:latin typeface="DeepSeek-CJK-patch"/>
              </a:rPr>
              <a:t>Kurtosis</a:t>
            </a:r>
            <a:endParaRPr lang="en-US" dirty="0"/>
          </a:p>
        </p:txBody>
      </p:sp>
      <p:sp>
        <p:nvSpPr>
          <p:cNvPr id="3" name="Content Placeholder 2">
            <a:extLst>
              <a:ext uri="{FF2B5EF4-FFF2-40B4-BE49-F238E27FC236}">
                <a16:creationId xmlns:a16="http://schemas.microsoft.com/office/drawing/2014/main" id="{C834A4F7-9E96-0535-BAA8-7B1B7E8D9EC7}"/>
              </a:ext>
            </a:extLst>
          </p:cNvPr>
          <p:cNvSpPr>
            <a:spLocks noGrp="1"/>
          </p:cNvSpPr>
          <p:nvPr>
            <p:ph idx="1"/>
          </p:nvPr>
        </p:nvSpPr>
        <p:spPr/>
        <p:txBody>
          <a:bodyPr/>
          <a:lstStyle/>
          <a:p>
            <a:pPr algn="l">
              <a:buNone/>
            </a:pPr>
            <a:r>
              <a:rPr lang="en-US" sz="1800" b="1" dirty="0">
                <a:solidFill>
                  <a:srgbClr val="404040"/>
                </a:solidFill>
                <a:latin typeface="DeepSeek-CJK-patch"/>
              </a:rPr>
              <a:t>Purpose</a:t>
            </a:r>
            <a:r>
              <a:rPr lang="en-US" sz="1800" dirty="0">
                <a:solidFill>
                  <a:srgbClr val="404040"/>
                </a:solidFill>
                <a:latin typeface="DeepSeek-CJK-patch"/>
              </a:rPr>
              <a:t>: Measures </a:t>
            </a:r>
            <a:r>
              <a:rPr lang="en-US" sz="1800" b="1" dirty="0">
                <a:solidFill>
                  <a:srgbClr val="404040"/>
                </a:solidFill>
                <a:latin typeface="DeepSeek-CJK-patch"/>
              </a:rPr>
              <a:t>tail heaviness</a:t>
            </a:r>
            <a:r>
              <a:rPr lang="en-US" sz="1800" dirty="0">
                <a:solidFill>
                  <a:srgbClr val="404040"/>
                </a:solidFill>
                <a:latin typeface="DeepSeek-CJK-patch"/>
              </a:rPr>
              <a:t> (outlier risk).</a:t>
            </a:r>
            <a:br>
              <a:rPr lang="en-US" sz="1800" dirty="0">
                <a:solidFill>
                  <a:srgbClr val="404040"/>
                </a:solidFill>
                <a:latin typeface="DeepSeek-CJK-patch"/>
              </a:rPr>
            </a:br>
            <a:r>
              <a:rPr lang="en-US" sz="1800" b="1" dirty="0">
                <a:solidFill>
                  <a:srgbClr val="404040"/>
                </a:solidFill>
                <a:latin typeface="DeepSeek-CJK-patch"/>
              </a:rPr>
              <a:t>Key Uses</a:t>
            </a:r>
            <a:r>
              <a:rPr lang="en-US" sz="1800" dirty="0">
                <a:solidFill>
                  <a:srgbClr val="404040"/>
                </a:solidFill>
                <a:latin typeface="DeepSeek-CJK-patch"/>
              </a:rPr>
              <a:t>:</a:t>
            </a:r>
          </a:p>
          <a:p>
            <a:pPr>
              <a:spcAft>
                <a:spcPts val="300"/>
              </a:spcAft>
            </a:pPr>
            <a:r>
              <a:rPr lang="en-US" sz="1800" b="1" dirty="0">
                <a:solidFill>
                  <a:srgbClr val="404040"/>
                </a:solidFill>
                <a:latin typeface="DeepSeek-CJK-patch"/>
              </a:rPr>
              <a:t>Detect Outliers</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High kurtosis (</a:t>
            </a:r>
            <a:r>
              <a:rPr lang="en-US" sz="1800" b="1" dirty="0">
                <a:solidFill>
                  <a:srgbClr val="404040"/>
                </a:solidFill>
                <a:latin typeface="DeepSeek-CJK-patch"/>
              </a:rPr>
              <a:t>leptokurtic</a:t>
            </a:r>
            <a:r>
              <a:rPr lang="en-US" sz="1800" dirty="0">
                <a:solidFill>
                  <a:srgbClr val="404040"/>
                </a:solidFill>
                <a:latin typeface="DeepSeek-CJK-patch"/>
              </a:rPr>
              <a:t>) means more outliers (e.g., stock market crashes).</a:t>
            </a:r>
          </a:p>
          <a:p>
            <a:pPr lvl="1">
              <a:spcBef>
                <a:spcPts val="300"/>
              </a:spcBef>
              <a:buFont typeface="Arial" panose="020B0604020202020204" pitchFamily="34" charset="0"/>
              <a:buChar char="•"/>
            </a:pPr>
            <a:r>
              <a:rPr lang="en-US" sz="1800" dirty="0">
                <a:solidFill>
                  <a:srgbClr val="404040"/>
                </a:solidFill>
                <a:latin typeface="DeepSeek-CJK-patch"/>
              </a:rPr>
              <a:t>Low kurtosis (</a:t>
            </a:r>
            <a:r>
              <a:rPr lang="en-US" sz="1800" b="1" dirty="0">
                <a:solidFill>
                  <a:srgbClr val="404040"/>
                </a:solidFill>
                <a:latin typeface="DeepSeek-CJK-patch"/>
              </a:rPr>
              <a:t>platykurtic</a:t>
            </a:r>
            <a:r>
              <a:rPr lang="en-US" sz="1800" dirty="0">
                <a:solidFill>
                  <a:srgbClr val="404040"/>
                </a:solidFill>
                <a:latin typeface="DeepSeek-CJK-patch"/>
              </a:rPr>
              <a:t>) suggests data is tightly clustered (e.g., heights of adults).</a:t>
            </a:r>
          </a:p>
          <a:p>
            <a:pPr>
              <a:spcBef>
                <a:spcPts val="300"/>
              </a:spcBef>
              <a:spcAft>
                <a:spcPts val="300"/>
              </a:spcAft>
            </a:pPr>
            <a:r>
              <a:rPr lang="en-US" sz="1800" b="1" dirty="0">
                <a:solidFill>
                  <a:srgbClr val="404040"/>
                </a:solidFill>
                <a:latin typeface="DeepSeek-CJK-patch"/>
              </a:rPr>
              <a:t>Quality Control</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Manufacturing processes with high kurtosis may produce defective items sporadically.</a:t>
            </a:r>
          </a:p>
          <a:p>
            <a:pPr>
              <a:spcBef>
                <a:spcPts val="300"/>
              </a:spcBef>
              <a:spcAft>
                <a:spcPts val="300"/>
              </a:spcAft>
            </a:pPr>
            <a:r>
              <a:rPr lang="en-US" sz="1800" b="1" dirty="0">
                <a:solidFill>
                  <a:srgbClr val="404040"/>
                </a:solidFill>
                <a:latin typeface="DeepSeek-CJK-patch"/>
              </a:rPr>
              <a:t>Financial Modeling</a:t>
            </a:r>
            <a:r>
              <a:rPr lang="en-US" sz="1800" dirty="0">
                <a:solidFill>
                  <a:srgbClr val="404040"/>
                </a:solidFill>
                <a:latin typeface="DeepSeek-CJK-patch"/>
              </a:rPr>
              <a:t>:</a:t>
            </a:r>
          </a:p>
          <a:p>
            <a:pPr lvl="1">
              <a:spcBef>
                <a:spcPts val="300"/>
              </a:spcBef>
              <a:buFont typeface="Arial" panose="020B0604020202020204" pitchFamily="34" charset="0"/>
              <a:buChar char="•"/>
            </a:pPr>
            <a:r>
              <a:rPr lang="en-US" sz="1800" dirty="0">
                <a:solidFill>
                  <a:srgbClr val="404040"/>
                </a:solidFill>
                <a:latin typeface="DeepSeek-CJK-patch"/>
              </a:rPr>
              <a:t>Portfolio managers check kurtosis to assess crash risk (e.g., Bitcoin returns have high kurtosis).</a:t>
            </a:r>
          </a:p>
          <a:p>
            <a:pPr algn="l">
              <a:buNone/>
            </a:pPr>
            <a:r>
              <a:rPr lang="en-US" sz="1800" b="1" dirty="0">
                <a:solidFill>
                  <a:srgbClr val="404040"/>
                </a:solidFill>
                <a:latin typeface="DeepSeek-CJK-patch"/>
              </a:rPr>
              <a:t>Real-World Example</a:t>
            </a:r>
            <a:r>
              <a:rPr lang="en-US" sz="1800" dirty="0">
                <a:solidFill>
                  <a:srgbClr val="404040"/>
                </a:solidFill>
                <a:latin typeface="DeepSeek-CJK-patch"/>
              </a:rPr>
              <a:t>:</a:t>
            </a:r>
          </a:p>
          <a:p>
            <a:pPr algn="l">
              <a:buFont typeface="Arial" panose="020B0604020202020204" pitchFamily="34" charset="0"/>
              <a:buChar char="•"/>
            </a:pPr>
            <a:r>
              <a:rPr lang="en-US" sz="1800" b="1" dirty="0">
                <a:solidFill>
                  <a:srgbClr val="404040"/>
                </a:solidFill>
                <a:latin typeface="DeepSeek-CJK-patch"/>
              </a:rPr>
              <a:t>Medical Trials</a:t>
            </a:r>
            <a:r>
              <a:rPr lang="en-US" sz="1800" dirty="0">
                <a:solidFill>
                  <a:srgbClr val="404040"/>
                </a:solidFill>
                <a:latin typeface="DeepSeek-CJK-patch"/>
              </a:rPr>
              <a:t>: Drug side-effect data with high kurtosis signals rare but severe reactions.</a:t>
            </a:r>
          </a:p>
        </p:txBody>
      </p:sp>
      <p:sp>
        <p:nvSpPr>
          <p:cNvPr id="4" name="Slide Number Placeholder 3">
            <a:extLst>
              <a:ext uri="{FF2B5EF4-FFF2-40B4-BE49-F238E27FC236}">
                <a16:creationId xmlns:a16="http://schemas.microsoft.com/office/drawing/2014/main" id="{C0807493-369A-95F5-B9D8-5DABEEFB0090}"/>
              </a:ext>
            </a:extLst>
          </p:cNvPr>
          <p:cNvSpPr>
            <a:spLocks noGrp="1"/>
          </p:cNvSpPr>
          <p:nvPr>
            <p:ph type="sldNum" sz="quarter" idx="12"/>
          </p:nvPr>
        </p:nvSpPr>
        <p:spPr/>
        <p:txBody>
          <a:bodyPr/>
          <a:lstStyle/>
          <a:p>
            <a:fld id="{F8E128F6-45E3-4C3D-B268-66550AD96B0A}" type="slidenum">
              <a:rPr lang="en-US" altLang="en-US" smtClean="0"/>
              <a:pPr/>
              <a:t>52</a:t>
            </a:fld>
            <a:endParaRPr lang="en-US" altLang="en-US"/>
          </a:p>
        </p:txBody>
      </p:sp>
    </p:spTree>
    <p:extLst>
      <p:ext uri="{BB962C8B-B14F-4D97-AF65-F5344CB8AC3E}">
        <p14:creationId xmlns:p14="http://schemas.microsoft.com/office/powerpoint/2010/main" val="3240705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5"/>
          <p:cNvSpPr>
            <a:spLocks noGrp="1"/>
          </p:cNvSpPr>
          <p:nvPr>
            <p:ph type="sldNum" sz="quarter" idx="12"/>
          </p:nvPr>
        </p:nvSpPr>
        <p:spPr bwMode="auto">
          <a:xfrm>
            <a:off x="5880100" y="6519864"/>
            <a:ext cx="5032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EA9BA259-D9E8-4B4B-A285-6CB8F658AA29}" type="slidenum">
              <a:rPr lang="en-US" altLang="en-US" sz="1000">
                <a:solidFill>
                  <a:schemeClr val="bg1"/>
                </a:solidFill>
                <a:latin typeface="Arial" pitchFamily="34" charset="0"/>
              </a:rPr>
              <a:pPr/>
              <a:t>53</a:t>
            </a:fld>
            <a:endParaRPr lang="en-US" altLang="en-US" sz="1000">
              <a:solidFill>
                <a:schemeClr val="bg1"/>
              </a:solidFill>
              <a:latin typeface="Arial" pitchFamily="34" charset="0"/>
            </a:endParaRPr>
          </a:p>
        </p:txBody>
      </p:sp>
      <p:sp>
        <p:nvSpPr>
          <p:cNvPr id="49156" name="Rectangle 2"/>
          <p:cNvSpPr>
            <a:spLocks noGrp="1" noChangeArrowheads="1"/>
          </p:cNvSpPr>
          <p:nvPr>
            <p:ph type="title"/>
          </p:nvPr>
        </p:nvSpPr>
        <p:spPr>
          <a:xfrm>
            <a:off x="3886200" y="365760"/>
            <a:ext cx="6272784" cy="777240"/>
          </a:xfrm>
          <a:ln w="28575">
            <a:solidFill>
              <a:schemeClr val="accent2"/>
            </a:solidFill>
          </a:ln>
        </p:spPr>
        <p:txBody>
          <a:bodyPr/>
          <a:lstStyle/>
          <a:p>
            <a:pPr eaLnBrk="1" hangingPunct="1">
              <a:defRPr/>
            </a:pPr>
            <a:r>
              <a:rPr lang="en-US" sz="4000" b="1" dirty="0">
                <a:ea typeface="ＭＳ Ｐゴシック" charset="0"/>
                <a:cs typeface="+mj-cs"/>
              </a:rPr>
              <a:t>Skewness </a:t>
            </a:r>
          </a:p>
        </p:txBody>
      </p:sp>
      <p:sp>
        <p:nvSpPr>
          <p:cNvPr id="49157" name="Rectangle 3"/>
          <p:cNvSpPr>
            <a:spLocks noGrp="1" noChangeArrowheads="1"/>
          </p:cNvSpPr>
          <p:nvPr>
            <p:ph type="body" idx="1"/>
          </p:nvPr>
        </p:nvSpPr>
        <p:spPr>
          <a:xfrm>
            <a:off x="1970856" y="1639342"/>
            <a:ext cx="8229600" cy="4525962"/>
          </a:xfrm>
        </p:spPr>
        <p:txBody>
          <a:bodyPr/>
          <a:lstStyle/>
          <a:p>
            <a:pPr algn="just" eaLnBrk="1" hangingPunct="1">
              <a:buFont typeface="Arial" charset="0"/>
              <a:buChar char="•"/>
              <a:defRPr/>
            </a:pPr>
            <a:r>
              <a:rPr lang="en-US" sz="2800" dirty="0">
                <a:ea typeface="ＭＳ Ｐゴシック" charset="0"/>
                <a:cs typeface="+mn-cs"/>
              </a:rPr>
              <a:t>Occurs when a distribution is not symmetrical about its mean. </a:t>
            </a:r>
          </a:p>
          <a:p>
            <a:pPr algn="just" eaLnBrk="1" hangingPunct="1">
              <a:buFont typeface="Arial" charset="0"/>
              <a:buChar char="•"/>
              <a:defRPr/>
            </a:pPr>
            <a:r>
              <a:rPr lang="en-US" sz="2800" dirty="0">
                <a:ea typeface="ＭＳ Ｐゴシック" charset="0"/>
                <a:cs typeface="+mn-cs"/>
              </a:rPr>
              <a:t>A distribution is symmetrical when its median, mean, and mode are equal. </a:t>
            </a:r>
          </a:p>
          <a:p>
            <a:pPr algn="just" eaLnBrk="1" hangingPunct="1">
              <a:buFont typeface="Arial" charset="0"/>
              <a:buChar char="•"/>
              <a:defRPr/>
            </a:pPr>
            <a:r>
              <a:rPr lang="en-US" sz="2800" dirty="0">
                <a:ea typeface="ＭＳ Ｐゴシック" charset="0"/>
                <a:cs typeface="+mn-cs"/>
              </a:rPr>
              <a:t>A positively skewed (</a:t>
            </a:r>
            <a:r>
              <a:rPr lang="en-US" sz="2800" dirty="0">
                <a:solidFill>
                  <a:schemeClr val="accent2"/>
                </a:solidFill>
                <a:ea typeface="ＭＳ Ｐゴシック" charset="0"/>
                <a:cs typeface="+mn-cs"/>
              </a:rPr>
              <a:t>skewed to the right</a:t>
            </a:r>
            <a:r>
              <a:rPr lang="en-US" sz="2800" dirty="0">
                <a:ea typeface="ＭＳ Ｐゴシック" charset="0"/>
                <a:cs typeface="+mn-cs"/>
              </a:rPr>
              <a:t>) distribution occurs when the </a:t>
            </a:r>
            <a:r>
              <a:rPr lang="en-US" sz="2800" b="1" dirty="0">
                <a:ea typeface="ＭＳ Ｐゴシック" charset="0"/>
                <a:cs typeface="+mn-cs"/>
              </a:rPr>
              <a:t>mean exceeds the median</a:t>
            </a:r>
            <a:r>
              <a:rPr lang="en-US" sz="2800" dirty="0">
                <a:ea typeface="ＭＳ Ｐゴシック" charset="0"/>
                <a:cs typeface="+mn-cs"/>
              </a:rPr>
              <a:t>. </a:t>
            </a:r>
          </a:p>
          <a:p>
            <a:pPr algn="just" eaLnBrk="1" hangingPunct="1">
              <a:buFont typeface="Arial" charset="0"/>
              <a:buChar char="•"/>
              <a:defRPr/>
            </a:pPr>
            <a:r>
              <a:rPr lang="en-US" sz="2800" dirty="0">
                <a:ea typeface="ＭＳ Ｐゴシック" charset="0"/>
                <a:cs typeface="+mn-cs"/>
              </a:rPr>
              <a:t>A negatively skewed (</a:t>
            </a:r>
            <a:r>
              <a:rPr lang="en-US" sz="2800" dirty="0">
                <a:solidFill>
                  <a:schemeClr val="accent2"/>
                </a:solidFill>
                <a:ea typeface="ＭＳ Ｐゴシック" charset="0"/>
                <a:cs typeface="+mn-cs"/>
              </a:rPr>
              <a:t>skewed to the left</a:t>
            </a:r>
            <a:r>
              <a:rPr lang="en-US" sz="2800" dirty="0">
                <a:ea typeface="ＭＳ Ｐゴシック" charset="0"/>
                <a:cs typeface="+mn-cs"/>
              </a:rPr>
              <a:t>) distribution occurs when the </a:t>
            </a:r>
            <a:r>
              <a:rPr lang="en-US" sz="2800" b="1" dirty="0">
                <a:ea typeface="ＭＳ Ｐゴシック" charset="0"/>
                <a:cs typeface="+mn-cs"/>
              </a:rPr>
              <a:t>mean is less than the median</a:t>
            </a:r>
            <a:r>
              <a:rPr lang="en-US" sz="2800" dirty="0">
                <a:ea typeface="ＭＳ Ｐゴシック" charset="0"/>
                <a:cs typeface="+mn-cs"/>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a:xfrm>
            <a:off x="2999656" y="274638"/>
            <a:ext cx="6202362" cy="868362"/>
          </a:xfrm>
        </p:spPr>
        <p:txBody>
          <a:bodyPr/>
          <a:lstStyle/>
          <a:p>
            <a:r>
              <a:rPr lang="en-US" altLang="en-US" sz="4000" b="1" dirty="0"/>
              <a:t>Measuring Skewness</a:t>
            </a:r>
          </a:p>
        </p:txBody>
      </p:sp>
      <p:sp>
        <p:nvSpPr>
          <p:cNvPr id="73730" name="Content Placeholder 2"/>
          <p:cNvSpPr>
            <a:spLocks noGrp="1"/>
          </p:cNvSpPr>
          <p:nvPr>
            <p:ph idx="1"/>
          </p:nvPr>
        </p:nvSpPr>
        <p:spPr/>
        <p:txBody>
          <a:bodyPr/>
          <a:lstStyle/>
          <a:p>
            <a:pPr algn="just"/>
            <a:r>
              <a:rPr lang="en-US" altLang="en-US" sz="2800" dirty="0"/>
              <a:t>Formula to measure skewness for univariate data </a:t>
            </a:r>
            <a:r>
              <a:rPr lang="en-US" altLang="en-US" sz="2800" i="1" dirty="0"/>
              <a:t>x</a:t>
            </a:r>
            <a:r>
              <a:rPr lang="en-US" altLang="en-US" sz="2800" baseline="-25000" dirty="0"/>
              <a:t>1</a:t>
            </a:r>
            <a:r>
              <a:rPr lang="en-US" altLang="en-US" sz="2800" dirty="0"/>
              <a:t>, </a:t>
            </a:r>
            <a:r>
              <a:rPr lang="en-US" altLang="en-US" sz="2800" i="1" dirty="0"/>
              <a:t>x</a:t>
            </a:r>
            <a:r>
              <a:rPr lang="en-US" altLang="en-US" sz="2800" baseline="-25000" dirty="0"/>
              <a:t>2</a:t>
            </a:r>
            <a:r>
              <a:rPr lang="en-US" altLang="en-US" sz="2800" dirty="0"/>
              <a:t>, .., </a:t>
            </a:r>
            <a:r>
              <a:rPr lang="en-US" altLang="en-US" sz="2800" i="1" dirty="0" err="1"/>
              <a:t>x</a:t>
            </a:r>
            <a:r>
              <a:rPr lang="en-US" altLang="en-US" sz="2800" i="1" baseline="-25000" dirty="0" err="1"/>
              <a:t>N</a:t>
            </a:r>
            <a:r>
              <a:rPr lang="en-US" altLang="en-US" sz="2800" dirty="0"/>
              <a:t>:</a:t>
            </a:r>
          </a:p>
          <a:p>
            <a:pPr algn="just">
              <a:buFont typeface="Arial" pitchFamily="34" charset="0"/>
              <a:buNone/>
            </a:pPr>
            <a:endParaRPr lang="en-US" altLang="en-US" sz="2800" dirty="0"/>
          </a:p>
          <a:p>
            <a:pPr algn="just">
              <a:buFont typeface="Arial" pitchFamily="34" charset="0"/>
              <a:buNone/>
            </a:pPr>
            <a:endParaRPr lang="en-US" altLang="en-US" sz="2800" dirty="0"/>
          </a:p>
          <a:p>
            <a:pPr algn="just">
              <a:buFontTx/>
              <a:buNone/>
            </a:pPr>
            <a:endParaRPr lang="en-US" altLang="en-US" sz="2800" dirty="0"/>
          </a:p>
          <a:p>
            <a:pPr algn="just">
              <a:buFontTx/>
              <a:buNone/>
            </a:pPr>
            <a:endParaRPr lang="en-US" altLang="en-US" sz="2800" dirty="0"/>
          </a:p>
        </p:txBody>
      </p:sp>
      <p:cxnSp>
        <p:nvCxnSpPr>
          <p:cNvPr id="73731" name="Straight Arrow Connector 6"/>
          <p:cNvCxnSpPr>
            <a:cxnSpLocks noChangeShapeType="1"/>
          </p:cNvCxnSpPr>
          <p:nvPr/>
        </p:nvCxnSpPr>
        <p:spPr bwMode="auto">
          <a:xfrm rot="16200000" flipV="1">
            <a:off x="6362700" y="4002088"/>
            <a:ext cx="762000" cy="53340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73732" name="Straight Arrow Connector 8"/>
          <p:cNvCxnSpPr>
            <a:cxnSpLocks noChangeShapeType="1"/>
          </p:cNvCxnSpPr>
          <p:nvPr/>
        </p:nvCxnSpPr>
        <p:spPr bwMode="auto">
          <a:xfrm rot="5400000" flipH="1" flipV="1">
            <a:off x="5029200" y="3963988"/>
            <a:ext cx="685800" cy="68580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73733" name="Straight Arrow Connector 10"/>
          <p:cNvCxnSpPr>
            <a:cxnSpLocks noChangeShapeType="1"/>
            <a:stCxn id="73736" idx="1"/>
          </p:cNvCxnSpPr>
          <p:nvPr/>
        </p:nvCxnSpPr>
        <p:spPr bwMode="auto">
          <a:xfrm flipH="1" flipV="1">
            <a:off x="6672264" y="3500441"/>
            <a:ext cx="1023936" cy="739803"/>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73734" name="TextBox 13"/>
          <p:cNvSpPr txBox="1">
            <a:spLocks noChangeArrowheads="1"/>
          </p:cNvSpPr>
          <p:nvPr/>
        </p:nvSpPr>
        <p:spPr bwMode="auto">
          <a:xfrm>
            <a:off x="3935760" y="4573588"/>
            <a:ext cx="1981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000" b="1" dirty="0">
                <a:latin typeface="+mn-lt"/>
              </a:rPr>
              <a:t>Number of data points</a:t>
            </a:r>
          </a:p>
        </p:txBody>
      </p:sp>
      <p:sp>
        <p:nvSpPr>
          <p:cNvPr id="73735" name="TextBox 14"/>
          <p:cNvSpPr txBox="1">
            <a:spLocks noChangeArrowheads="1"/>
          </p:cNvSpPr>
          <p:nvPr/>
        </p:nvSpPr>
        <p:spPr bwMode="auto">
          <a:xfrm>
            <a:off x="6248400" y="4573588"/>
            <a:ext cx="29536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000" b="1" dirty="0">
                <a:latin typeface="+mn-lt"/>
              </a:rPr>
              <a:t>s = standard deviation</a:t>
            </a:r>
          </a:p>
        </p:txBody>
      </p:sp>
      <p:sp>
        <p:nvSpPr>
          <p:cNvPr id="73736" name="TextBox 15"/>
          <p:cNvSpPr txBox="1">
            <a:spLocks noChangeArrowheads="1"/>
          </p:cNvSpPr>
          <p:nvPr/>
        </p:nvSpPr>
        <p:spPr bwMode="auto">
          <a:xfrm>
            <a:off x="7696200" y="4040188"/>
            <a:ext cx="1219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US" altLang="en-US" sz="2000" b="1">
                <a:latin typeface="+mn-lt"/>
              </a:rPr>
              <a:t>X = mean</a:t>
            </a:r>
          </a:p>
        </p:txBody>
      </p:sp>
      <p:cxnSp>
        <p:nvCxnSpPr>
          <p:cNvPr id="73737" name="Straight Connector 17"/>
          <p:cNvCxnSpPr>
            <a:cxnSpLocks noChangeShapeType="1"/>
          </p:cNvCxnSpPr>
          <p:nvPr/>
        </p:nvCxnSpPr>
        <p:spPr bwMode="auto">
          <a:xfrm rot="10800000">
            <a:off x="7751763" y="4075114"/>
            <a:ext cx="152400"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graphicFrame>
        <p:nvGraphicFramePr>
          <p:cNvPr id="73738" name="Object 13"/>
          <p:cNvGraphicFramePr>
            <a:graphicFrameLocks noChangeAspect="1"/>
          </p:cNvGraphicFramePr>
          <p:nvPr/>
        </p:nvGraphicFramePr>
        <p:xfrm>
          <a:off x="3733800" y="3049588"/>
          <a:ext cx="3225800" cy="990600"/>
        </p:xfrm>
        <a:graphic>
          <a:graphicData uri="http://schemas.openxmlformats.org/presentationml/2006/ole">
            <mc:AlternateContent xmlns:mc="http://schemas.openxmlformats.org/markup-compatibility/2006">
              <mc:Choice xmlns:v="urn:schemas-microsoft-com:vml" Requires="v">
                <p:oleObj name="Equation" r:id="rId2" imgW="1612900" imgH="495300" progId="Equation.3">
                  <p:embed/>
                </p:oleObj>
              </mc:Choice>
              <mc:Fallback>
                <p:oleObj name="Equation" r:id="rId2" imgW="1612900" imgH="495300" progId="Equation.3">
                  <p:embed/>
                  <p:pic>
                    <p:nvPicPr>
                      <p:cNvPr id="73738"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3049588"/>
                        <a:ext cx="3225800" cy="990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3739" name="Slide Number Placeholder 1"/>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9705E651-6279-4BC1-9143-12674A16E94F}" type="slidenum">
              <a:rPr lang="en-US" altLang="en-US" sz="1000" b="1">
                <a:solidFill>
                  <a:schemeClr val="bg1"/>
                </a:solidFill>
                <a:latin typeface="Arial" pitchFamily="34" charset="0"/>
              </a:rPr>
              <a:pPr algn="ctr"/>
              <a:t>54</a:t>
            </a:fld>
            <a:endParaRPr lang="en-US" altLang="en-US" sz="1000" b="1">
              <a:solidFill>
                <a:schemeClr val="bg1"/>
              </a:solidFill>
              <a:latin typeface="Arial"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Content Placeholder 2"/>
          <p:cNvSpPr>
            <a:spLocks noGrp="1"/>
          </p:cNvSpPr>
          <p:nvPr>
            <p:ph idx="1"/>
          </p:nvPr>
        </p:nvSpPr>
        <p:spPr>
          <a:xfrm>
            <a:off x="1981200" y="908051"/>
            <a:ext cx="8229600" cy="4525963"/>
          </a:xfrm>
        </p:spPr>
        <p:txBody>
          <a:bodyPr/>
          <a:lstStyle/>
          <a:p>
            <a:pPr algn="just"/>
            <a:r>
              <a:rPr lang="en-US" altLang="en-US" sz="2800" dirty="0"/>
              <a:t>For </a:t>
            </a:r>
            <a:r>
              <a:rPr lang="en-US" altLang="en-US" sz="2800" b="1" dirty="0"/>
              <a:t>normal distribution (symmetric distribution)</a:t>
            </a:r>
            <a:r>
              <a:rPr lang="en-US" altLang="en-US" sz="2800" dirty="0"/>
              <a:t>:</a:t>
            </a:r>
          </a:p>
          <a:p>
            <a:pPr lvl="1" algn="just">
              <a:buFont typeface="Wingdings" pitchFamily="2" charset="2"/>
              <a:buChar char="§"/>
            </a:pPr>
            <a:r>
              <a:rPr lang="en-US" altLang="en-US" b="1" dirty="0"/>
              <a:t>skewness = 0</a:t>
            </a:r>
            <a:r>
              <a:rPr lang="en-US" altLang="en-US" dirty="0"/>
              <a:t>.</a:t>
            </a:r>
          </a:p>
          <a:p>
            <a:pPr algn="just"/>
            <a:r>
              <a:rPr lang="en-US" altLang="en-US" sz="2800" dirty="0"/>
              <a:t>Any symmetric data should have:</a:t>
            </a:r>
          </a:p>
          <a:p>
            <a:pPr lvl="1" algn="just">
              <a:buFont typeface="Wingdings" pitchFamily="2" charset="2"/>
              <a:buChar char="§"/>
            </a:pPr>
            <a:r>
              <a:rPr lang="en-US" altLang="en-US" dirty="0"/>
              <a:t>Skewness value near zero.</a:t>
            </a:r>
          </a:p>
          <a:p>
            <a:pPr lvl="1" algn="just">
              <a:buFont typeface="Wingdings" pitchFamily="2" charset="2"/>
              <a:buChar char="§"/>
            </a:pPr>
            <a:r>
              <a:rPr lang="en-US" altLang="en-US" dirty="0"/>
              <a:t>Distribution with </a:t>
            </a:r>
            <a:r>
              <a:rPr lang="en-US" altLang="en-US" b="1" dirty="0"/>
              <a:t>mean, median and mode fall at the same point</a:t>
            </a:r>
            <a:r>
              <a:rPr lang="en-US" altLang="en-US" dirty="0"/>
              <a:t>.</a:t>
            </a:r>
          </a:p>
        </p:txBody>
      </p:sp>
      <p:pic>
        <p:nvPicPr>
          <p:cNvPr id="747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672" y="3501008"/>
            <a:ext cx="4800534"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Slide Number Placeholder 1"/>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07228B3F-5B11-4803-A7A0-7B1702CD9225}" type="slidenum">
              <a:rPr lang="en-US" altLang="en-US" sz="1000" b="1">
                <a:solidFill>
                  <a:schemeClr val="bg1"/>
                </a:solidFill>
                <a:latin typeface="Arial" pitchFamily="34" charset="0"/>
              </a:rPr>
              <a:pPr algn="ctr"/>
              <a:t>55</a:t>
            </a:fld>
            <a:endParaRPr lang="en-US" altLang="en-US" sz="1000" b="1">
              <a:solidFill>
                <a:schemeClr val="bg1"/>
              </a:solidFill>
              <a:latin typeface="Arial"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Content Placeholder 2"/>
          <p:cNvSpPr>
            <a:spLocks noGrp="1"/>
          </p:cNvSpPr>
          <p:nvPr>
            <p:ph idx="1"/>
          </p:nvPr>
        </p:nvSpPr>
        <p:spPr>
          <a:xfrm>
            <a:off x="1847850" y="981075"/>
            <a:ext cx="8229600" cy="4191000"/>
          </a:xfrm>
        </p:spPr>
        <p:txBody>
          <a:bodyPr/>
          <a:lstStyle/>
          <a:p>
            <a:pPr algn="just"/>
            <a:r>
              <a:rPr lang="en-US" altLang="en-US" sz="2800" b="1" dirty="0"/>
              <a:t>Skewness </a:t>
            </a:r>
            <a:r>
              <a:rPr lang="en-US" altLang="en-US" sz="2800" b="1" dirty="0">
                <a:solidFill>
                  <a:srgbClr val="2F32FF"/>
                </a:solidFill>
              </a:rPr>
              <a:t>&gt;</a:t>
            </a:r>
            <a:r>
              <a:rPr lang="en-US" altLang="en-US" sz="2800" b="1" dirty="0"/>
              <a:t> 0</a:t>
            </a:r>
          </a:p>
          <a:p>
            <a:pPr lvl="1" algn="just">
              <a:buFont typeface="Wingdings" pitchFamily="2" charset="2"/>
              <a:buChar char="§"/>
            </a:pPr>
            <a:r>
              <a:rPr lang="en-US" altLang="en-US" sz="2400" dirty="0"/>
              <a:t>The distribution is asymmetrical and points in the </a:t>
            </a:r>
            <a:r>
              <a:rPr lang="en-US" altLang="en-US" sz="2400" b="1" dirty="0">
                <a:solidFill>
                  <a:srgbClr val="FF0000"/>
                </a:solidFill>
              </a:rPr>
              <a:t>positive direction</a:t>
            </a:r>
            <a:r>
              <a:rPr lang="en-US" altLang="en-US" sz="2400" dirty="0"/>
              <a:t>.</a:t>
            </a:r>
          </a:p>
          <a:p>
            <a:pPr lvl="1" algn="just">
              <a:buFont typeface="Wingdings" pitchFamily="2" charset="2"/>
              <a:buChar char="§"/>
            </a:pPr>
            <a:r>
              <a:rPr lang="en-US" altLang="en-US" sz="2400" dirty="0"/>
              <a:t>Example: Test scores of difficult examination where almost everyone did poorly on it</a:t>
            </a:r>
          </a:p>
          <a:p>
            <a:pPr lvl="1" algn="just">
              <a:buFont typeface="Wingdings" pitchFamily="2" charset="2"/>
              <a:buChar char="§"/>
            </a:pPr>
            <a:r>
              <a:rPr lang="en-US" altLang="en-US" sz="2400" b="1" dirty="0"/>
              <a:t>mode &lt; median &lt; mean</a:t>
            </a:r>
          </a:p>
          <a:p>
            <a:pPr lvl="1" algn="just"/>
            <a:endParaRPr lang="en-US" altLang="en-US" sz="2400" dirty="0"/>
          </a:p>
        </p:txBody>
      </p:sp>
      <p:pic>
        <p:nvPicPr>
          <p:cNvPr id="75778" name="Picture 8"/>
          <p:cNvPicPr>
            <a:picLocks noChangeAspect="1" noChangeArrowheads="1"/>
          </p:cNvPicPr>
          <p:nvPr/>
        </p:nvPicPr>
        <p:blipFill>
          <a:blip r:embed="rId2">
            <a:extLst>
              <a:ext uri="{28A0092B-C50C-407E-A947-70E740481C1C}">
                <a14:useLocalDpi xmlns:a14="http://schemas.microsoft.com/office/drawing/2010/main" val="0"/>
              </a:ext>
            </a:extLst>
          </a:blip>
          <a:srcRect r="48865"/>
          <a:stretch>
            <a:fillRect/>
          </a:stretch>
        </p:blipFill>
        <p:spPr bwMode="auto">
          <a:xfrm>
            <a:off x="3935413" y="4232275"/>
            <a:ext cx="34290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Slide Number Placeholder 1"/>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422D3224-113C-4DAB-83E2-532F6C413639}" type="slidenum">
              <a:rPr lang="en-US" altLang="en-US" sz="1000" b="1">
                <a:solidFill>
                  <a:schemeClr val="bg1"/>
                </a:solidFill>
                <a:latin typeface="Arial" pitchFamily="34" charset="0"/>
              </a:rPr>
              <a:pPr algn="ctr"/>
              <a:t>56</a:t>
            </a:fld>
            <a:endParaRPr lang="en-US" altLang="en-US" sz="1000" b="1">
              <a:solidFill>
                <a:schemeClr val="bg1"/>
              </a:solidFill>
              <a:latin typeface="Arial"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Content Placeholder 2"/>
          <p:cNvSpPr>
            <a:spLocks noGrp="1"/>
          </p:cNvSpPr>
          <p:nvPr>
            <p:ph idx="1"/>
          </p:nvPr>
        </p:nvSpPr>
        <p:spPr>
          <a:xfrm>
            <a:off x="1992313" y="981075"/>
            <a:ext cx="8229600" cy="4191000"/>
          </a:xfrm>
        </p:spPr>
        <p:txBody>
          <a:bodyPr/>
          <a:lstStyle/>
          <a:p>
            <a:pPr algn="just"/>
            <a:r>
              <a:rPr lang="en-US" altLang="en-US" sz="2800" b="1" dirty="0"/>
              <a:t>Skewness </a:t>
            </a:r>
            <a:r>
              <a:rPr lang="en-US" altLang="en-US" sz="2800" b="1" dirty="0">
                <a:solidFill>
                  <a:srgbClr val="FF0000"/>
                </a:solidFill>
              </a:rPr>
              <a:t>&lt;</a:t>
            </a:r>
            <a:r>
              <a:rPr lang="en-US" altLang="en-US" sz="2800" b="1" dirty="0"/>
              <a:t> 0</a:t>
            </a:r>
          </a:p>
          <a:p>
            <a:pPr lvl="1" algn="just">
              <a:buFont typeface="Wingdings" pitchFamily="2" charset="2"/>
              <a:buChar char="§"/>
            </a:pPr>
            <a:r>
              <a:rPr lang="en-US" altLang="en-US" sz="2400" dirty="0"/>
              <a:t>The distribution is asymmetrical and points in the </a:t>
            </a:r>
            <a:r>
              <a:rPr lang="en-US" altLang="en-US" sz="2400" b="1" dirty="0">
                <a:solidFill>
                  <a:srgbClr val="FF0000"/>
                </a:solidFill>
              </a:rPr>
              <a:t>negative direction</a:t>
            </a:r>
            <a:r>
              <a:rPr lang="en-US" altLang="en-US" sz="2400" b="1" dirty="0"/>
              <a:t>.</a:t>
            </a:r>
          </a:p>
          <a:p>
            <a:pPr lvl="1" algn="just">
              <a:buFont typeface="Wingdings" pitchFamily="2" charset="2"/>
              <a:buChar char="§"/>
            </a:pPr>
            <a:r>
              <a:rPr lang="en-US" altLang="en-US" sz="2400" dirty="0"/>
              <a:t>Example: Test scores of difficult examination where almost everyone did well on it</a:t>
            </a:r>
          </a:p>
          <a:p>
            <a:pPr lvl="1" algn="just">
              <a:buFont typeface="Wingdings" pitchFamily="2" charset="2"/>
              <a:buChar char="§"/>
            </a:pPr>
            <a:r>
              <a:rPr lang="en-US" altLang="en-US" sz="2400" b="1" dirty="0"/>
              <a:t>mode &gt; median &gt; mean</a:t>
            </a:r>
          </a:p>
          <a:p>
            <a:pPr lvl="1" algn="just"/>
            <a:endParaRPr lang="en-US" altLang="en-US" sz="2400" dirty="0"/>
          </a:p>
        </p:txBody>
      </p:sp>
      <p:pic>
        <p:nvPicPr>
          <p:cNvPr id="76802" name="Picture 8"/>
          <p:cNvPicPr>
            <a:picLocks noChangeAspect="1" noChangeArrowheads="1"/>
          </p:cNvPicPr>
          <p:nvPr/>
        </p:nvPicPr>
        <p:blipFill>
          <a:blip r:embed="rId2">
            <a:extLst>
              <a:ext uri="{28A0092B-C50C-407E-A947-70E740481C1C}">
                <a14:useLocalDpi xmlns:a14="http://schemas.microsoft.com/office/drawing/2010/main" val="0"/>
              </a:ext>
            </a:extLst>
          </a:blip>
          <a:srcRect l="50000"/>
          <a:stretch>
            <a:fillRect/>
          </a:stretch>
        </p:blipFill>
        <p:spPr bwMode="auto">
          <a:xfrm>
            <a:off x="4419600" y="3501009"/>
            <a:ext cx="4767061"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Slide Number Placeholder 1"/>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57727EAE-6D09-4E6F-851D-0D7AB1D8E267}" type="slidenum">
              <a:rPr lang="en-US" altLang="en-US" sz="1000" b="1">
                <a:solidFill>
                  <a:schemeClr val="bg1"/>
                </a:solidFill>
                <a:latin typeface="Arial" pitchFamily="34" charset="0"/>
              </a:rPr>
              <a:pPr algn="ctr"/>
              <a:t>57</a:t>
            </a:fld>
            <a:endParaRPr lang="en-US" altLang="en-US" sz="1000" b="1">
              <a:solidFill>
                <a:schemeClr val="bg1"/>
              </a:solidFill>
              <a:latin typeface="Arial"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Number Placeholder 5"/>
          <p:cNvSpPr>
            <a:spLocks noGrp="1"/>
          </p:cNvSpPr>
          <p:nvPr>
            <p:ph type="sldNum" sz="quarter" idx="12"/>
          </p:nvPr>
        </p:nvSpPr>
        <p:spPr bwMode="auto">
          <a:xfrm>
            <a:off x="5951539" y="6524626"/>
            <a:ext cx="4333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FFF07584-E1C2-4AF3-9C78-66FD50096598}" type="slidenum">
              <a:rPr lang="en-US" altLang="en-US" sz="1000">
                <a:solidFill>
                  <a:schemeClr val="bg1"/>
                </a:solidFill>
                <a:latin typeface="Arial" pitchFamily="34" charset="0"/>
              </a:rPr>
              <a:pPr/>
              <a:t>58</a:t>
            </a:fld>
            <a:endParaRPr lang="en-US" altLang="en-US" sz="1000">
              <a:solidFill>
                <a:schemeClr val="bg1"/>
              </a:solidFill>
              <a:latin typeface="Arial" pitchFamily="34" charset="0"/>
            </a:endParaRPr>
          </a:p>
        </p:txBody>
      </p:sp>
      <p:pic>
        <p:nvPicPr>
          <p:cNvPr id="77826" name="Picture 5" descr="skew"/>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500" t="13364" r="3334" b="6450"/>
          <a:stretch/>
        </p:blipFill>
        <p:spPr>
          <a:xfrm>
            <a:off x="1524000" y="2362203"/>
            <a:ext cx="9144000" cy="291313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TextBox 2">
            <a:extLst>
              <a:ext uri="{FF2B5EF4-FFF2-40B4-BE49-F238E27FC236}">
                <a16:creationId xmlns:a16="http://schemas.microsoft.com/office/drawing/2014/main" id="{13169260-8E1D-E4DB-54DA-F4CE69C8ABFD}"/>
              </a:ext>
            </a:extLst>
          </p:cNvPr>
          <p:cNvSpPr txBox="1"/>
          <p:nvPr/>
        </p:nvSpPr>
        <p:spPr>
          <a:xfrm>
            <a:off x="4796631" y="1994491"/>
            <a:ext cx="2743200" cy="369332"/>
          </a:xfrm>
          <a:prstGeom prst="rect">
            <a:avLst/>
          </a:prstGeom>
          <a:noFill/>
        </p:spPr>
        <p:txBody>
          <a:bodyPr wrap="square">
            <a:spAutoFit/>
          </a:bodyPr>
          <a:lstStyle/>
          <a:p>
            <a:r>
              <a:rPr lang="en-US" altLang="en-US" b="1" dirty="0"/>
              <a:t>mode &lt; median &lt; mean</a:t>
            </a:r>
            <a:endParaRPr lang="en-US" dirty="0"/>
          </a:p>
        </p:txBody>
      </p:sp>
      <p:sp>
        <p:nvSpPr>
          <p:cNvPr id="5" name="TextBox 4">
            <a:extLst>
              <a:ext uri="{FF2B5EF4-FFF2-40B4-BE49-F238E27FC236}">
                <a16:creationId xmlns:a16="http://schemas.microsoft.com/office/drawing/2014/main" id="{1BE20B89-36CB-51A0-312F-8BB12E53140E}"/>
              </a:ext>
            </a:extLst>
          </p:cNvPr>
          <p:cNvSpPr txBox="1"/>
          <p:nvPr/>
        </p:nvSpPr>
        <p:spPr>
          <a:xfrm>
            <a:off x="7924800" y="2230879"/>
            <a:ext cx="2743200" cy="369332"/>
          </a:xfrm>
          <a:prstGeom prst="rect">
            <a:avLst/>
          </a:prstGeom>
          <a:noFill/>
        </p:spPr>
        <p:txBody>
          <a:bodyPr wrap="square">
            <a:spAutoFit/>
          </a:bodyPr>
          <a:lstStyle/>
          <a:p>
            <a:r>
              <a:rPr lang="en-US" altLang="en-US" b="1" dirty="0"/>
              <a:t>mode &gt; median &gt; mean</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5"/>
          <p:cNvSpPr>
            <a:spLocks noGrp="1"/>
          </p:cNvSpPr>
          <p:nvPr>
            <p:ph type="sldNum" sz="quarter" idx="12"/>
          </p:nvPr>
        </p:nvSpPr>
        <p:spPr bwMode="auto">
          <a:xfrm>
            <a:off x="5808664" y="6519864"/>
            <a:ext cx="5746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537AE543-2FC7-4452-B7C3-DD12ABE77138}" type="slidenum">
              <a:rPr lang="en-US" altLang="en-US" sz="1000">
                <a:solidFill>
                  <a:schemeClr val="bg1"/>
                </a:solidFill>
                <a:latin typeface="Arial" pitchFamily="34" charset="0"/>
              </a:rPr>
              <a:pPr/>
              <a:t>59</a:t>
            </a:fld>
            <a:endParaRPr lang="en-US" altLang="en-US" sz="1000">
              <a:solidFill>
                <a:schemeClr val="bg1"/>
              </a:solidFill>
              <a:latin typeface="Arial" pitchFamily="34" charset="0"/>
            </a:endParaRPr>
          </a:p>
        </p:txBody>
      </p:sp>
      <p:sp>
        <p:nvSpPr>
          <p:cNvPr id="51204" name="Rectangle 6"/>
          <p:cNvSpPr>
            <a:spLocks noGrp="1" noChangeArrowheads="1"/>
          </p:cNvSpPr>
          <p:nvPr>
            <p:ph type="title"/>
          </p:nvPr>
        </p:nvSpPr>
        <p:spPr/>
        <p:txBody>
          <a:bodyPr/>
          <a:lstStyle/>
          <a:p>
            <a:pPr eaLnBrk="1" hangingPunct="1">
              <a:defRPr/>
            </a:pPr>
            <a:r>
              <a:rPr lang="en-US" sz="4000" b="1" dirty="0">
                <a:ea typeface="ＭＳ Ｐゴシック" charset="0"/>
                <a:cs typeface="+mj-cs"/>
              </a:rPr>
              <a:t>Right Skewed</a:t>
            </a:r>
          </a:p>
        </p:txBody>
      </p:sp>
      <p:pic>
        <p:nvPicPr>
          <p:cNvPr id="78851" name="Picture 10" descr="skew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1" y="2132857"/>
            <a:ext cx="8702675"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Number Placeholder 5"/>
          <p:cNvSpPr>
            <a:spLocks noGrp="1"/>
          </p:cNvSpPr>
          <p:nvPr>
            <p:ph type="sldNum" sz="quarter" idx="12"/>
          </p:nvPr>
        </p:nvSpPr>
        <p:spPr bwMode="auto">
          <a:xfrm>
            <a:off x="5808664" y="6519864"/>
            <a:ext cx="50323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139BE0B4-1A66-4F4E-A2F7-AD34DC1A092C}" type="slidenum">
              <a:rPr lang="en-US" altLang="en-US" sz="1000">
                <a:solidFill>
                  <a:schemeClr val="bg1"/>
                </a:solidFill>
                <a:latin typeface="Arial" pitchFamily="34" charset="0"/>
              </a:rPr>
              <a:pPr/>
              <a:t>60</a:t>
            </a:fld>
            <a:endParaRPr lang="en-US" altLang="en-US" sz="1000">
              <a:solidFill>
                <a:schemeClr val="bg1"/>
              </a:solidFill>
              <a:latin typeface="Arial" pitchFamily="34" charset="0"/>
            </a:endParaRPr>
          </a:p>
        </p:txBody>
      </p:sp>
      <p:sp>
        <p:nvSpPr>
          <p:cNvPr id="52228" name="Rectangle 6"/>
          <p:cNvSpPr>
            <a:spLocks noGrp="1" noChangeArrowheads="1"/>
          </p:cNvSpPr>
          <p:nvPr>
            <p:ph type="title"/>
          </p:nvPr>
        </p:nvSpPr>
        <p:spPr/>
        <p:txBody>
          <a:bodyPr/>
          <a:lstStyle/>
          <a:p>
            <a:pPr eaLnBrk="1" hangingPunct="1">
              <a:defRPr/>
            </a:pPr>
            <a:r>
              <a:rPr lang="en-US" sz="4000" b="1" dirty="0">
                <a:ea typeface="ＭＳ Ｐゴシック" charset="0"/>
                <a:cs typeface="+mj-cs"/>
              </a:rPr>
              <a:t>Left Skewed</a:t>
            </a:r>
          </a:p>
        </p:txBody>
      </p:sp>
      <p:pic>
        <p:nvPicPr>
          <p:cNvPr id="79875" name="Picture 5" descr="skew_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47529" y="2060849"/>
            <a:ext cx="8702675" cy="32369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5"/>
          <p:cNvSpPr>
            <a:spLocks noGrp="1"/>
          </p:cNvSpPr>
          <p:nvPr>
            <p:ph type="sldNum" sz="quarter" idx="12"/>
          </p:nvPr>
        </p:nvSpPr>
        <p:spPr bwMode="auto">
          <a:xfrm>
            <a:off x="5880100" y="6524626"/>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46002196-5428-495D-9D66-1ED0DA484692}" type="slidenum">
              <a:rPr lang="en-US" altLang="en-US" sz="1000">
                <a:solidFill>
                  <a:schemeClr val="bg1"/>
                </a:solidFill>
                <a:latin typeface="Arial" pitchFamily="34" charset="0"/>
              </a:rPr>
              <a:pPr/>
              <a:t>61</a:t>
            </a:fld>
            <a:endParaRPr lang="en-US" altLang="en-US" sz="1000">
              <a:solidFill>
                <a:schemeClr val="bg1"/>
              </a:solidFill>
              <a:latin typeface="Arial" pitchFamily="34" charset="0"/>
            </a:endParaRPr>
          </a:p>
        </p:txBody>
      </p:sp>
      <p:pic>
        <p:nvPicPr>
          <p:cNvPr id="80898" name="Picture 5" descr="central_tendanc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83632" y="797146"/>
            <a:ext cx="7056784" cy="5633916"/>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Number Placeholder 5"/>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64139724-E8B4-450A-A213-2A2B0360B704}" type="slidenum">
              <a:rPr lang="en-US" altLang="en-US" sz="1000" b="1">
                <a:solidFill>
                  <a:schemeClr val="bg1"/>
                </a:solidFill>
                <a:latin typeface="Arial" pitchFamily="34" charset="0"/>
              </a:rPr>
              <a:pPr algn="ctr"/>
              <a:t>62</a:t>
            </a:fld>
            <a:endParaRPr lang="en-US" altLang="en-US" sz="1000" b="1">
              <a:solidFill>
                <a:schemeClr val="bg1"/>
              </a:solidFill>
              <a:latin typeface="Arial" pitchFamily="34" charset="0"/>
            </a:endParaRPr>
          </a:p>
        </p:txBody>
      </p:sp>
      <p:sp>
        <p:nvSpPr>
          <p:cNvPr id="81922" name="Rectangle 2"/>
          <p:cNvSpPr>
            <a:spLocks noGrp="1" noChangeArrowheads="1"/>
          </p:cNvSpPr>
          <p:nvPr>
            <p:ph type="title"/>
          </p:nvPr>
        </p:nvSpPr>
        <p:spPr>
          <a:xfrm>
            <a:off x="3861816" y="363538"/>
            <a:ext cx="6272784" cy="779462"/>
          </a:xfrm>
          <a:ln w="28575">
            <a:solidFill>
              <a:schemeClr val="accent2"/>
            </a:solidFill>
          </a:ln>
        </p:spPr>
        <p:txBody>
          <a:bodyPr/>
          <a:lstStyle/>
          <a:p>
            <a:pPr eaLnBrk="1" hangingPunct="1"/>
            <a:r>
              <a:rPr lang="en-US" altLang="en-US" sz="4000" b="1" dirty="0"/>
              <a:t>Kurtosis</a:t>
            </a:r>
          </a:p>
        </p:txBody>
      </p:sp>
      <p:sp>
        <p:nvSpPr>
          <p:cNvPr id="13317" name="Rectangle 3"/>
          <p:cNvSpPr>
            <a:spLocks noGrp="1" noChangeArrowheads="1"/>
          </p:cNvSpPr>
          <p:nvPr>
            <p:ph type="body" idx="1"/>
          </p:nvPr>
        </p:nvSpPr>
        <p:spPr>
          <a:xfrm>
            <a:off x="1847850" y="1495426"/>
            <a:ext cx="8496300" cy="4525963"/>
          </a:xfrm>
        </p:spPr>
        <p:txBody>
          <a:bodyPr/>
          <a:lstStyle/>
          <a:p>
            <a:pPr algn="just" eaLnBrk="1" hangingPunct="1">
              <a:buFont typeface="Arial" charset="0"/>
              <a:buChar char="•"/>
              <a:defRPr/>
            </a:pPr>
            <a:r>
              <a:rPr lang="en-US" altLang="en-US" sz="2800" b="1" dirty="0">
                <a:cs typeface="ＭＳ Ｐゴシック" charset="0"/>
              </a:rPr>
              <a:t>Kurtosis</a:t>
            </a:r>
            <a:r>
              <a:rPr lang="en-US" altLang="en-US" sz="2800" dirty="0">
                <a:cs typeface="ＭＳ Ｐゴシック" charset="0"/>
              </a:rPr>
              <a:t> is the statistic which describes the degree of </a:t>
            </a:r>
            <a:r>
              <a:rPr lang="en-US" altLang="en-US" sz="2800" dirty="0" err="1">
                <a:cs typeface="ＭＳ Ｐゴシック" charset="0"/>
              </a:rPr>
              <a:t>peakedness</a:t>
            </a:r>
            <a:r>
              <a:rPr lang="en-US" altLang="en-US" sz="2800" dirty="0">
                <a:cs typeface="ＭＳ Ｐゴシック" charset="0"/>
              </a:rPr>
              <a:t> or flatness of a probability distribution relative to the benchmark normal distribution. </a:t>
            </a:r>
          </a:p>
          <a:p>
            <a:pPr>
              <a:buFont typeface="Arial" charset="0"/>
              <a:buChar char="•"/>
              <a:defRPr/>
            </a:pPr>
            <a:r>
              <a:rPr lang="en-US" altLang="en-US" sz="2800" dirty="0">
                <a:cs typeface="ＭＳ Ｐゴシック" charset="0"/>
              </a:rPr>
              <a:t>In a similar way to the concept of skewness, </a:t>
            </a:r>
            <a:r>
              <a:rPr lang="en-US" altLang="en-US" sz="2800" i="1" dirty="0">
                <a:cs typeface="ＭＳ Ｐゴシック" charset="0"/>
              </a:rPr>
              <a:t>kurtosis</a:t>
            </a:r>
            <a:r>
              <a:rPr lang="en-US" altLang="en-US" sz="2800" dirty="0">
                <a:cs typeface="ＭＳ Ｐゴシック" charset="0"/>
              </a:rPr>
              <a:t> is a descriptor of the shape of a probability distribution</a:t>
            </a:r>
          </a:p>
          <a:p>
            <a:pPr>
              <a:buFont typeface="Arial" charset="0"/>
              <a:buChar char="•"/>
              <a:defRPr/>
            </a:pPr>
            <a:r>
              <a:rPr lang="en-US" altLang="en-US" sz="2800" dirty="0">
                <a:cs typeface="ＭＳ Ｐゴシック" charset="0"/>
              </a:rPr>
              <a:t>Formula to measure kurtosis for univariate data </a:t>
            </a:r>
            <a:r>
              <a:rPr lang="en-US" altLang="en-US" sz="2800" i="1" dirty="0">
                <a:cs typeface="ＭＳ Ｐゴシック" charset="0"/>
              </a:rPr>
              <a:t>x</a:t>
            </a:r>
            <a:r>
              <a:rPr lang="en-US" altLang="en-US" sz="2800" i="1" baseline="-25000" dirty="0">
                <a:cs typeface="ＭＳ Ｐゴシック" charset="0"/>
              </a:rPr>
              <a:t>1</a:t>
            </a:r>
            <a:r>
              <a:rPr lang="en-US" altLang="en-US" sz="2800" dirty="0">
                <a:cs typeface="ＭＳ Ｐゴシック" charset="0"/>
              </a:rPr>
              <a:t>, </a:t>
            </a:r>
            <a:r>
              <a:rPr lang="en-US" altLang="en-US" sz="2800" i="1" dirty="0">
                <a:cs typeface="ＭＳ Ｐゴシック" charset="0"/>
              </a:rPr>
              <a:t>x</a:t>
            </a:r>
            <a:r>
              <a:rPr lang="en-US" altLang="en-US" sz="2800" i="1" baseline="-25000" dirty="0">
                <a:cs typeface="ＭＳ Ｐゴシック" charset="0"/>
              </a:rPr>
              <a:t>2</a:t>
            </a:r>
            <a:r>
              <a:rPr lang="en-US" altLang="en-US" sz="2800" dirty="0">
                <a:cs typeface="ＭＳ Ｐゴシック" charset="0"/>
              </a:rPr>
              <a:t>, .., </a:t>
            </a:r>
            <a:r>
              <a:rPr lang="en-US" altLang="en-US" sz="2800" i="1" dirty="0" err="1">
                <a:cs typeface="ＭＳ Ｐゴシック" charset="0"/>
              </a:rPr>
              <a:t>x</a:t>
            </a:r>
            <a:r>
              <a:rPr lang="en-US" altLang="en-US" sz="2800" i="1" baseline="-25000" dirty="0" err="1">
                <a:cs typeface="ＭＳ Ｐゴシック" charset="0"/>
              </a:rPr>
              <a:t>N</a:t>
            </a:r>
            <a:r>
              <a:rPr lang="en-US" altLang="en-US" sz="2800" dirty="0">
                <a:cs typeface="ＭＳ Ｐゴシック" charset="0"/>
              </a:rPr>
              <a:t>:</a:t>
            </a:r>
          </a:p>
          <a:p>
            <a:pPr marL="0" indent="0">
              <a:buNone/>
              <a:defRPr/>
            </a:pPr>
            <a:r>
              <a:rPr lang="en-US" altLang="en-US" sz="2800" dirty="0">
                <a:cs typeface="ＭＳ Ｐゴシック" charset="0"/>
              </a:rPr>
              <a:t>              </a:t>
            </a:r>
            <a:r>
              <a:rPr lang="en-US" altLang="en-US" dirty="0">
                <a:cs typeface="ＭＳ Ｐゴシック" charset="0"/>
              </a:rPr>
              <a:t>Kurtosis =</a:t>
            </a:r>
          </a:p>
        </p:txBody>
      </p:sp>
      <p:graphicFrame>
        <p:nvGraphicFramePr>
          <p:cNvPr id="81924" name="Object 1"/>
          <p:cNvGraphicFramePr>
            <a:graphicFrameLocks noChangeAspect="1"/>
          </p:cNvGraphicFramePr>
          <p:nvPr/>
        </p:nvGraphicFramePr>
        <p:xfrm>
          <a:off x="4911725" y="4652963"/>
          <a:ext cx="1905000" cy="1077912"/>
        </p:xfrm>
        <a:graphic>
          <a:graphicData uri="http://schemas.openxmlformats.org/presentationml/2006/ole">
            <mc:AlternateContent xmlns:mc="http://schemas.openxmlformats.org/markup-compatibility/2006">
              <mc:Choice xmlns:v="urn:schemas-microsoft-com:vml" Requires="v">
                <p:oleObj name="Equation" r:id="rId2" imgW="875920" imgH="495085" progId="Equation.3">
                  <p:embed/>
                </p:oleObj>
              </mc:Choice>
              <mc:Fallback>
                <p:oleObj name="Equation" r:id="rId2" imgW="875920" imgH="495085" progId="Equation.3">
                  <p:embed/>
                  <p:pic>
                    <p:nvPicPr>
                      <p:cNvPr id="81924"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25" y="4652963"/>
                        <a:ext cx="1905000" cy="107791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a:xfrm>
            <a:off x="2557414" y="274638"/>
            <a:ext cx="7138987" cy="633412"/>
          </a:xfrm>
        </p:spPr>
        <p:txBody>
          <a:bodyPr/>
          <a:lstStyle/>
          <a:p>
            <a:r>
              <a:rPr lang="en-US" altLang="en-US" sz="4000" b="1" dirty="0"/>
              <a:t>Excess Kurtosis</a:t>
            </a:r>
          </a:p>
        </p:txBody>
      </p:sp>
      <p:sp>
        <p:nvSpPr>
          <p:cNvPr id="82946" name="Content Placeholder 2"/>
          <p:cNvSpPr>
            <a:spLocks noGrp="1"/>
          </p:cNvSpPr>
          <p:nvPr>
            <p:ph idx="1"/>
          </p:nvPr>
        </p:nvSpPr>
        <p:spPr>
          <a:xfrm>
            <a:off x="1775520" y="1412777"/>
            <a:ext cx="8712968" cy="4886325"/>
          </a:xfrm>
        </p:spPr>
        <p:txBody>
          <a:bodyPr/>
          <a:lstStyle/>
          <a:p>
            <a:pPr algn="just"/>
            <a:r>
              <a:rPr lang="en-US" altLang="en-US" sz="2600" dirty="0"/>
              <a:t>Excess kurtosis is simply </a:t>
            </a:r>
            <a:r>
              <a:rPr lang="en-US" altLang="en-US" sz="2600" b="1" dirty="0"/>
              <a:t>kurtosis − 3</a:t>
            </a:r>
            <a:r>
              <a:rPr lang="en-US" altLang="en-US" sz="2600" dirty="0"/>
              <a:t>. </a:t>
            </a:r>
          </a:p>
          <a:p>
            <a:pPr algn="just"/>
            <a:r>
              <a:rPr lang="en-US" altLang="en-US" sz="2600" dirty="0"/>
              <a:t>A normal distribution has kurtosis exactly 3 (excess kurtosis exactly 0). Any distribution with kurtosis ≈ 3 (excess ≈ 0) is called </a:t>
            </a:r>
            <a:r>
              <a:rPr lang="en-US" altLang="en-US" sz="2600" b="1" dirty="0" err="1"/>
              <a:t>mesokurtic</a:t>
            </a:r>
            <a:r>
              <a:rPr lang="en-US" altLang="en-US" sz="2600" dirty="0"/>
              <a:t>.</a:t>
            </a:r>
          </a:p>
          <a:p>
            <a:pPr algn="just"/>
            <a:r>
              <a:rPr lang="en-US" altLang="en-US" sz="2600" dirty="0"/>
              <a:t>A distribution with </a:t>
            </a:r>
            <a:r>
              <a:rPr lang="en-US" altLang="en-US" sz="2600" b="1" dirty="0"/>
              <a:t>kurtosis &lt; 3</a:t>
            </a:r>
            <a:r>
              <a:rPr lang="en-US" altLang="en-US" sz="2600" dirty="0"/>
              <a:t> (excess kurtosis &lt; 0) is called </a:t>
            </a:r>
            <a:r>
              <a:rPr lang="en-US" altLang="en-US" sz="2600" b="1" dirty="0" err="1"/>
              <a:t>platykurtic</a:t>
            </a:r>
            <a:r>
              <a:rPr lang="en-US" altLang="en-US" sz="2600" dirty="0"/>
              <a:t>. Compared to a normal distribution, its tails are shorter and thinner, and often its </a:t>
            </a:r>
            <a:r>
              <a:rPr lang="en-US" altLang="en-US" sz="2600" b="1" dirty="0"/>
              <a:t>central peak is lower and broader</a:t>
            </a:r>
            <a:r>
              <a:rPr lang="en-US" altLang="en-US" sz="2600" dirty="0"/>
              <a:t>.</a:t>
            </a:r>
          </a:p>
          <a:p>
            <a:pPr algn="just"/>
            <a:r>
              <a:rPr lang="en-US" altLang="en-US" sz="2600" dirty="0"/>
              <a:t>A distribution with </a:t>
            </a:r>
            <a:r>
              <a:rPr lang="en-US" altLang="en-US" sz="2600" b="1" dirty="0"/>
              <a:t>kurtosis &gt; 3</a:t>
            </a:r>
            <a:r>
              <a:rPr lang="en-US" altLang="en-US" sz="2600" dirty="0"/>
              <a:t> (excess kurtosis &gt; 0) is called </a:t>
            </a:r>
            <a:r>
              <a:rPr lang="en-US" altLang="en-US" sz="2600" b="1" dirty="0"/>
              <a:t>leptokurtic</a:t>
            </a:r>
            <a:r>
              <a:rPr lang="en-US" altLang="en-US" sz="2600" dirty="0"/>
              <a:t>. Compared to a normal distribution, its tails are longer and fatter, and often its </a:t>
            </a:r>
            <a:r>
              <a:rPr lang="en-US" altLang="en-US" sz="2600" b="1" dirty="0"/>
              <a:t>central peak is higher and sharper</a:t>
            </a:r>
            <a:r>
              <a:rPr lang="en-US" altLang="en-US" sz="2600" dirty="0"/>
              <a:t>.</a:t>
            </a:r>
          </a:p>
          <a:p>
            <a:pPr algn="just"/>
            <a:endParaRPr lang="en-US" altLang="en-US" sz="2600" dirty="0"/>
          </a:p>
        </p:txBody>
      </p:sp>
      <p:sp>
        <p:nvSpPr>
          <p:cNvPr id="82947" name="Slide Number Placeholder 3"/>
          <p:cNvSpPr>
            <a:spLocks noGrp="1"/>
          </p:cNvSpPr>
          <p:nvPr>
            <p:ph type="sldNum" sz="quarter" idx="12"/>
          </p:nvPr>
        </p:nvSpPr>
        <p:spPr bwMode="auto">
          <a:xfrm>
            <a:off x="4648200" y="6519864"/>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algn="ctr"/>
            <a:fld id="{D2A009BB-9E52-4BAD-9A1C-DC7B0E15AB88}" type="slidenum">
              <a:rPr lang="en-US" altLang="en-US" sz="1000" b="1">
                <a:solidFill>
                  <a:schemeClr val="bg1"/>
                </a:solidFill>
                <a:latin typeface="Arial" pitchFamily="34" charset="0"/>
              </a:rPr>
              <a:pPr algn="ctr"/>
              <a:t>63</a:t>
            </a:fld>
            <a:endParaRPr lang="en-US" altLang="en-US" sz="1000" b="1">
              <a:solidFill>
                <a:schemeClr val="bg1"/>
              </a:solidFill>
              <a:latin typeface="Arial"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Number Placeholder 5"/>
          <p:cNvSpPr>
            <a:spLocks noGrp="1"/>
          </p:cNvSpPr>
          <p:nvPr>
            <p:ph type="sldNum" sz="quarter" idx="12"/>
          </p:nvPr>
        </p:nvSpPr>
        <p:spPr bwMode="auto">
          <a:xfrm>
            <a:off x="5880100" y="6519864"/>
            <a:ext cx="50323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1B32A49A-91E6-4DD1-8F64-7AD57C67D117}" type="slidenum">
              <a:rPr lang="en-US" altLang="en-US" sz="1000">
                <a:solidFill>
                  <a:schemeClr val="bg1"/>
                </a:solidFill>
                <a:latin typeface="Arial" pitchFamily="34" charset="0"/>
              </a:rPr>
              <a:pPr/>
              <a:t>64</a:t>
            </a:fld>
            <a:endParaRPr lang="en-US" altLang="en-US" sz="1000">
              <a:solidFill>
                <a:schemeClr val="bg1"/>
              </a:solidFill>
              <a:latin typeface="Arial" pitchFamily="34" charset="0"/>
            </a:endParaRPr>
          </a:p>
        </p:txBody>
      </p:sp>
      <p:pic>
        <p:nvPicPr>
          <p:cNvPr id="83970" name="Picture 5" descr="KurtosisPi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8008" y="1143001"/>
            <a:ext cx="8075984" cy="5039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5"/>
          <p:cNvSpPr>
            <a:spLocks noGrp="1"/>
          </p:cNvSpPr>
          <p:nvPr>
            <p:ph type="sldNum" sz="quarter" idx="12"/>
          </p:nvPr>
        </p:nvSpPr>
        <p:spPr bwMode="auto">
          <a:xfrm>
            <a:off x="5880100" y="6519864"/>
            <a:ext cx="431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fld id="{65D8545B-6FE1-4EA9-9CF6-123131707E90}" type="slidenum">
              <a:rPr lang="en-US" altLang="en-US" sz="1000">
                <a:solidFill>
                  <a:schemeClr val="bg1"/>
                </a:solidFill>
                <a:latin typeface="Arial" pitchFamily="34" charset="0"/>
              </a:rPr>
              <a:pPr/>
              <a:t>65</a:t>
            </a:fld>
            <a:endParaRPr lang="en-US" altLang="en-US" sz="1000">
              <a:solidFill>
                <a:schemeClr val="bg1"/>
              </a:solidFill>
              <a:latin typeface="Arial" pitchFamily="34" charset="0"/>
            </a:endParaRPr>
          </a:p>
        </p:txBody>
      </p:sp>
      <p:pic>
        <p:nvPicPr>
          <p:cNvPr id="84994" name="Picture 5" descr="kurtosi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16888" y="1628800"/>
            <a:ext cx="8241513" cy="4229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181</TotalTime>
  <Words>3539</Words>
  <Application>Microsoft Office PowerPoint</Application>
  <PresentationFormat>Widescreen</PresentationFormat>
  <Paragraphs>614</Paragraphs>
  <Slides>65</Slides>
  <Notes>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9" baseType="lpstr">
      <vt:lpstr>ＭＳ Ｐゴシック</vt:lpstr>
      <vt:lpstr>Aptos Narrow</vt:lpstr>
      <vt:lpstr>Arial</vt:lpstr>
      <vt:lpstr>Calibri</vt:lpstr>
      <vt:lpstr>DeepSeek-CJK-patch</vt:lpstr>
      <vt:lpstr>KaTeX_Main</vt:lpstr>
      <vt:lpstr>KaTeX_Math</vt:lpstr>
      <vt:lpstr>KaTeX_Size3</vt:lpstr>
      <vt:lpstr>Poppins</vt:lpstr>
      <vt:lpstr>Symbol</vt:lpstr>
      <vt:lpstr>Times New Roman</vt:lpstr>
      <vt:lpstr>Wingdings</vt:lpstr>
      <vt:lpstr>Office Theme</vt:lpstr>
      <vt:lpstr>Equation</vt:lpstr>
      <vt:lpstr>PowerPoint Presentation</vt:lpstr>
      <vt:lpstr>PowerPoint Presentation</vt:lpstr>
      <vt:lpstr>Measurement of Central Tendency</vt:lpstr>
      <vt:lpstr>Mean</vt:lpstr>
      <vt:lpstr>Example</vt:lpstr>
      <vt:lpstr>PowerPoint Presentation</vt:lpstr>
      <vt:lpstr>Mean of Grouped Data</vt:lpstr>
      <vt:lpstr>Example</vt:lpstr>
      <vt:lpstr>Example</vt:lpstr>
      <vt:lpstr>Example</vt:lpstr>
      <vt:lpstr>Median</vt:lpstr>
      <vt:lpstr>Example</vt:lpstr>
      <vt:lpstr>PowerPoint Presentation</vt:lpstr>
      <vt:lpstr>PowerPoint Presentation</vt:lpstr>
      <vt:lpstr>Median of Grouped Data </vt:lpstr>
      <vt:lpstr>Example</vt:lpstr>
      <vt:lpstr>Mode</vt:lpstr>
      <vt:lpstr>PowerPoint Presentation</vt:lpstr>
      <vt:lpstr>Example</vt:lpstr>
      <vt:lpstr>Example</vt:lpstr>
      <vt:lpstr>Mode of Grouped Data </vt:lpstr>
      <vt:lpstr>PowerPoint Presentation</vt:lpstr>
      <vt:lpstr>Example</vt:lpstr>
      <vt:lpstr>PowerPoint Presentation</vt:lpstr>
      <vt:lpstr>Example</vt:lpstr>
      <vt:lpstr>Exercise #1</vt:lpstr>
      <vt:lpstr>Exercise #2</vt:lpstr>
      <vt:lpstr>Exercise #3</vt:lpstr>
      <vt:lpstr>Exercise #4</vt:lpstr>
      <vt:lpstr>Data Profiles</vt:lpstr>
      <vt:lpstr>Percentile </vt:lpstr>
      <vt:lpstr>Example</vt:lpstr>
      <vt:lpstr>PowerPoint Presentation</vt:lpstr>
      <vt:lpstr>Example</vt:lpstr>
      <vt:lpstr>Example</vt:lpstr>
      <vt:lpstr>PowerPoint Presentation</vt:lpstr>
      <vt:lpstr>Example</vt:lpstr>
      <vt:lpstr>Quartile</vt:lpstr>
      <vt:lpstr>Example</vt:lpstr>
      <vt:lpstr>Example</vt:lpstr>
      <vt:lpstr>Example</vt:lpstr>
      <vt:lpstr>Exercise #5</vt:lpstr>
      <vt:lpstr>PowerPoint Presentation</vt:lpstr>
      <vt:lpstr>Measures of Dispersion</vt:lpstr>
      <vt:lpstr>Range</vt:lpstr>
      <vt:lpstr>Variance</vt:lpstr>
      <vt:lpstr>PowerPoint Presentation</vt:lpstr>
      <vt:lpstr>Standard Deviation</vt:lpstr>
      <vt:lpstr>Exercise #6</vt:lpstr>
      <vt:lpstr>Measures of Shape</vt:lpstr>
      <vt:lpstr>Skewness</vt:lpstr>
      <vt:lpstr>Kurtosis</vt:lpstr>
      <vt:lpstr>Skewness </vt:lpstr>
      <vt:lpstr>Measuring Skewness</vt:lpstr>
      <vt:lpstr>PowerPoint Presentation</vt:lpstr>
      <vt:lpstr>PowerPoint Presentation</vt:lpstr>
      <vt:lpstr>PowerPoint Presentation</vt:lpstr>
      <vt:lpstr>PowerPoint Presentation</vt:lpstr>
      <vt:lpstr>Right Skewed</vt:lpstr>
      <vt:lpstr>Left Skewed</vt:lpstr>
      <vt:lpstr>PowerPoint Presentation</vt:lpstr>
      <vt:lpstr>Kurtosis</vt:lpstr>
      <vt:lpstr>Excess Kurtosis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ROZILAWATI BINTI DOLLAH @ MD. ZAIN</cp:lastModifiedBy>
  <cp:revision>29</cp:revision>
  <cp:lastPrinted>2019-01-24T05:25:58Z</cp:lastPrinted>
  <dcterms:created xsi:type="dcterms:W3CDTF">2019-01-24T05:12:11Z</dcterms:created>
  <dcterms:modified xsi:type="dcterms:W3CDTF">2026-03-26T00:23:14Z</dcterms:modified>
</cp:coreProperties>
</file>